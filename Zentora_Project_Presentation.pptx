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Zentora is a full-stack freelance marketplace that connects clients with freelancers. It provides project posting, bidding, credit plans and administration features in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need a simple way to find talent, while freelancers need a single place to find projects. Zentora brings these activities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main goals of the project. We wanted separate work areas for client, freelancer and admin, easy project posting, bidding, admin control, safe login, and a credit system for 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Zentora has three types of users: client, freelancer and admin. Each user sees a different dashboard and can do only their own tasks. This is called role-based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main features of Zentora. Users can register, log in with OTP, post projects, place bids and use dashboards. Admin can manage the platform, and the design works well on different screen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tools used to build Zentora. React and Vite build the screens, and Node.js with Express runs the server. MongoDB is supported for data, and a JSON database can be used as a local development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the system works. The user opens the React website, Axios sends the request to the Express API, and the API checks the JWT token. Then it reads or saves data in MongoDB or the JSON database and sends the response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a client follows. The client logs in, posts a project, receives bids from freelancers, reviews them and then accepts or rejects a bid. The client can also update their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freelancer logs in, finds an open project and checks their credits. When they place a bid, one credit is used. They can track the status of every bid and buy a plan to get more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mockup of the admin dashboard. The admin sees the total freelancers, clients and live projects, and can manage users, projects, bids and credit plans. The numbers on this slide are only example data to show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an important part of Zentora. Passwords are hashed, logins use tokens, and email OTP expires in 10 minutes. Payment, email and database services work when they are configured in the environment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ideas we can add in the future. Chat, reviews, portfolios, better search, notifications and payment history will make Zentora more useful. The current project already gives a strong base for these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Zentora is a full-stack freelance marketplace with separate roles, secure login and a bidding workflow. It gives a strong base that can grow with more features. Thank you, and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slideLayout" Target="../slideLayouts/slideLayout1.xml"/><Relationship Id="rId1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image" Target="../media/image-2-26.png"/><Relationship Id="rId27" Type="http://schemas.openxmlformats.org/officeDocument/2006/relationships/slideLayout" Target="../slideLayouts/slideLayout1.xml"/><Relationship Id="rId2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slideLayout" Target="../slideLayouts/slideLayout1.xml"/><Relationship Id="rId2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image" Target="../media/image-6-23.png"/><Relationship Id="rId24" Type="http://schemas.openxmlformats.org/officeDocument/2006/relationships/image" Target="../media/image-6-24.png"/><Relationship Id="rId25" Type="http://schemas.openxmlformats.org/officeDocument/2006/relationships/image" Target="../media/image-6-25.png"/><Relationship Id="rId26" Type="http://schemas.openxmlformats.org/officeDocument/2006/relationships/image" Target="../media/image-6-26.png"/><Relationship Id="rId27" Type="http://schemas.openxmlformats.org/officeDocument/2006/relationships/image" Target="../media/image-6-27.png"/><Relationship Id="rId28" Type="http://schemas.openxmlformats.org/officeDocument/2006/relationships/image" Target="../media/image-6-28.png"/><Relationship Id="rId29" Type="http://schemas.openxmlformats.org/officeDocument/2006/relationships/image" Target="../media/image-6-29.png"/><Relationship Id="rId30" Type="http://schemas.openxmlformats.org/officeDocument/2006/relationships/slideLayout" Target="../slideLayouts/slideLayout1.xml"/><Relationship Id="rId3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slideLayout" Target="../slideLayouts/slideLayout1.xml"/><Relationship Id="rId2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slideLayout" Target="../slideLayouts/slideLayout1.xml"/><Relationship Id="rId2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slideLayout" Target="../slideLayouts/slideLayout1.xml"/><Relationship Id="rId1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502920"/>
            <a:ext cx="548640" cy="548640"/>
          </a:xfrm>
          <a:prstGeom prst="rect">
            <a:avLst/>
          </a:prstGeom>
        </p:spPr>
      </p:pic>
      <p:sp>
        <p:nvSpPr>
          <p:cNvPr id="3" name="Text 0"/>
          <p:cNvSpPr txBox="1"/>
          <p:nvPr/>
        </p:nvSpPr>
        <p:spPr>
          <a:xfrm>
            <a:off x="1234440" y="502920"/>
            <a:ext cx="2743200" cy="548640"/>
          </a:xfrm>
          <a:prstGeom prst="rect">
            <a:avLst/>
          </a:prstGeom>
          <a:noFill/>
          <a:ln/>
        </p:spPr>
        <p:txBody>
          <a:bodyPr wrap="square" lIns="0" tIns="0" rIns="0" bIns="0" rtlCol="0" anchor="ctr"/>
          <a:lstStyle/>
          <a:p>
            <a:pPr indent="0" marL="0">
              <a:buNone/>
            </a:pPr>
            <a:r>
              <a:rPr lang="en-US" sz="1700" b="1" spc="500" kern="0" dirty="0">
                <a:solidFill>
                  <a:srgbClr val="FFFFFF"/>
                </a:solidFill>
                <a:latin typeface="Poppins" pitchFamily="34" charset="0"/>
                <a:ea typeface="Poppins" pitchFamily="34" charset="-122"/>
                <a:cs typeface="Poppins" pitchFamily="34" charset="-120"/>
              </a:rPr>
              <a:t>ZENTORA</a:t>
            </a:r>
            <a:endParaRPr lang="en-US" sz="1700" dirty="0"/>
          </a:p>
        </p:txBody>
      </p:sp>
      <p:sp>
        <p:nvSpPr>
          <p:cNvPr id="4" name="Text 1"/>
          <p:cNvSpPr txBox="1"/>
          <p:nvPr/>
        </p:nvSpPr>
        <p:spPr>
          <a:xfrm>
            <a:off x="548640" y="1417320"/>
            <a:ext cx="3246120" cy="347472"/>
          </a:xfrm>
          <a:prstGeom prst="roundRect">
            <a:avLst>
              <a:gd name="adj" fmla="val 50000"/>
            </a:avLst>
          </a:prstGeom>
          <a:solidFill>
            <a:srgbClr val="12AEA4">
              <a:alpha val="22000"/>
            </a:srgbClr>
          </a:solidFill>
          <a:ln w="9525">
            <a:solidFill>
              <a:srgbClr val="12AEA4"/>
            </a:solidFill>
          </a:ln>
        </p:spPr>
        <p:txBody>
          <a:bodyPr wrap="square" lIns="0" tIns="0" rIns="0" bIns="0" rtlCol="0" anchor="ctr"/>
          <a:lstStyle/>
          <a:p>
            <a:pPr algn="ctr" indent="0" marL="0">
              <a:buNone/>
            </a:pPr>
            <a:r>
              <a:rPr lang="en-US" sz="950" b="1" spc="150" kern="0" dirty="0">
                <a:solidFill>
                  <a:srgbClr val="9FF3EA"/>
                </a:solidFill>
                <a:latin typeface="Poppins" pitchFamily="34" charset="0"/>
                <a:ea typeface="Poppins" pitchFamily="34" charset="-122"/>
                <a:cs typeface="Poppins" pitchFamily="34" charset="-120"/>
              </a:rPr>
              <a:t>FULL-STACK WEB APPLICATION</a:t>
            </a:r>
            <a:endParaRPr lang="en-US" sz="950" dirty="0"/>
          </a:p>
        </p:txBody>
      </p:sp>
      <p:sp>
        <p:nvSpPr>
          <p:cNvPr id="5" name="Text 2"/>
          <p:cNvSpPr txBox="1"/>
          <p:nvPr/>
        </p:nvSpPr>
        <p:spPr>
          <a:xfrm>
            <a:off x="548640" y="1874520"/>
            <a:ext cx="5669280" cy="1143000"/>
          </a:xfrm>
          <a:prstGeom prst="rect">
            <a:avLst/>
          </a:prstGeom>
          <a:noFill/>
          <a:ln/>
        </p:spPr>
        <p:txBody>
          <a:bodyPr wrap="square" lIns="0" tIns="0" rIns="0" bIns="0" rtlCol="0" anchor="ctr"/>
          <a:lstStyle/>
          <a:p>
            <a:pPr indent="0" marL="0">
              <a:buNone/>
            </a:pPr>
            <a:r>
              <a:rPr lang="en-US" sz="7000" b="1" dirty="0">
                <a:solidFill>
                  <a:srgbClr val="FFFFFF"/>
                </a:solidFill>
                <a:latin typeface="Poppins" pitchFamily="34" charset="0"/>
                <a:ea typeface="Poppins" pitchFamily="34" charset="-122"/>
                <a:cs typeface="Poppins" pitchFamily="34" charset="-120"/>
              </a:rPr>
              <a:t>Zentora</a:t>
            </a:r>
            <a:endParaRPr lang="en-US" sz="7000" dirty="0"/>
          </a:p>
        </p:txBody>
      </p:sp>
      <p:sp>
        <p:nvSpPr>
          <p:cNvPr id="6" name="Text 3"/>
          <p:cNvSpPr txBox="1"/>
          <p:nvPr/>
        </p:nvSpPr>
        <p:spPr>
          <a:xfrm>
            <a:off x="548640" y="3017520"/>
            <a:ext cx="5760720" cy="457200"/>
          </a:xfrm>
          <a:prstGeom prst="rect">
            <a:avLst/>
          </a:prstGeom>
          <a:noFill/>
          <a:ln/>
        </p:spPr>
        <p:txBody>
          <a:bodyPr wrap="square" lIns="0" tIns="0" rIns="0" bIns="0" rtlCol="0" anchor="ctr"/>
          <a:lstStyle/>
          <a:p>
            <a:pPr indent="0" marL="0">
              <a:buNone/>
            </a:pPr>
            <a:r>
              <a:rPr lang="en-US" sz="2100" b="1" dirty="0">
                <a:solidFill>
                  <a:srgbClr val="2DD4C8"/>
                </a:solidFill>
                <a:latin typeface="Poppins" pitchFamily="34" charset="0"/>
                <a:ea typeface="Poppins" pitchFamily="34" charset="-122"/>
                <a:cs typeface="Poppins" pitchFamily="34" charset="-120"/>
              </a:rPr>
              <a:t>Freelance Marketplace Platform</a:t>
            </a:r>
            <a:endParaRPr lang="en-US" sz="2100" dirty="0"/>
          </a:p>
        </p:txBody>
      </p:sp>
      <p:sp>
        <p:nvSpPr>
          <p:cNvPr id="7" name="Text 4"/>
          <p:cNvSpPr txBox="1"/>
          <p:nvPr/>
        </p:nvSpPr>
        <p:spPr>
          <a:xfrm>
            <a:off x="548640" y="3520440"/>
            <a:ext cx="5760720" cy="365760"/>
          </a:xfrm>
          <a:prstGeom prst="rect">
            <a:avLst/>
          </a:prstGeom>
          <a:noFill/>
          <a:ln/>
        </p:spPr>
        <p:txBody>
          <a:bodyPr wrap="square" lIns="0" tIns="0" rIns="0" bIns="0" rtlCol="0" anchor="ctr"/>
          <a:lstStyle/>
          <a:p>
            <a:pPr indent="0" marL="0">
              <a:buNone/>
            </a:pPr>
            <a:r>
              <a:rPr lang="en-US" sz="1400" dirty="0">
                <a:solidFill>
                  <a:srgbClr val="CBD5E1"/>
                </a:solidFill>
                <a:latin typeface="Poppins" pitchFamily="34" charset="0"/>
                <a:ea typeface="Poppins" pitchFamily="34" charset="-122"/>
                <a:cs typeface="Poppins" pitchFamily="34" charset="-120"/>
              </a:rPr>
              <a:t>Connecting Clients with Skilled Freelancers</a:t>
            </a:r>
            <a:endParaRPr lang="en-US" sz="1400" dirty="0"/>
          </a:p>
        </p:txBody>
      </p:sp>
      <p:sp>
        <p:nvSpPr>
          <p:cNvPr id="8" name="Text 5"/>
          <p:cNvSpPr txBox="1"/>
          <p:nvPr/>
        </p:nvSpPr>
        <p:spPr>
          <a:xfrm>
            <a:off x="548640" y="4114800"/>
            <a:ext cx="2743200" cy="228600"/>
          </a:xfrm>
          <a:prstGeom prst="rect">
            <a:avLst/>
          </a:prstGeom>
          <a:noFill/>
          <a:ln/>
        </p:spPr>
        <p:txBody>
          <a:bodyPr wrap="square" lIns="0" tIns="0" rIns="0" bIns="0" rtlCol="0" anchor="t"/>
          <a:lstStyle/>
          <a:p>
            <a:pPr indent="0" marL="0">
              <a:buNone/>
            </a:pPr>
            <a:r>
              <a:rPr lang="en-US" sz="900" b="1" spc="300" kern="0" dirty="0">
                <a:solidFill>
                  <a:srgbClr val="F79330"/>
                </a:solidFill>
                <a:latin typeface="Poppins" pitchFamily="34" charset="0"/>
                <a:ea typeface="Poppins" pitchFamily="34" charset="-122"/>
                <a:cs typeface="Poppins" pitchFamily="34" charset="-120"/>
              </a:rPr>
              <a:t>TECHNOLOGY</a:t>
            </a:r>
            <a:endParaRPr lang="en-US" sz="900" dirty="0"/>
          </a:p>
        </p:txBody>
      </p:sp>
      <p:sp>
        <p:nvSpPr>
          <p:cNvPr id="9" name="Shape 6"/>
          <p:cNvSpPr/>
          <p:nvPr/>
        </p:nvSpPr>
        <p:spPr>
          <a:xfrm>
            <a:off x="548640" y="4407408"/>
            <a:ext cx="1234440" cy="457200"/>
          </a:xfrm>
          <a:prstGeom prst="roundRect">
            <a:avLst>
              <a:gd name="adj" fmla="val 50000"/>
            </a:avLst>
          </a:prstGeom>
          <a:solidFill>
            <a:srgbClr val="FFFFFF">
              <a:alpha val="10000"/>
            </a:srgbClr>
          </a:solidFill>
          <a:ln w="9525">
            <a:solidFill>
              <a:srgbClr val="FFFFFF">
                <a:alpha val="20000"/>
              </a:srgbClr>
            </a:solidFill>
            <a:prstDash val="solid"/>
          </a:ln>
        </p:spPr>
      </p:sp>
      <p:pic>
        <p:nvPicPr>
          <p:cNvPr id="10" name="Image 1" descr="preencoded.png">    </p:cNvPr>
          <p:cNvPicPr>
            <a:picLocks noChangeAspect="1"/>
          </p:cNvPicPr>
          <p:nvPr/>
        </p:nvPicPr>
        <p:blipFill>
          <a:blip r:embed="rId3"/>
          <a:stretch>
            <a:fillRect/>
          </a:stretch>
        </p:blipFill>
        <p:spPr>
          <a:xfrm>
            <a:off x="685800" y="4526280"/>
            <a:ext cx="219456" cy="219456"/>
          </a:xfrm>
          <a:prstGeom prst="rect">
            <a:avLst/>
          </a:prstGeom>
        </p:spPr>
      </p:pic>
      <p:sp>
        <p:nvSpPr>
          <p:cNvPr id="11" name="Text 7"/>
          <p:cNvSpPr txBox="1"/>
          <p:nvPr/>
        </p:nvSpPr>
        <p:spPr>
          <a:xfrm>
            <a:off x="987552" y="4407408"/>
            <a:ext cx="777240" cy="45720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React</a:t>
            </a:r>
            <a:endParaRPr lang="en-US" sz="1050" dirty="0"/>
          </a:p>
        </p:txBody>
      </p:sp>
      <p:sp>
        <p:nvSpPr>
          <p:cNvPr id="12" name="Shape 8"/>
          <p:cNvSpPr/>
          <p:nvPr/>
        </p:nvSpPr>
        <p:spPr>
          <a:xfrm>
            <a:off x="1892808" y="4407408"/>
            <a:ext cx="1051560" cy="457200"/>
          </a:xfrm>
          <a:prstGeom prst="roundRect">
            <a:avLst>
              <a:gd name="adj" fmla="val 50000"/>
            </a:avLst>
          </a:prstGeom>
          <a:solidFill>
            <a:srgbClr val="FFFFFF">
              <a:alpha val="10000"/>
            </a:srgbClr>
          </a:solidFill>
          <a:ln w="9525">
            <a:solidFill>
              <a:srgbClr val="FFFFFF">
                <a:alpha val="20000"/>
              </a:srgbClr>
            </a:solidFill>
            <a:prstDash val="solid"/>
          </a:ln>
        </p:spPr>
      </p:sp>
      <p:pic>
        <p:nvPicPr>
          <p:cNvPr id="13" name="Image 2" descr="preencoded.png">    </p:cNvPr>
          <p:cNvPicPr>
            <a:picLocks noChangeAspect="1"/>
          </p:cNvPicPr>
          <p:nvPr/>
        </p:nvPicPr>
        <p:blipFill>
          <a:blip r:embed="rId4"/>
          <a:stretch>
            <a:fillRect/>
          </a:stretch>
        </p:blipFill>
        <p:spPr>
          <a:xfrm>
            <a:off x="2029968" y="4526280"/>
            <a:ext cx="219456" cy="219456"/>
          </a:xfrm>
          <a:prstGeom prst="rect">
            <a:avLst/>
          </a:prstGeom>
        </p:spPr>
      </p:pic>
      <p:sp>
        <p:nvSpPr>
          <p:cNvPr id="14" name="Text 9"/>
          <p:cNvSpPr txBox="1"/>
          <p:nvPr/>
        </p:nvSpPr>
        <p:spPr>
          <a:xfrm>
            <a:off x="2331720" y="4407408"/>
            <a:ext cx="594360" cy="45720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Vite</a:t>
            </a:r>
            <a:endParaRPr lang="en-US" sz="1050" dirty="0"/>
          </a:p>
        </p:txBody>
      </p:sp>
      <p:sp>
        <p:nvSpPr>
          <p:cNvPr id="15" name="Shape 10"/>
          <p:cNvSpPr/>
          <p:nvPr/>
        </p:nvSpPr>
        <p:spPr>
          <a:xfrm>
            <a:off x="3054096" y="4407408"/>
            <a:ext cx="1371600" cy="457200"/>
          </a:xfrm>
          <a:prstGeom prst="roundRect">
            <a:avLst>
              <a:gd name="adj" fmla="val 50000"/>
            </a:avLst>
          </a:prstGeom>
          <a:solidFill>
            <a:srgbClr val="FFFFFF">
              <a:alpha val="10000"/>
            </a:srgbClr>
          </a:solidFill>
          <a:ln w="9525">
            <a:solidFill>
              <a:srgbClr val="FFFFFF">
                <a:alpha val="20000"/>
              </a:srgbClr>
            </a:solidFill>
            <a:prstDash val="solid"/>
          </a:ln>
        </p:spPr>
      </p:sp>
      <p:pic>
        <p:nvPicPr>
          <p:cNvPr id="16" name="Image 3" descr="preencoded.png">    </p:cNvPr>
          <p:cNvPicPr>
            <a:picLocks noChangeAspect="1"/>
          </p:cNvPicPr>
          <p:nvPr/>
        </p:nvPicPr>
        <p:blipFill>
          <a:blip r:embed="rId5"/>
          <a:stretch>
            <a:fillRect/>
          </a:stretch>
        </p:blipFill>
        <p:spPr>
          <a:xfrm>
            <a:off x="3191256" y="4526280"/>
            <a:ext cx="219456" cy="219456"/>
          </a:xfrm>
          <a:prstGeom prst="rect">
            <a:avLst/>
          </a:prstGeom>
        </p:spPr>
      </p:pic>
      <p:sp>
        <p:nvSpPr>
          <p:cNvPr id="17" name="Text 11"/>
          <p:cNvSpPr txBox="1"/>
          <p:nvPr/>
        </p:nvSpPr>
        <p:spPr>
          <a:xfrm>
            <a:off x="3493008" y="4407408"/>
            <a:ext cx="914400" cy="45720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Node.js</a:t>
            </a:r>
            <a:endParaRPr lang="en-US" sz="1050" dirty="0"/>
          </a:p>
        </p:txBody>
      </p:sp>
      <p:sp>
        <p:nvSpPr>
          <p:cNvPr id="18" name="Shape 12"/>
          <p:cNvSpPr/>
          <p:nvPr/>
        </p:nvSpPr>
        <p:spPr>
          <a:xfrm>
            <a:off x="4535424" y="4407408"/>
            <a:ext cx="1371600" cy="457200"/>
          </a:xfrm>
          <a:prstGeom prst="roundRect">
            <a:avLst>
              <a:gd name="adj" fmla="val 50000"/>
            </a:avLst>
          </a:prstGeom>
          <a:solidFill>
            <a:srgbClr val="FFFFFF">
              <a:alpha val="10000"/>
            </a:srgbClr>
          </a:solidFill>
          <a:ln w="9525">
            <a:solidFill>
              <a:srgbClr val="FFFFFF">
                <a:alpha val="20000"/>
              </a:srgbClr>
            </a:solidFill>
            <a:prstDash val="solid"/>
          </a:ln>
        </p:spPr>
      </p:sp>
      <p:pic>
        <p:nvPicPr>
          <p:cNvPr id="19" name="Image 4" descr="preencoded.png">    </p:cNvPr>
          <p:cNvPicPr>
            <a:picLocks noChangeAspect="1"/>
          </p:cNvPicPr>
          <p:nvPr/>
        </p:nvPicPr>
        <p:blipFill>
          <a:blip r:embed="rId6"/>
          <a:stretch>
            <a:fillRect/>
          </a:stretch>
        </p:blipFill>
        <p:spPr>
          <a:xfrm>
            <a:off x="4672584" y="4526280"/>
            <a:ext cx="219456" cy="219456"/>
          </a:xfrm>
          <a:prstGeom prst="rect">
            <a:avLst/>
          </a:prstGeom>
        </p:spPr>
      </p:pic>
      <p:sp>
        <p:nvSpPr>
          <p:cNvPr id="20" name="Text 13"/>
          <p:cNvSpPr txBox="1"/>
          <p:nvPr/>
        </p:nvSpPr>
        <p:spPr>
          <a:xfrm>
            <a:off x="4974336" y="4407408"/>
            <a:ext cx="914400" cy="45720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Express</a:t>
            </a:r>
            <a:endParaRPr lang="en-US" sz="1050" dirty="0"/>
          </a:p>
        </p:txBody>
      </p:sp>
      <p:sp>
        <p:nvSpPr>
          <p:cNvPr id="21" name="Shape 14"/>
          <p:cNvSpPr/>
          <p:nvPr/>
        </p:nvSpPr>
        <p:spPr>
          <a:xfrm>
            <a:off x="548640" y="5257800"/>
            <a:ext cx="731520" cy="731520"/>
          </a:xfrm>
          <a:prstGeom prst="ellipse">
            <a:avLst/>
          </a:prstGeom>
          <a:solidFill>
            <a:srgbClr val="EF5B59"/>
          </a:solidFill>
          <a:ln/>
        </p:spPr>
      </p:sp>
      <p:sp>
        <p:nvSpPr>
          <p:cNvPr id="22" name="Text 15"/>
          <p:cNvSpPr txBox="1"/>
          <p:nvPr/>
        </p:nvSpPr>
        <p:spPr>
          <a:xfrm>
            <a:off x="548640" y="525780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AP</a:t>
            </a:r>
            <a:endParaRPr lang="en-US" sz="1600" dirty="0"/>
          </a:p>
        </p:txBody>
      </p:sp>
      <p:sp>
        <p:nvSpPr>
          <p:cNvPr id="23" name="Text 16"/>
          <p:cNvSpPr txBox="1"/>
          <p:nvPr/>
        </p:nvSpPr>
        <p:spPr>
          <a:xfrm>
            <a:off x="1463040" y="5230368"/>
            <a:ext cx="3657600" cy="228600"/>
          </a:xfrm>
          <a:prstGeom prst="rect">
            <a:avLst/>
          </a:prstGeom>
          <a:noFill/>
          <a:ln/>
        </p:spPr>
        <p:txBody>
          <a:bodyPr wrap="square" lIns="0" tIns="0" rIns="0" bIns="0" rtlCol="0" anchor="t"/>
          <a:lstStyle/>
          <a:p>
            <a:pPr indent="0" marL="0">
              <a:buNone/>
            </a:pPr>
            <a:r>
              <a:rPr lang="en-US" sz="950" dirty="0">
                <a:solidFill>
                  <a:srgbClr val="A9B7CC"/>
                </a:solidFill>
                <a:latin typeface="Poppins" pitchFamily="34" charset="0"/>
                <a:ea typeface="Poppins" pitchFamily="34" charset="-122"/>
                <a:cs typeface="Poppins" pitchFamily="34" charset="-120"/>
              </a:rPr>
              <a:t>Presented by</a:t>
            </a:r>
            <a:endParaRPr lang="en-US" sz="950" dirty="0"/>
          </a:p>
        </p:txBody>
      </p:sp>
      <p:sp>
        <p:nvSpPr>
          <p:cNvPr id="24" name="Text 17"/>
          <p:cNvSpPr txBox="1"/>
          <p:nvPr/>
        </p:nvSpPr>
        <p:spPr>
          <a:xfrm>
            <a:off x="1463040" y="5440680"/>
            <a:ext cx="4572000" cy="384048"/>
          </a:xfrm>
          <a:prstGeom prst="rect">
            <a:avLst/>
          </a:prstGeom>
          <a:noFill/>
          <a:ln/>
        </p:spPr>
        <p:txBody>
          <a:bodyPr wrap="square" lIns="0" tIns="0" rIns="0" bIns="0" rtlCol="0" anchor="ctr"/>
          <a:lstStyle/>
          <a:p>
            <a:pPr indent="0" marL="0">
              <a:buNone/>
            </a:pPr>
            <a:r>
              <a:rPr lang="en-US" sz="1900" b="1" dirty="0">
                <a:solidFill>
                  <a:srgbClr val="FFFFFF"/>
                </a:solidFill>
                <a:latin typeface="Poppins" pitchFamily="34" charset="0"/>
                <a:ea typeface="Poppins" pitchFamily="34" charset="-122"/>
                <a:cs typeface="Poppins" pitchFamily="34" charset="-120"/>
              </a:rPr>
              <a:t>Aman Pandey</a:t>
            </a:r>
            <a:endParaRPr lang="en-US" sz="1900" dirty="0"/>
          </a:p>
        </p:txBody>
      </p:sp>
      <p:sp>
        <p:nvSpPr>
          <p:cNvPr id="25" name="Text 18"/>
          <p:cNvSpPr txBox="1"/>
          <p:nvPr/>
        </p:nvSpPr>
        <p:spPr>
          <a:xfrm>
            <a:off x="1463040" y="5833872"/>
            <a:ext cx="4754880" cy="228600"/>
          </a:xfrm>
          <a:prstGeom prst="rect">
            <a:avLst/>
          </a:prstGeom>
          <a:noFill/>
          <a:ln/>
        </p:spPr>
        <p:txBody>
          <a:bodyPr wrap="square" lIns="0" tIns="0" rIns="0" bIns="0" rtlCol="0" anchor="t"/>
          <a:lstStyle/>
          <a:p>
            <a:pPr indent="0" marL="0">
              <a:buNone/>
            </a:pPr>
            <a:r>
              <a:rPr lang="en-US" sz="950" dirty="0">
                <a:solidFill>
                  <a:srgbClr val="A9B7CC"/>
                </a:solidFill>
                <a:latin typeface="Poppins" pitchFamily="34" charset="0"/>
                <a:ea typeface="Poppins" pitchFamily="34" charset="-122"/>
                <a:cs typeface="Poppins" pitchFamily="34" charset="-120"/>
              </a:rPr>
              <a:t>Diploma Computer Science Engineering Project</a:t>
            </a:r>
            <a:endParaRPr lang="en-US" sz="950" dirty="0"/>
          </a:p>
        </p:txBody>
      </p:sp>
      <p:sp>
        <p:nvSpPr>
          <p:cNvPr id="26" name="Shape 19"/>
          <p:cNvSpPr/>
          <p:nvPr/>
        </p:nvSpPr>
        <p:spPr>
          <a:xfrm>
            <a:off x="6400800" y="685800"/>
            <a:ext cx="5330952" cy="5349240"/>
          </a:xfrm>
          <a:prstGeom prst="roundRect">
            <a:avLst>
              <a:gd name="adj" fmla="val 3431"/>
            </a:avLst>
          </a:prstGeom>
          <a:solidFill>
            <a:srgbClr val="0F2340"/>
          </a:solidFill>
          <a:ln w="9525">
            <a:solidFill>
              <a:srgbClr val="2A4468"/>
            </a:solidFill>
            <a:prstDash val="solid"/>
          </a:ln>
        </p:spPr>
      </p:sp>
      <p:sp>
        <p:nvSpPr>
          <p:cNvPr id="27" name="Shape 20"/>
          <p:cNvSpPr/>
          <p:nvPr/>
        </p:nvSpPr>
        <p:spPr>
          <a:xfrm>
            <a:off x="6629400" y="859536"/>
            <a:ext cx="118872" cy="118872"/>
          </a:xfrm>
          <a:prstGeom prst="ellipse">
            <a:avLst/>
          </a:prstGeom>
          <a:solidFill>
            <a:srgbClr val="EF5B59"/>
          </a:solidFill>
          <a:ln/>
        </p:spPr>
      </p:sp>
      <p:sp>
        <p:nvSpPr>
          <p:cNvPr id="28" name="Shape 21"/>
          <p:cNvSpPr/>
          <p:nvPr/>
        </p:nvSpPr>
        <p:spPr>
          <a:xfrm>
            <a:off x="6812280" y="859536"/>
            <a:ext cx="118872" cy="118872"/>
          </a:xfrm>
          <a:prstGeom prst="ellipse">
            <a:avLst/>
          </a:prstGeom>
          <a:solidFill>
            <a:srgbClr val="F79330"/>
          </a:solidFill>
          <a:ln/>
        </p:spPr>
      </p:sp>
      <p:sp>
        <p:nvSpPr>
          <p:cNvPr id="29" name="Shape 22"/>
          <p:cNvSpPr/>
          <p:nvPr/>
        </p:nvSpPr>
        <p:spPr>
          <a:xfrm>
            <a:off x="6995160" y="859536"/>
            <a:ext cx="118872" cy="118872"/>
          </a:xfrm>
          <a:prstGeom prst="ellipse">
            <a:avLst/>
          </a:prstGeom>
          <a:solidFill>
            <a:srgbClr val="12AEA4"/>
          </a:solidFill>
          <a:ln/>
        </p:spPr>
      </p:sp>
      <p:sp>
        <p:nvSpPr>
          <p:cNvPr id="30" name="Text 23"/>
          <p:cNvSpPr txBox="1"/>
          <p:nvPr/>
        </p:nvSpPr>
        <p:spPr>
          <a:xfrm>
            <a:off x="7589520" y="795528"/>
            <a:ext cx="3017520" cy="256032"/>
          </a:xfrm>
          <a:prstGeom prst="roundRect">
            <a:avLst>
              <a:gd name="adj" fmla="val 50000"/>
            </a:avLst>
          </a:prstGeom>
          <a:solidFill>
            <a:srgbClr val="FFFFFF">
              <a:alpha val="8000"/>
            </a:srgbClr>
          </a:solidFill>
          <a:ln/>
        </p:spPr>
        <p:txBody>
          <a:bodyPr wrap="square" lIns="0" tIns="0" rIns="0" bIns="0" rtlCol="0" anchor="ctr"/>
          <a:lstStyle/>
          <a:p>
            <a:pPr algn="ctr" indent="0" marL="0">
              <a:buNone/>
            </a:pPr>
            <a:r>
              <a:rPr lang="en-US" sz="850" dirty="0">
                <a:solidFill>
                  <a:srgbClr val="A9B7CC"/>
                </a:solidFill>
                <a:latin typeface="Poppins" pitchFamily="34" charset="0"/>
                <a:ea typeface="Poppins" pitchFamily="34" charset="-122"/>
                <a:cs typeface="Poppins" pitchFamily="34" charset="-120"/>
              </a:rPr>
              <a:t>localhost:5173/dashboard</a:t>
            </a:r>
            <a:endParaRPr lang="en-US" sz="850" dirty="0"/>
          </a:p>
        </p:txBody>
      </p:sp>
      <p:sp>
        <p:nvSpPr>
          <p:cNvPr id="31" name="Shape 24"/>
          <p:cNvSpPr/>
          <p:nvPr/>
        </p:nvSpPr>
        <p:spPr>
          <a:xfrm>
            <a:off x="6400800" y="1161288"/>
            <a:ext cx="5330952" cy="0"/>
          </a:xfrm>
          <a:prstGeom prst="line">
            <a:avLst/>
          </a:prstGeom>
          <a:noFill/>
          <a:ln w="12700">
            <a:solidFill>
              <a:srgbClr val="223B60"/>
            </a:solidFill>
            <a:prstDash val="solid"/>
          </a:ln>
        </p:spPr>
      </p:sp>
      <p:sp>
        <p:nvSpPr>
          <p:cNvPr id="32" name="Shape 25"/>
          <p:cNvSpPr/>
          <p:nvPr/>
        </p:nvSpPr>
        <p:spPr>
          <a:xfrm>
            <a:off x="6583680" y="1371600"/>
            <a:ext cx="402336" cy="402336"/>
          </a:xfrm>
          <a:prstGeom prst="ellipse">
            <a:avLst/>
          </a:prstGeom>
          <a:solidFill>
            <a:srgbClr val="12AEA4"/>
          </a:solidFill>
          <a:ln/>
        </p:spPr>
      </p:sp>
      <p:pic>
        <p:nvPicPr>
          <p:cNvPr id="33" name="Image 5" descr="preencoded.png">    </p:cNvPr>
          <p:cNvPicPr>
            <a:picLocks noChangeAspect="1"/>
          </p:cNvPicPr>
          <p:nvPr/>
        </p:nvPicPr>
        <p:blipFill>
          <a:blip r:embed="rId7"/>
          <a:stretch>
            <a:fillRect/>
          </a:stretch>
        </p:blipFill>
        <p:spPr>
          <a:xfrm>
            <a:off x="6694322" y="1482242"/>
            <a:ext cx="181051" cy="181051"/>
          </a:xfrm>
          <a:prstGeom prst="rect">
            <a:avLst/>
          </a:prstGeom>
        </p:spPr>
      </p:pic>
      <p:sp>
        <p:nvSpPr>
          <p:cNvPr id="34" name="Shape 26"/>
          <p:cNvSpPr/>
          <p:nvPr/>
        </p:nvSpPr>
        <p:spPr>
          <a:xfrm>
            <a:off x="6583680" y="1938528"/>
            <a:ext cx="402336" cy="402336"/>
          </a:xfrm>
          <a:prstGeom prst="ellipse">
            <a:avLst/>
          </a:prstGeom>
          <a:solidFill>
            <a:srgbClr val="1B355C"/>
          </a:solidFill>
          <a:ln/>
        </p:spPr>
      </p:sp>
      <p:pic>
        <p:nvPicPr>
          <p:cNvPr id="35" name="Image 6" descr="preencoded.png">    </p:cNvPr>
          <p:cNvPicPr>
            <a:picLocks noChangeAspect="1"/>
          </p:cNvPicPr>
          <p:nvPr/>
        </p:nvPicPr>
        <p:blipFill>
          <a:blip r:embed="rId8"/>
          <a:stretch>
            <a:fillRect/>
          </a:stretch>
        </p:blipFill>
        <p:spPr>
          <a:xfrm>
            <a:off x="6694322" y="2049170"/>
            <a:ext cx="181051" cy="181051"/>
          </a:xfrm>
          <a:prstGeom prst="rect">
            <a:avLst/>
          </a:prstGeom>
        </p:spPr>
      </p:pic>
      <p:sp>
        <p:nvSpPr>
          <p:cNvPr id="36" name="Shape 27"/>
          <p:cNvSpPr/>
          <p:nvPr/>
        </p:nvSpPr>
        <p:spPr>
          <a:xfrm>
            <a:off x="6583680" y="2505456"/>
            <a:ext cx="402336" cy="402336"/>
          </a:xfrm>
          <a:prstGeom prst="ellipse">
            <a:avLst/>
          </a:prstGeom>
          <a:solidFill>
            <a:srgbClr val="1B355C"/>
          </a:solidFill>
          <a:ln/>
        </p:spPr>
      </p:sp>
      <p:pic>
        <p:nvPicPr>
          <p:cNvPr id="37" name="Image 7" descr="preencoded.png">    </p:cNvPr>
          <p:cNvPicPr>
            <a:picLocks noChangeAspect="1"/>
          </p:cNvPicPr>
          <p:nvPr/>
        </p:nvPicPr>
        <p:blipFill>
          <a:blip r:embed="rId9"/>
          <a:stretch>
            <a:fillRect/>
          </a:stretch>
        </p:blipFill>
        <p:spPr>
          <a:xfrm>
            <a:off x="6694322" y="2616098"/>
            <a:ext cx="181051" cy="181051"/>
          </a:xfrm>
          <a:prstGeom prst="rect">
            <a:avLst/>
          </a:prstGeom>
        </p:spPr>
      </p:pic>
      <p:sp>
        <p:nvSpPr>
          <p:cNvPr id="38" name="Shape 28"/>
          <p:cNvSpPr/>
          <p:nvPr/>
        </p:nvSpPr>
        <p:spPr>
          <a:xfrm>
            <a:off x="6583680" y="3072384"/>
            <a:ext cx="402336" cy="402336"/>
          </a:xfrm>
          <a:prstGeom prst="ellipse">
            <a:avLst/>
          </a:prstGeom>
          <a:solidFill>
            <a:srgbClr val="1B355C"/>
          </a:solidFill>
          <a:ln/>
        </p:spPr>
      </p:sp>
      <p:pic>
        <p:nvPicPr>
          <p:cNvPr id="39" name="Image 8" descr="preencoded.png">    </p:cNvPr>
          <p:cNvPicPr>
            <a:picLocks noChangeAspect="1"/>
          </p:cNvPicPr>
          <p:nvPr/>
        </p:nvPicPr>
        <p:blipFill>
          <a:blip r:embed="rId10"/>
          <a:stretch>
            <a:fillRect/>
          </a:stretch>
        </p:blipFill>
        <p:spPr>
          <a:xfrm>
            <a:off x="6694322" y="3183026"/>
            <a:ext cx="181051" cy="181051"/>
          </a:xfrm>
          <a:prstGeom prst="rect">
            <a:avLst/>
          </a:prstGeom>
        </p:spPr>
      </p:pic>
      <p:sp>
        <p:nvSpPr>
          <p:cNvPr id="40" name="Shape 29"/>
          <p:cNvSpPr/>
          <p:nvPr/>
        </p:nvSpPr>
        <p:spPr>
          <a:xfrm>
            <a:off x="6583680" y="3639312"/>
            <a:ext cx="402336" cy="402336"/>
          </a:xfrm>
          <a:prstGeom prst="ellipse">
            <a:avLst/>
          </a:prstGeom>
          <a:solidFill>
            <a:srgbClr val="1B355C"/>
          </a:solidFill>
          <a:ln/>
        </p:spPr>
      </p:sp>
      <p:pic>
        <p:nvPicPr>
          <p:cNvPr id="41" name="Image 9" descr="preencoded.png">    </p:cNvPr>
          <p:cNvPicPr>
            <a:picLocks noChangeAspect="1"/>
          </p:cNvPicPr>
          <p:nvPr/>
        </p:nvPicPr>
        <p:blipFill>
          <a:blip r:embed="rId11"/>
          <a:stretch>
            <a:fillRect/>
          </a:stretch>
        </p:blipFill>
        <p:spPr>
          <a:xfrm>
            <a:off x="6694322" y="3749954"/>
            <a:ext cx="181051" cy="181051"/>
          </a:xfrm>
          <a:prstGeom prst="rect">
            <a:avLst/>
          </a:prstGeom>
        </p:spPr>
      </p:pic>
      <p:sp>
        <p:nvSpPr>
          <p:cNvPr id="42" name="Text 30"/>
          <p:cNvSpPr txBox="1"/>
          <p:nvPr/>
        </p:nvSpPr>
        <p:spPr>
          <a:xfrm>
            <a:off x="7223760" y="1280160"/>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Poppins" pitchFamily="34" charset="0"/>
                <a:ea typeface="Poppins" pitchFamily="34" charset="-122"/>
                <a:cs typeface="Poppins" pitchFamily="34" charset="-120"/>
              </a:rPr>
              <a:t>Dashboard</a:t>
            </a:r>
            <a:endParaRPr lang="en-US" sz="1500" dirty="0"/>
          </a:p>
        </p:txBody>
      </p:sp>
      <p:sp>
        <p:nvSpPr>
          <p:cNvPr id="43" name="Text 31"/>
          <p:cNvSpPr txBox="1"/>
          <p:nvPr/>
        </p:nvSpPr>
        <p:spPr>
          <a:xfrm>
            <a:off x="7223760" y="1581912"/>
            <a:ext cx="3657600" cy="228600"/>
          </a:xfrm>
          <a:prstGeom prst="rect">
            <a:avLst/>
          </a:prstGeom>
          <a:noFill/>
          <a:ln/>
        </p:spPr>
        <p:txBody>
          <a:bodyPr wrap="square" lIns="0" tIns="0" rIns="0" bIns="0" rtlCol="0" anchor="t"/>
          <a:lstStyle/>
          <a:p>
            <a:pPr indent="0" marL="0">
              <a:buNone/>
            </a:pPr>
            <a:r>
              <a:rPr lang="en-US" sz="850" dirty="0">
                <a:solidFill>
                  <a:srgbClr val="A9B7CC"/>
                </a:solidFill>
                <a:latin typeface="Poppins" pitchFamily="34" charset="0"/>
                <a:ea typeface="Poppins" pitchFamily="34" charset="-122"/>
                <a:cs typeface="Poppins" pitchFamily="34" charset="-120"/>
              </a:rPr>
              <a:t>Projects, bids and credits at a glance</a:t>
            </a:r>
            <a:endParaRPr lang="en-US" sz="850" dirty="0"/>
          </a:p>
        </p:txBody>
      </p:sp>
      <p:sp>
        <p:nvSpPr>
          <p:cNvPr id="44" name="Shape 32"/>
          <p:cNvSpPr/>
          <p:nvPr/>
        </p:nvSpPr>
        <p:spPr>
          <a:xfrm>
            <a:off x="7223760" y="1965960"/>
            <a:ext cx="2093976" cy="914400"/>
          </a:xfrm>
          <a:prstGeom prst="roundRect">
            <a:avLst>
              <a:gd name="adj" fmla="val 12000"/>
            </a:avLst>
          </a:prstGeom>
          <a:solidFill>
            <a:srgbClr val="17305A"/>
          </a:solidFill>
          <a:ln w="9525">
            <a:solidFill>
              <a:srgbClr val="2A4468"/>
            </a:solidFill>
            <a:prstDash val="solid"/>
          </a:ln>
        </p:spPr>
      </p:sp>
      <p:sp>
        <p:nvSpPr>
          <p:cNvPr id="45" name="Text 33"/>
          <p:cNvSpPr txBox="1"/>
          <p:nvPr/>
        </p:nvSpPr>
        <p:spPr>
          <a:xfrm>
            <a:off x="7388352" y="2093976"/>
            <a:ext cx="1362456" cy="228600"/>
          </a:xfrm>
          <a:prstGeom prst="rect">
            <a:avLst/>
          </a:prstGeom>
          <a:noFill/>
          <a:ln/>
        </p:spPr>
        <p:txBody>
          <a:bodyPr wrap="square" lIns="0" tIns="0" rIns="0" bIns="0" rtlCol="0" anchor="t"/>
          <a:lstStyle/>
          <a:p>
            <a:pPr indent="0" marL="0">
              <a:buNone/>
            </a:pPr>
            <a:r>
              <a:rPr lang="en-US" sz="850" dirty="0">
                <a:solidFill>
                  <a:srgbClr val="A9B7CC"/>
                </a:solidFill>
                <a:latin typeface="Poppins" pitchFamily="34" charset="0"/>
                <a:ea typeface="Poppins" pitchFamily="34" charset="-122"/>
                <a:cs typeface="Poppins" pitchFamily="34" charset="-120"/>
              </a:rPr>
              <a:t>Active Projects</a:t>
            </a:r>
            <a:endParaRPr lang="en-US" sz="850" dirty="0"/>
          </a:p>
        </p:txBody>
      </p:sp>
      <p:sp>
        <p:nvSpPr>
          <p:cNvPr id="46" name="Text 34"/>
          <p:cNvSpPr txBox="1"/>
          <p:nvPr/>
        </p:nvSpPr>
        <p:spPr>
          <a:xfrm>
            <a:off x="7388352" y="2313432"/>
            <a:ext cx="1362456" cy="457200"/>
          </a:xfrm>
          <a:prstGeom prst="rect">
            <a:avLst/>
          </a:prstGeom>
          <a:noFill/>
          <a:ln/>
        </p:spPr>
        <p:txBody>
          <a:bodyPr wrap="square" lIns="0" tIns="0" rIns="0" bIns="0" rtlCol="0" anchor="ctr"/>
          <a:lstStyle/>
          <a:p>
            <a:pPr indent="0" marL="0">
              <a:buNone/>
            </a:pPr>
            <a:r>
              <a:rPr lang="en-US" sz="2400" b="1" dirty="0">
                <a:solidFill>
                  <a:srgbClr val="FFFFFF"/>
                </a:solidFill>
                <a:latin typeface="Poppins" pitchFamily="34" charset="0"/>
                <a:ea typeface="Poppins" pitchFamily="34" charset="-122"/>
                <a:cs typeface="Poppins" pitchFamily="34" charset="-120"/>
              </a:rPr>
              <a:t>12</a:t>
            </a:r>
            <a:endParaRPr lang="en-US" sz="2400" dirty="0"/>
          </a:p>
        </p:txBody>
      </p:sp>
      <p:sp>
        <p:nvSpPr>
          <p:cNvPr id="47" name="Shape 35"/>
          <p:cNvSpPr/>
          <p:nvPr/>
        </p:nvSpPr>
        <p:spPr>
          <a:xfrm>
            <a:off x="8769096" y="2148840"/>
            <a:ext cx="384048" cy="384048"/>
          </a:xfrm>
          <a:prstGeom prst="ellipse">
            <a:avLst/>
          </a:prstGeom>
          <a:solidFill>
            <a:srgbClr val="12AEA4"/>
          </a:solidFill>
          <a:ln/>
        </p:spPr>
      </p:sp>
      <p:pic>
        <p:nvPicPr>
          <p:cNvPr id="48" name="Image 10" descr="preencoded.png">    </p:cNvPr>
          <p:cNvPicPr>
            <a:picLocks noChangeAspect="1"/>
          </p:cNvPicPr>
          <p:nvPr/>
        </p:nvPicPr>
        <p:blipFill>
          <a:blip r:embed="rId12"/>
          <a:stretch>
            <a:fillRect/>
          </a:stretch>
        </p:blipFill>
        <p:spPr>
          <a:xfrm>
            <a:off x="8868948" y="2248692"/>
            <a:ext cx="184343" cy="184343"/>
          </a:xfrm>
          <a:prstGeom prst="rect">
            <a:avLst/>
          </a:prstGeom>
        </p:spPr>
      </p:pic>
      <p:sp>
        <p:nvSpPr>
          <p:cNvPr id="49" name="Shape 36"/>
          <p:cNvSpPr/>
          <p:nvPr/>
        </p:nvSpPr>
        <p:spPr>
          <a:xfrm>
            <a:off x="9454896" y="1965960"/>
            <a:ext cx="2093976" cy="914400"/>
          </a:xfrm>
          <a:prstGeom prst="roundRect">
            <a:avLst>
              <a:gd name="adj" fmla="val 12000"/>
            </a:avLst>
          </a:prstGeom>
          <a:solidFill>
            <a:srgbClr val="17305A"/>
          </a:solidFill>
          <a:ln w="9525">
            <a:solidFill>
              <a:srgbClr val="2A4468"/>
            </a:solidFill>
            <a:prstDash val="solid"/>
          </a:ln>
        </p:spPr>
      </p:sp>
      <p:sp>
        <p:nvSpPr>
          <p:cNvPr id="50" name="Text 37"/>
          <p:cNvSpPr txBox="1"/>
          <p:nvPr/>
        </p:nvSpPr>
        <p:spPr>
          <a:xfrm>
            <a:off x="9619488" y="2093976"/>
            <a:ext cx="1362456" cy="228600"/>
          </a:xfrm>
          <a:prstGeom prst="rect">
            <a:avLst/>
          </a:prstGeom>
          <a:noFill/>
          <a:ln/>
        </p:spPr>
        <p:txBody>
          <a:bodyPr wrap="square" lIns="0" tIns="0" rIns="0" bIns="0" rtlCol="0" anchor="t"/>
          <a:lstStyle/>
          <a:p>
            <a:pPr indent="0" marL="0">
              <a:buNone/>
            </a:pPr>
            <a:r>
              <a:rPr lang="en-US" sz="850" dirty="0">
                <a:solidFill>
                  <a:srgbClr val="A9B7CC"/>
                </a:solidFill>
                <a:latin typeface="Poppins" pitchFamily="34" charset="0"/>
                <a:ea typeface="Poppins" pitchFamily="34" charset="-122"/>
                <a:cs typeface="Poppins" pitchFamily="34" charset="-120"/>
              </a:rPr>
              <a:t>Total Bids</a:t>
            </a:r>
            <a:endParaRPr lang="en-US" sz="850" dirty="0"/>
          </a:p>
        </p:txBody>
      </p:sp>
      <p:sp>
        <p:nvSpPr>
          <p:cNvPr id="51" name="Text 38"/>
          <p:cNvSpPr txBox="1"/>
          <p:nvPr/>
        </p:nvSpPr>
        <p:spPr>
          <a:xfrm>
            <a:off x="9619488" y="2313432"/>
            <a:ext cx="1362456" cy="457200"/>
          </a:xfrm>
          <a:prstGeom prst="rect">
            <a:avLst/>
          </a:prstGeom>
          <a:noFill/>
          <a:ln/>
        </p:spPr>
        <p:txBody>
          <a:bodyPr wrap="square" lIns="0" tIns="0" rIns="0" bIns="0" rtlCol="0" anchor="ctr"/>
          <a:lstStyle/>
          <a:p>
            <a:pPr indent="0" marL="0">
              <a:buNone/>
            </a:pPr>
            <a:r>
              <a:rPr lang="en-US" sz="2400" b="1" dirty="0">
                <a:solidFill>
                  <a:srgbClr val="FFFFFF"/>
                </a:solidFill>
                <a:latin typeface="Poppins" pitchFamily="34" charset="0"/>
                <a:ea typeface="Poppins" pitchFamily="34" charset="-122"/>
                <a:cs typeface="Poppins" pitchFamily="34" charset="-120"/>
              </a:rPr>
              <a:t>48</a:t>
            </a:r>
            <a:endParaRPr lang="en-US" sz="2400" dirty="0"/>
          </a:p>
        </p:txBody>
      </p:sp>
      <p:sp>
        <p:nvSpPr>
          <p:cNvPr id="52" name="Shape 39"/>
          <p:cNvSpPr/>
          <p:nvPr/>
        </p:nvSpPr>
        <p:spPr>
          <a:xfrm>
            <a:off x="11000232" y="2148840"/>
            <a:ext cx="384048" cy="384048"/>
          </a:xfrm>
          <a:prstGeom prst="ellipse">
            <a:avLst/>
          </a:prstGeom>
          <a:solidFill>
            <a:srgbClr val="EF5B59"/>
          </a:solidFill>
          <a:ln/>
        </p:spPr>
      </p:sp>
      <p:pic>
        <p:nvPicPr>
          <p:cNvPr id="53" name="Image 11" descr="preencoded.png">    </p:cNvPr>
          <p:cNvPicPr>
            <a:picLocks noChangeAspect="1"/>
          </p:cNvPicPr>
          <p:nvPr/>
        </p:nvPicPr>
        <p:blipFill>
          <a:blip r:embed="rId13"/>
          <a:stretch>
            <a:fillRect/>
          </a:stretch>
        </p:blipFill>
        <p:spPr>
          <a:xfrm>
            <a:off x="11100084" y="2248692"/>
            <a:ext cx="184343" cy="184343"/>
          </a:xfrm>
          <a:prstGeom prst="rect">
            <a:avLst/>
          </a:prstGeom>
        </p:spPr>
      </p:pic>
      <p:sp>
        <p:nvSpPr>
          <p:cNvPr id="54" name="Shape 40"/>
          <p:cNvSpPr/>
          <p:nvPr/>
        </p:nvSpPr>
        <p:spPr>
          <a:xfrm>
            <a:off x="7223760" y="3017520"/>
            <a:ext cx="2093976" cy="914400"/>
          </a:xfrm>
          <a:prstGeom prst="roundRect">
            <a:avLst>
              <a:gd name="adj" fmla="val 12000"/>
            </a:avLst>
          </a:prstGeom>
          <a:solidFill>
            <a:srgbClr val="17305A"/>
          </a:solidFill>
          <a:ln w="9525">
            <a:solidFill>
              <a:srgbClr val="2A4468"/>
            </a:solidFill>
            <a:prstDash val="solid"/>
          </a:ln>
        </p:spPr>
      </p:sp>
      <p:sp>
        <p:nvSpPr>
          <p:cNvPr id="55" name="Text 41"/>
          <p:cNvSpPr txBox="1"/>
          <p:nvPr/>
        </p:nvSpPr>
        <p:spPr>
          <a:xfrm>
            <a:off x="7388352" y="3145536"/>
            <a:ext cx="1362456" cy="228600"/>
          </a:xfrm>
          <a:prstGeom prst="rect">
            <a:avLst/>
          </a:prstGeom>
          <a:noFill/>
          <a:ln/>
        </p:spPr>
        <p:txBody>
          <a:bodyPr wrap="square" lIns="0" tIns="0" rIns="0" bIns="0" rtlCol="0" anchor="t"/>
          <a:lstStyle/>
          <a:p>
            <a:pPr indent="0" marL="0">
              <a:buNone/>
            </a:pPr>
            <a:r>
              <a:rPr lang="en-US" sz="850" dirty="0">
                <a:solidFill>
                  <a:srgbClr val="A9B7CC"/>
                </a:solidFill>
                <a:latin typeface="Poppins" pitchFamily="34" charset="0"/>
                <a:ea typeface="Poppins" pitchFamily="34" charset="-122"/>
                <a:cs typeface="Poppins" pitchFamily="34" charset="-120"/>
              </a:rPr>
              <a:t>Deals</a:t>
            </a:r>
            <a:endParaRPr lang="en-US" sz="850" dirty="0"/>
          </a:p>
        </p:txBody>
      </p:sp>
      <p:sp>
        <p:nvSpPr>
          <p:cNvPr id="56" name="Text 42"/>
          <p:cNvSpPr txBox="1"/>
          <p:nvPr/>
        </p:nvSpPr>
        <p:spPr>
          <a:xfrm>
            <a:off x="7388352" y="3364992"/>
            <a:ext cx="1362456" cy="457200"/>
          </a:xfrm>
          <a:prstGeom prst="rect">
            <a:avLst/>
          </a:prstGeom>
          <a:noFill/>
          <a:ln/>
        </p:spPr>
        <p:txBody>
          <a:bodyPr wrap="square" lIns="0" tIns="0" rIns="0" bIns="0" rtlCol="0" anchor="ctr"/>
          <a:lstStyle/>
          <a:p>
            <a:pPr indent="0" marL="0">
              <a:buNone/>
            </a:pPr>
            <a:r>
              <a:rPr lang="en-US" sz="2400" b="1" dirty="0">
                <a:solidFill>
                  <a:srgbClr val="FFFFFF"/>
                </a:solidFill>
                <a:latin typeface="Poppins" pitchFamily="34" charset="0"/>
                <a:ea typeface="Poppins" pitchFamily="34" charset="-122"/>
                <a:cs typeface="Poppins" pitchFamily="34" charset="-120"/>
              </a:rPr>
              <a:t>9</a:t>
            </a:r>
            <a:endParaRPr lang="en-US" sz="2400" dirty="0"/>
          </a:p>
        </p:txBody>
      </p:sp>
      <p:sp>
        <p:nvSpPr>
          <p:cNvPr id="57" name="Shape 43"/>
          <p:cNvSpPr/>
          <p:nvPr/>
        </p:nvSpPr>
        <p:spPr>
          <a:xfrm>
            <a:off x="8769096" y="3200400"/>
            <a:ext cx="384048" cy="384048"/>
          </a:xfrm>
          <a:prstGeom prst="ellipse">
            <a:avLst/>
          </a:prstGeom>
          <a:solidFill>
            <a:srgbClr val="F79330"/>
          </a:solidFill>
          <a:ln/>
        </p:spPr>
      </p:sp>
      <p:pic>
        <p:nvPicPr>
          <p:cNvPr id="58" name="Image 12" descr="preencoded.png">    </p:cNvPr>
          <p:cNvPicPr>
            <a:picLocks noChangeAspect="1"/>
          </p:cNvPicPr>
          <p:nvPr/>
        </p:nvPicPr>
        <p:blipFill>
          <a:blip r:embed="rId14"/>
          <a:stretch>
            <a:fillRect/>
          </a:stretch>
        </p:blipFill>
        <p:spPr>
          <a:xfrm>
            <a:off x="8868948" y="3300252"/>
            <a:ext cx="184343" cy="184343"/>
          </a:xfrm>
          <a:prstGeom prst="rect">
            <a:avLst/>
          </a:prstGeom>
        </p:spPr>
      </p:pic>
      <p:sp>
        <p:nvSpPr>
          <p:cNvPr id="59" name="Shape 44"/>
          <p:cNvSpPr/>
          <p:nvPr/>
        </p:nvSpPr>
        <p:spPr>
          <a:xfrm>
            <a:off x="9454896" y="3017520"/>
            <a:ext cx="2093976" cy="914400"/>
          </a:xfrm>
          <a:prstGeom prst="roundRect">
            <a:avLst>
              <a:gd name="adj" fmla="val 12000"/>
            </a:avLst>
          </a:prstGeom>
          <a:solidFill>
            <a:srgbClr val="17305A"/>
          </a:solidFill>
          <a:ln w="9525">
            <a:solidFill>
              <a:srgbClr val="2A4468"/>
            </a:solidFill>
            <a:prstDash val="solid"/>
          </a:ln>
        </p:spPr>
      </p:sp>
      <p:sp>
        <p:nvSpPr>
          <p:cNvPr id="60" name="Text 45"/>
          <p:cNvSpPr txBox="1"/>
          <p:nvPr/>
        </p:nvSpPr>
        <p:spPr>
          <a:xfrm>
            <a:off x="9619488" y="3145536"/>
            <a:ext cx="1362456" cy="228600"/>
          </a:xfrm>
          <a:prstGeom prst="rect">
            <a:avLst/>
          </a:prstGeom>
          <a:noFill/>
          <a:ln/>
        </p:spPr>
        <p:txBody>
          <a:bodyPr wrap="square" lIns="0" tIns="0" rIns="0" bIns="0" rtlCol="0" anchor="t"/>
          <a:lstStyle/>
          <a:p>
            <a:pPr indent="0" marL="0">
              <a:buNone/>
            </a:pPr>
            <a:r>
              <a:rPr lang="en-US" sz="850" dirty="0">
                <a:solidFill>
                  <a:srgbClr val="A9B7CC"/>
                </a:solidFill>
                <a:latin typeface="Poppins" pitchFamily="34" charset="0"/>
                <a:ea typeface="Poppins" pitchFamily="34" charset="-122"/>
                <a:cs typeface="Poppins" pitchFamily="34" charset="-120"/>
              </a:rPr>
              <a:t>Credits</a:t>
            </a:r>
            <a:endParaRPr lang="en-US" sz="850" dirty="0"/>
          </a:p>
        </p:txBody>
      </p:sp>
      <p:sp>
        <p:nvSpPr>
          <p:cNvPr id="61" name="Text 46"/>
          <p:cNvSpPr txBox="1"/>
          <p:nvPr/>
        </p:nvSpPr>
        <p:spPr>
          <a:xfrm>
            <a:off x="9619488" y="3364992"/>
            <a:ext cx="1362456" cy="457200"/>
          </a:xfrm>
          <a:prstGeom prst="rect">
            <a:avLst/>
          </a:prstGeom>
          <a:noFill/>
          <a:ln/>
        </p:spPr>
        <p:txBody>
          <a:bodyPr wrap="square" lIns="0" tIns="0" rIns="0" bIns="0" rtlCol="0" anchor="ctr"/>
          <a:lstStyle/>
          <a:p>
            <a:pPr indent="0" marL="0">
              <a:buNone/>
            </a:pPr>
            <a:r>
              <a:rPr lang="en-US" sz="2400" b="1" dirty="0">
                <a:solidFill>
                  <a:srgbClr val="FFFFFF"/>
                </a:solidFill>
                <a:latin typeface="Poppins" pitchFamily="34" charset="0"/>
                <a:ea typeface="Poppins" pitchFamily="34" charset="-122"/>
                <a:cs typeface="Poppins" pitchFamily="34" charset="-120"/>
              </a:rPr>
              <a:t>25</a:t>
            </a:r>
            <a:endParaRPr lang="en-US" sz="2400" dirty="0"/>
          </a:p>
        </p:txBody>
      </p:sp>
      <p:sp>
        <p:nvSpPr>
          <p:cNvPr id="62" name="Shape 47"/>
          <p:cNvSpPr/>
          <p:nvPr/>
        </p:nvSpPr>
        <p:spPr>
          <a:xfrm>
            <a:off x="11000232" y="3200400"/>
            <a:ext cx="384048" cy="384048"/>
          </a:xfrm>
          <a:prstGeom prst="ellipse">
            <a:avLst/>
          </a:prstGeom>
          <a:solidFill>
            <a:srgbClr val="5EEAD4"/>
          </a:solidFill>
          <a:ln/>
        </p:spPr>
      </p:sp>
      <p:pic>
        <p:nvPicPr>
          <p:cNvPr id="63" name="Image 13" descr="preencoded.png">    </p:cNvPr>
          <p:cNvPicPr>
            <a:picLocks noChangeAspect="1"/>
          </p:cNvPicPr>
          <p:nvPr/>
        </p:nvPicPr>
        <p:blipFill>
          <a:blip r:embed="rId15"/>
          <a:stretch>
            <a:fillRect/>
          </a:stretch>
        </p:blipFill>
        <p:spPr>
          <a:xfrm>
            <a:off x="11100084" y="3300252"/>
            <a:ext cx="184343" cy="184343"/>
          </a:xfrm>
          <a:prstGeom prst="rect">
            <a:avLst/>
          </a:prstGeom>
        </p:spPr>
      </p:pic>
      <p:sp>
        <p:nvSpPr>
          <p:cNvPr id="64" name="Shape 48"/>
          <p:cNvSpPr/>
          <p:nvPr/>
        </p:nvSpPr>
        <p:spPr>
          <a:xfrm>
            <a:off x="7223760" y="4114800"/>
            <a:ext cx="2093976" cy="1737360"/>
          </a:xfrm>
          <a:prstGeom prst="roundRect">
            <a:avLst>
              <a:gd name="adj" fmla="val 6316"/>
            </a:avLst>
          </a:prstGeom>
          <a:solidFill>
            <a:srgbClr val="17305A"/>
          </a:solidFill>
          <a:ln w="9525">
            <a:solidFill>
              <a:srgbClr val="2A4468"/>
            </a:solidFill>
            <a:prstDash val="solid"/>
          </a:ln>
        </p:spPr>
      </p:sp>
      <p:sp>
        <p:nvSpPr>
          <p:cNvPr id="65" name="Shape 49"/>
          <p:cNvSpPr/>
          <p:nvPr/>
        </p:nvSpPr>
        <p:spPr>
          <a:xfrm>
            <a:off x="7388352" y="4279392"/>
            <a:ext cx="512064" cy="512064"/>
          </a:xfrm>
          <a:prstGeom prst="ellipse">
            <a:avLst/>
          </a:prstGeom>
          <a:solidFill>
            <a:srgbClr val="12AEA4"/>
          </a:solidFill>
          <a:ln/>
        </p:spPr>
      </p:sp>
      <p:pic>
        <p:nvPicPr>
          <p:cNvPr id="66" name="Image 14" descr="preencoded.png">    </p:cNvPr>
          <p:cNvPicPr>
            <a:picLocks noChangeAspect="1"/>
          </p:cNvPicPr>
          <p:nvPr/>
        </p:nvPicPr>
        <p:blipFill>
          <a:blip r:embed="rId16"/>
          <a:stretch>
            <a:fillRect/>
          </a:stretch>
        </p:blipFill>
        <p:spPr>
          <a:xfrm>
            <a:off x="7516368" y="4407408"/>
            <a:ext cx="256032" cy="256032"/>
          </a:xfrm>
          <a:prstGeom prst="rect">
            <a:avLst/>
          </a:prstGeom>
        </p:spPr>
      </p:pic>
      <p:sp>
        <p:nvSpPr>
          <p:cNvPr id="67" name="Text 50"/>
          <p:cNvSpPr txBox="1"/>
          <p:nvPr/>
        </p:nvSpPr>
        <p:spPr>
          <a:xfrm>
            <a:off x="8028432" y="4297680"/>
            <a:ext cx="1179576" cy="256032"/>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Freelancer</a:t>
            </a:r>
            <a:endParaRPr lang="en-US" sz="1100" dirty="0"/>
          </a:p>
        </p:txBody>
      </p:sp>
      <p:sp>
        <p:nvSpPr>
          <p:cNvPr id="68" name="Text 51"/>
          <p:cNvSpPr txBox="1"/>
          <p:nvPr/>
        </p:nvSpPr>
        <p:spPr>
          <a:xfrm>
            <a:off x="8028432" y="4553712"/>
            <a:ext cx="1179576" cy="228600"/>
          </a:xfrm>
          <a:prstGeom prst="rect">
            <a:avLst/>
          </a:prstGeom>
          <a:noFill/>
          <a:ln/>
        </p:spPr>
        <p:txBody>
          <a:bodyPr wrap="square" lIns="0" tIns="0" rIns="0" bIns="0" rtlCol="0" anchor="t"/>
          <a:lstStyle/>
          <a:p>
            <a:pPr indent="0" marL="0">
              <a:buNone/>
            </a:pPr>
            <a:r>
              <a:rPr lang="en-US" sz="800" dirty="0">
                <a:solidFill>
                  <a:srgbClr val="A9B7CC"/>
                </a:solidFill>
                <a:latin typeface="Poppins" pitchFamily="34" charset="0"/>
                <a:ea typeface="Poppins" pitchFamily="34" charset="-122"/>
                <a:cs typeface="Poppins" pitchFamily="34" charset="-120"/>
              </a:rPr>
              <a:t>Skills and bids</a:t>
            </a:r>
            <a:endParaRPr lang="en-US" sz="800" dirty="0"/>
          </a:p>
        </p:txBody>
      </p:sp>
      <p:sp>
        <p:nvSpPr>
          <p:cNvPr id="69" name="Text 52"/>
          <p:cNvSpPr txBox="1"/>
          <p:nvPr/>
        </p:nvSpPr>
        <p:spPr>
          <a:xfrm>
            <a:off x="7388352" y="4983480"/>
            <a:ext cx="777240" cy="256032"/>
          </a:xfrm>
          <a:prstGeom prst="roundRect">
            <a:avLst>
              <a:gd name="adj" fmla="val 50000"/>
            </a:avLst>
          </a:prstGeom>
          <a:solidFill>
            <a:srgbClr val="12AEA4">
              <a:alpha val="28000"/>
            </a:srgbClr>
          </a:solid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React</a:t>
            </a:r>
            <a:endParaRPr lang="en-US" sz="800" dirty="0"/>
          </a:p>
        </p:txBody>
      </p:sp>
      <p:sp>
        <p:nvSpPr>
          <p:cNvPr id="70" name="Text 53"/>
          <p:cNvSpPr txBox="1"/>
          <p:nvPr/>
        </p:nvSpPr>
        <p:spPr>
          <a:xfrm>
            <a:off x="8257032" y="4983480"/>
            <a:ext cx="777240" cy="256032"/>
          </a:xfrm>
          <a:prstGeom prst="roundRect">
            <a:avLst>
              <a:gd name="adj" fmla="val 50000"/>
            </a:avLst>
          </a:prstGeom>
          <a:solidFill>
            <a:srgbClr val="12AEA4">
              <a:alpha val="28000"/>
            </a:srgbClr>
          </a:solid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Node.js</a:t>
            </a:r>
            <a:endParaRPr lang="en-US" sz="800" dirty="0"/>
          </a:p>
        </p:txBody>
      </p:sp>
      <p:sp>
        <p:nvSpPr>
          <p:cNvPr id="71" name="Text 54"/>
          <p:cNvSpPr txBox="1"/>
          <p:nvPr/>
        </p:nvSpPr>
        <p:spPr>
          <a:xfrm>
            <a:off x="7388352" y="5413248"/>
            <a:ext cx="1764792" cy="292608"/>
          </a:xfrm>
          <a:prstGeom prst="roundRect">
            <a:avLst>
              <a:gd name="adj" fmla="val 50000"/>
            </a:avLst>
          </a:prstGeom>
          <a:solidFill>
            <a:srgbClr val="12AEA4"/>
          </a:solid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View Profile</a:t>
            </a:r>
            <a:endParaRPr lang="en-US" sz="900" dirty="0"/>
          </a:p>
        </p:txBody>
      </p:sp>
      <p:sp>
        <p:nvSpPr>
          <p:cNvPr id="72" name="Shape 55"/>
          <p:cNvSpPr/>
          <p:nvPr/>
        </p:nvSpPr>
        <p:spPr>
          <a:xfrm>
            <a:off x="9454896" y="4114800"/>
            <a:ext cx="2093976" cy="1737360"/>
          </a:xfrm>
          <a:prstGeom prst="roundRect">
            <a:avLst>
              <a:gd name="adj" fmla="val 6316"/>
            </a:avLst>
          </a:prstGeom>
          <a:solidFill>
            <a:srgbClr val="17305A"/>
          </a:solidFill>
          <a:ln w="9525">
            <a:solidFill>
              <a:srgbClr val="2A4468"/>
            </a:solidFill>
            <a:prstDash val="solid"/>
          </a:ln>
        </p:spPr>
      </p:sp>
      <p:sp>
        <p:nvSpPr>
          <p:cNvPr id="73" name="Shape 56"/>
          <p:cNvSpPr/>
          <p:nvPr/>
        </p:nvSpPr>
        <p:spPr>
          <a:xfrm>
            <a:off x="9619488" y="4279392"/>
            <a:ext cx="512064" cy="512064"/>
          </a:xfrm>
          <a:prstGeom prst="ellipse">
            <a:avLst/>
          </a:prstGeom>
          <a:solidFill>
            <a:srgbClr val="EF5B59"/>
          </a:solidFill>
          <a:ln/>
        </p:spPr>
      </p:sp>
      <p:pic>
        <p:nvPicPr>
          <p:cNvPr id="74" name="Image 15" descr="preencoded.png">    </p:cNvPr>
          <p:cNvPicPr>
            <a:picLocks noChangeAspect="1"/>
          </p:cNvPicPr>
          <p:nvPr/>
        </p:nvPicPr>
        <p:blipFill>
          <a:blip r:embed="rId17"/>
          <a:stretch>
            <a:fillRect/>
          </a:stretch>
        </p:blipFill>
        <p:spPr>
          <a:xfrm>
            <a:off x="9747504" y="4407408"/>
            <a:ext cx="256032" cy="256032"/>
          </a:xfrm>
          <a:prstGeom prst="rect">
            <a:avLst/>
          </a:prstGeom>
        </p:spPr>
      </p:pic>
      <p:sp>
        <p:nvSpPr>
          <p:cNvPr id="75" name="Text 57"/>
          <p:cNvSpPr txBox="1"/>
          <p:nvPr/>
        </p:nvSpPr>
        <p:spPr>
          <a:xfrm>
            <a:off x="10259568" y="4297680"/>
            <a:ext cx="1179576" cy="256032"/>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Client</a:t>
            </a:r>
            <a:endParaRPr lang="en-US" sz="1100" dirty="0"/>
          </a:p>
        </p:txBody>
      </p:sp>
      <p:sp>
        <p:nvSpPr>
          <p:cNvPr id="76" name="Text 58"/>
          <p:cNvSpPr txBox="1"/>
          <p:nvPr/>
        </p:nvSpPr>
        <p:spPr>
          <a:xfrm>
            <a:off x="10259568" y="4553712"/>
            <a:ext cx="1179576" cy="228600"/>
          </a:xfrm>
          <a:prstGeom prst="rect">
            <a:avLst/>
          </a:prstGeom>
          <a:noFill/>
          <a:ln/>
        </p:spPr>
        <p:txBody>
          <a:bodyPr wrap="square" lIns="0" tIns="0" rIns="0" bIns="0" rtlCol="0" anchor="t"/>
          <a:lstStyle/>
          <a:p>
            <a:pPr indent="0" marL="0">
              <a:buNone/>
            </a:pPr>
            <a:r>
              <a:rPr lang="en-US" sz="800" dirty="0">
                <a:solidFill>
                  <a:srgbClr val="A9B7CC"/>
                </a:solidFill>
                <a:latin typeface="Poppins" pitchFamily="34" charset="0"/>
                <a:ea typeface="Poppins" pitchFamily="34" charset="-122"/>
                <a:cs typeface="Poppins" pitchFamily="34" charset="-120"/>
              </a:rPr>
              <a:t>Projects and hiring</a:t>
            </a:r>
            <a:endParaRPr lang="en-US" sz="800" dirty="0"/>
          </a:p>
        </p:txBody>
      </p:sp>
      <p:sp>
        <p:nvSpPr>
          <p:cNvPr id="77" name="Text 59"/>
          <p:cNvSpPr txBox="1"/>
          <p:nvPr/>
        </p:nvSpPr>
        <p:spPr>
          <a:xfrm>
            <a:off x="9619488" y="4983480"/>
            <a:ext cx="777240" cy="256032"/>
          </a:xfrm>
          <a:prstGeom prst="roundRect">
            <a:avLst>
              <a:gd name="adj" fmla="val 50000"/>
            </a:avLst>
          </a:prstGeom>
          <a:solidFill>
            <a:srgbClr val="EF5B59">
              <a:alpha val="28000"/>
            </a:srgbClr>
          </a:solid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Projects</a:t>
            </a:r>
            <a:endParaRPr lang="en-US" sz="800" dirty="0"/>
          </a:p>
        </p:txBody>
      </p:sp>
      <p:sp>
        <p:nvSpPr>
          <p:cNvPr id="78" name="Text 60"/>
          <p:cNvSpPr txBox="1"/>
          <p:nvPr/>
        </p:nvSpPr>
        <p:spPr>
          <a:xfrm>
            <a:off x="10488168" y="4983480"/>
            <a:ext cx="777240" cy="256032"/>
          </a:xfrm>
          <a:prstGeom prst="roundRect">
            <a:avLst>
              <a:gd name="adj" fmla="val 50000"/>
            </a:avLst>
          </a:prstGeom>
          <a:solidFill>
            <a:srgbClr val="EF5B59">
              <a:alpha val="28000"/>
            </a:srgbClr>
          </a:solidFill>
          <a:ln/>
        </p:spPr>
        <p:txBody>
          <a:bodyPr wrap="square" lIns="0" tIns="0" rIns="0" bIns="0" rtlCol="0" anchor="ctr"/>
          <a:lstStyle/>
          <a:p>
            <a:pPr algn="ctr" indent="0" marL="0">
              <a:buNone/>
            </a:pPr>
            <a:r>
              <a:rPr lang="en-US" sz="800" b="1" dirty="0">
                <a:solidFill>
                  <a:srgbClr val="FFFFFF"/>
                </a:solidFill>
                <a:latin typeface="Poppins" pitchFamily="34" charset="0"/>
                <a:ea typeface="Poppins" pitchFamily="34" charset="-122"/>
                <a:cs typeface="Poppins" pitchFamily="34" charset="-120"/>
              </a:rPr>
              <a:t>Bids</a:t>
            </a:r>
            <a:endParaRPr lang="en-US" sz="800" dirty="0"/>
          </a:p>
        </p:txBody>
      </p:sp>
      <p:sp>
        <p:nvSpPr>
          <p:cNvPr id="79" name="Text 61"/>
          <p:cNvSpPr txBox="1"/>
          <p:nvPr/>
        </p:nvSpPr>
        <p:spPr>
          <a:xfrm>
            <a:off x="9619488" y="5413248"/>
            <a:ext cx="1764792" cy="292608"/>
          </a:xfrm>
          <a:prstGeom prst="roundRect">
            <a:avLst>
              <a:gd name="adj" fmla="val 50000"/>
            </a:avLst>
          </a:prstGeom>
          <a:solidFill>
            <a:srgbClr val="EF5B59"/>
          </a:solid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View Bids</a:t>
            </a:r>
            <a:endParaRPr lang="en-US" sz="900" dirty="0"/>
          </a:p>
        </p:txBody>
      </p:sp>
      <p:sp>
        <p:nvSpPr>
          <p:cNvPr id="80" name="Text 62"/>
          <p:cNvSpPr txBox="1"/>
          <p:nvPr/>
        </p:nvSpPr>
        <p:spPr>
          <a:xfrm>
            <a:off x="6400800" y="6099048"/>
            <a:ext cx="5330952" cy="228600"/>
          </a:xfrm>
          <a:prstGeom prst="rect">
            <a:avLst/>
          </a:prstGeom>
          <a:noFill/>
          <a:ln/>
        </p:spPr>
        <p:txBody>
          <a:bodyPr wrap="square" lIns="0" tIns="0" rIns="0" bIns="0" rtlCol="0" anchor="t"/>
          <a:lstStyle/>
          <a:p>
            <a:pPr algn="ctr" indent="0" marL="0">
              <a:buNone/>
            </a:pPr>
            <a:r>
              <a:rPr lang="en-US" sz="850" i="1" dirty="0">
                <a:solidFill>
                  <a:srgbClr val="A9B7CC"/>
                </a:solidFill>
                <a:latin typeface="Poppins" pitchFamily="34" charset="0"/>
                <a:ea typeface="Poppins" pitchFamily="34" charset="-122"/>
                <a:cs typeface="Poppins" pitchFamily="34" charset="-120"/>
              </a:rPr>
              <a:t>Dashboard preview  •  sample UI data</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PROBLEM STATEMENT</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2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02</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Problem Statement</a:t>
            </a:r>
            <a:endParaRPr lang="en-US" sz="3000" dirty="0"/>
          </a:p>
        </p:txBody>
      </p:sp>
      <p:sp>
        <p:nvSpPr>
          <p:cNvPr id="9" name="Shape 6"/>
          <p:cNvSpPr/>
          <p:nvPr/>
        </p:nvSpPr>
        <p:spPr>
          <a:xfrm>
            <a:off x="457200" y="1554480"/>
            <a:ext cx="3575304" cy="3017520"/>
          </a:xfrm>
          <a:prstGeom prst="roundRect">
            <a:avLst>
              <a:gd name="adj" fmla="val 424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Shape 7"/>
          <p:cNvSpPr/>
          <p:nvPr/>
        </p:nvSpPr>
        <p:spPr>
          <a:xfrm>
            <a:off x="713232" y="1810512"/>
            <a:ext cx="621792" cy="621792"/>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11" name="Image 1" descr="preencoded.png">    </p:cNvPr>
          <p:cNvPicPr>
            <a:picLocks noChangeAspect="1"/>
          </p:cNvPicPr>
          <p:nvPr/>
        </p:nvPicPr>
        <p:blipFill>
          <a:blip r:embed="rId3"/>
          <a:stretch>
            <a:fillRect/>
          </a:stretch>
        </p:blipFill>
        <p:spPr>
          <a:xfrm>
            <a:off x="868680" y="1965960"/>
            <a:ext cx="310896" cy="310896"/>
          </a:xfrm>
          <a:prstGeom prst="rect">
            <a:avLst/>
          </a:prstGeom>
        </p:spPr>
      </p:pic>
      <p:sp>
        <p:nvSpPr>
          <p:cNvPr id="12" name="Text 8"/>
          <p:cNvSpPr txBox="1"/>
          <p:nvPr/>
        </p:nvSpPr>
        <p:spPr>
          <a:xfrm>
            <a:off x="1463040" y="1810512"/>
            <a:ext cx="2478024" cy="621792"/>
          </a:xfrm>
          <a:prstGeom prst="rect">
            <a:avLst/>
          </a:prstGeom>
          <a:noFill/>
          <a:ln/>
        </p:spPr>
        <p:txBody>
          <a:bodyPr wrap="square" lIns="0" tIns="0" rIns="0" bIns="0" rtlCol="0" anchor="ctr"/>
          <a:lstStyle/>
          <a:p>
            <a:pPr indent="0" marL="0">
              <a:buNone/>
            </a:pPr>
            <a:r>
              <a:rPr lang="en-US" sz="1150" b="1" spc="100" kern="0" dirty="0">
                <a:solidFill>
                  <a:srgbClr val="12AEA4"/>
                </a:solidFill>
                <a:latin typeface="Poppins" pitchFamily="34" charset="0"/>
                <a:ea typeface="Poppins" pitchFamily="34" charset="-122"/>
                <a:cs typeface="Poppins" pitchFamily="34" charset="-120"/>
              </a:rPr>
              <a:t>CLIENT PROBLEM</a:t>
            </a:r>
            <a:endParaRPr lang="en-US" sz="1150" dirty="0"/>
          </a:p>
        </p:txBody>
      </p:sp>
      <p:sp>
        <p:nvSpPr>
          <p:cNvPr id="13" name="Text 9"/>
          <p:cNvSpPr txBox="1"/>
          <p:nvPr/>
        </p:nvSpPr>
        <p:spPr>
          <a:xfrm>
            <a:off x="713232" y="2606040"/>
            <a:ext cx="3118104" cy="274320"/>
          </a:xfrm>
          <a:prstGeom prst="rect">
            <a:avLst/>
          </a:prstGeom>
          <a:noFill/>
          <a:ln/>
        </p:spPr>
        <p:txBody>
          <a:bodyPr wrap="square" lIns="0" tIns="0" rIns="0" bIns="0" rtlCol="0" anchor="ctr"/>
          <a:lstStyle/>
          <a:p>
            <a:pPr indent="0" marL="0">
              <a:buNone/>
            </a:pPr>
            <a:r>
              <a:rPr lang="en-US" sz="1100" b="1" dirty="0">
                <a:solidFill>
                  <a:srgbClr val="0B1930"/>
                </a:solidFill>
                <a:latin typeface="Poppins" pitchFamily="34" charset="0"/>
                <a:ea typeface="Poppins" pitchFamily="34" charset="-122"/>
                <a:cs typeface="Poppins" pitchFamily="34" charset="-120"/>
              </a:rPr>
              <a:t>Clients need an easy way to:</a:t>
            </a:r>
            <a:endParaRPr lang="en-US" sz="1100" dirty="0"/>
          </a:p>
        </p:txBody>
      </p:sp>
      <p:pic>
        <p:nvPicPr>
          <p:cNvPr id="14" name="Image 2" descr="preencoded.png">    </p:cNvPr>
          <p:cNvPicPr>
            <a:picLocks noChangeAspect="1"/>
          </p:cNvPicPr>
          <p:nvPr/>
        </p:nvPicPr>
        <p:blipFill>
          <a:blip r:embed="rId4"/>
          <a:stretch>
            <a:fillRect/>
          </a:stretch>
        </p:blipFill>
        <p:spPr>
          <a:xfrm>
            <a:off x="713232" y="3063240"/>
            <a:ext cx="201168" cy="201168"/>
          </a:xfrm>
          <a:prstGeom prst="rect">
            <a:avLst/>
          </a:prstGeom>
        </p:spPr>
      </p:pic>
      <p:sp>
        <p:nvSpPr>
          <p:cNvPr id="15" name="Text 10"/>
          <p:cNvSpPr txBox="1"/>
          <p:nvPr/>
        </p:nvSpPr>
        <p:spPr>
          <a:xfrm>
            <a:off x="1042416" y="3035808"/>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Publish projects</a:t>
            </a:r>
            <a:endParaRPr lang="en-US" sz="1200" dirty="0"/>
          </a:p>
        </p:txBody>
      </p:sp>
      <p:pic>
        <p:nvPicPr>
          <p:cNvPr id="16" name="Image 3" descr="preencoded.png">    </p:cNvPr>
          <p:cNvPicPr>
            <a:picLocks noChangeAspect="1"/>
          </p:cNvPicPr>
          <p:nvPr/>
        </p:nvPicPr>
        <p:blipFill>
          <a:blip r:embed="rId5"/>
          <a:stretch>
            <a:fillRect/>
          </a:stretch>
        </p:blipFill>
        <p:spPr>
          <a:xfrm>
            <a:off x="713232" y="3438144"/>
            <a:ext cx="201168" cy="201168"/>
          </a:xfrm>
          <a:prstGeom prst="rect">
            <a:avLst/>
          </a:prstGeom>
        </p:spPr>
      </p:pic>
      <p:sp>
        <p:nvSpPr>
          <p:cNvPr id="17" name="Text 11"/>
          <p:cNvSpPr txBox="1"/>
          <p:nvPr/>
        </p:nvSpPr>
        <p:spPr>
          <a:xfrm>
            <a:off x="1042416" y="3410712"/>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Find suitable freelancers</a:t>
            </a:r>
            <a:endParaRPr lang="en-US" sz="1200" dirty="0"/>
          </a:p>
        </p:txBody>
      </p:sp>
      <p:pic>
        <p:nvPicPr>
          <p:cNvPr id="18" name="Image 4" descr="preencoded.png">    </p:cNvPr>
          <p:cNvPicPr>
            <a:picLocks noChangeAspect="1"/>
          </p:cNvPicPr>
          <p:nvPr/>
        </p:nvPicPr>
        <p:blipFill>
          <a:blip r:embed="rId6"/>
          <a:stretch>
            <a:fillRect/>
          </a:stretch>
        </p:blipFill>
        <p:spPr>
          <a:xfrm>
            <a:off x="713232" y="3813048"/>
            <a:ext cx="201168" cy="201168"/>
          </a:xfrm>
          <a:prstGeom prst="rect">
            <a:avLst/>
          </a:prstGeom>
        </p:spPr>
      </p:pic>
      <p:sp>
        <p:nvSpPr>
          <p:cNvPr id="19" name="Text 12"/>
          <p:cNvSpPr txBox="1"/>
          <p:nvPr/>
        </p:nvSpPr>
        <p:spPr>
          <a:xfrm>
            <a:off x="1042416" y="3785616"/>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Review bids</a:t>
            </a:r>
            <a:endParaRPr lang="en-US" sz="1200" dirty="0"/>
          </a:p>
        </p:txBody>
      </p:sp>
      <p:pic>
        <p:nvPicPr>
          <p:cNvPr id="20" name="Image 5" descr="preencoded.png">    </p:cNvPr>
          <p:cNvPicPr>
            <a:picLocks noChangeAspect="1"/>
          </p:cNvPicPr>
          <p:nvPr/>
        </p:nvPicPr>
        <p:blipFill>
          <a:blip r:embed="rId7"/>
          <a:stretch>
            <a:fillRect/>
          </a:stretch>
        </p:blipFill>
        <p:spPr>
          <a:xfrm>
            <a:off x="713232" y="4187952"/>
            <a:ext cx="201168" cy="201168"/>
          </a:xfrm>
          <a:prstGeom prst="rect">
            <a:avLst/>
          </a:prstGeom>
        </p:spPr>
      </p:pic>
      <p:sp>
        <p:nvSpPr>
          <p:cNvPr id="21" name="Text 13"/>
          <p:cNvSpPr txBox="1"/>
          <p:nvPr/>
        </p:nvSpPr>
        <p:spPr>
          <a:xfrm>
            <a:off x="1042416" y="4160520"/>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Manage hiring</a:t>
            </a:r>
            <a:endParaRPr lang="en-US" sz="1200" dirty="0"/>
          </a:p>
        </p:txBody>
      </p:sp>
      <p:sp>
        <p:nvSpPr>
          <p:cNvPr id="22" name="Shape 14"/>
          <p:cNvSpPr/>
          <p:nvPr/>
        </p:nvSpPr>
        <p:spPr>
          <a:xfrm>
            <a:off x="4306824" y="1554480"/>
            <a:ext cx="3575304" cy="3017520"/>
          </a:xfrm>
          <a:prstGeom prst="roundRect">
            <a:avLst>
              <a:gd name="adj" fmla="val 424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3" name="Shape 15"/>
          <p:cNvSpPr/>
          <p:nvPr/>
        </p:nvSpPr>
        <p:spPr>
          <a:xfrm>
            <a:off x="4562856" y="1810512"/>
            <a:ext cx="621792" cy="621792"/>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24" name="Image 6" descr="preencoded.png">    </p:cNvPr>
          <p:cNvPicPr>
            <a:picLocks noChangeAspect="1"/>
          </p:cNvPicPr>
          <p:nvPr/>
        </p:nvPicPr>
        <p:blipFill>
          <a:blip r:embed="rId8"/>
          <a:stretch>
            <a:fillRect/>
          </a:stretch>
        </p:blipFill>
        <p:spPr>
          <a:xfrm>
            <a:off x="4718304" y="1965960"/>
            <a:ext cx="310896" cy="310896"/>
          </a:xfrm>
          <a:prstGeom prst="rect">
            <a:avLst/>
          </a:prstGeom>
        </p:spPr>
      </p:pic>
      <p:sp>
        <p:nvSpPr>
          <p:cNvPr id="25" name="Text 16"/>
          <p:cNvSpPr txBox="1"/>
          <p:nvPr/>
        </p:nvSpPr>
        <p:spPr>
          <a:xfrm>
            <a:off x="5312664" y="1810512"/>
            <a:ext cx="2478024" cy="621792"/>
          </a:xfrm>
          <a:prstGeom prst="rect">
            <a:avLst/>
          </a:prstGeom>
          <a:noFill/>
          <a:ln/>
        </p:spPr>
        <p:txBody>
          <a:bodyPr wrap="square" lIns="0" tIns="0" rIns="0" bIns="0" rtlCol="0" anchor="ctr"/>
          <a:lstStyle/>
          <a:p>
            <a:pPr indent="0" marL="0">
              <a:buNone/>
            </a:pPr>
            <a:r>
              <a:rPr lang="en-US" sz="1150" b="1" spc="100" kern="0" dirty="0">
                <a:solidFill>
                  <a:srgbClr val="F79330"/>
                </a:solidFill>
                <a:latin typeface="Poppins" pitchFamily="34" charset="0"/>
                <a:ea typeface="Poppins" pitchFamily="34" charset="-122"/>
                <a:cs typeface="Poppins" pitchFamily="34" charset="-120"/>
              </a:rPr>
              <a:t>FREELANCER PROBLEM</a:t>
            </a:r>
            <a:endParaRPr lang="en-US" sz="1150" dirty="0"/>
          </a:p>
        </p:txBody>
      </p:sp>
      <p:sp>
        <p:nvSpPr>
          <p:cNvPr id="26" name="Text 17"/>
          <p:cNvSpPr txBox="1"/>
          <p:nvPr/>
        </p:nvSpPr>
        <p:spPr>
          <a:xfrm>
            <a:off x="4562856" y="2606040"/>
            <a:ext cx="3118104" cy="274320"/>
          </a:xfrm>
          <a:prstGeom prst="rect">
            <a:avLst/>
          </a:prstGeom>
          <a:noFill/>
          <a:ln/>
        </p:spPr>
        <p:txBody>
          <a:bodyPr wrap="square" lIns="0" tIns="0" rIns="0" bIns="0" rtlCol="0" anchor="ctr"/>
          <a:lstStyle/>
          <a:p>
            <a:pPr indent="0" marL="0">
              <a:buNone/>
            </a:pPr>
            <a:r>
              <a:rPr lang="en-US" sz="1100" b="1" dirty="0">
                <a:solidFill>
                  <a:srgbClr val="0B1930"/>
                </a:solidFill>
                <a:latin typeface="Poppins" pitchFamily="34" charset="0"/>
                <a:ea typeface="Poppins" pitchFamily="34" charset="-122"/>
                <a:cs typeface="Poppins" pitchFamily="34" charset="-120"/>
              </a:rPr>
              <a:t>Freelancers need one platform to:</a:t>
            </a:r>
            <a:endParaRPr lang="en-US" sz="1100" dirty="0"/>
          </a:p>
        </p:txBody>
      </p:sp>
      <p:pic>
        <p:nvPicPr>
          <p:cNvPr id="27" name="Image 7" descr="preencoded.png">    </p:cNvPr>
          <p:cNvPicPr>
            <a:picLocks noChangeAspect="1"/>
          </p:cNvPicPr>
          <p:nvPr/>
        </p:nvPicPr>
        <p:blipFill>
          <a:blip r:embed="rId9"/>
          <a:stretch>
            <a:fillRect/>
          </a:stretch>
        </p:blipFill>
        <p:spPr>
          <a:xfrm>
            <a:off x="4562856" y="3063240"/>
            <a:ext cx="201168" cy="201168"/>
          </a:xfrm>
          <a:prstGeom prst="rect">
            <a:avLst/>
          </a:prstGeom>
        </p:spPr>
      </p:pic>
      <p:sp>
        <p:nvSpPr>
          <p:cNvPr id="28" name="Text 18"/>
          <p:cNvSpPr txBox="1"/>
          <p:nvPr/>
        </p:nvSpPr>
        <p:spPr>
          <a:xfrm>
            <a:off x="4892040" y="3035808"/>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Discover projects</a:t>
            </a:r>
            <a:endParaRPr lang="en-US" sz="1200" dirty="0"/>
          </a:p>
        </p:txBody>
      </p:sp>
      <p:pic>
        <p:nvPicPr>
          <p:cNvPr id="29" name="Image 8" descr="preencoded.png">    </p:cNvPr>
          <p:cNvPicPr>
            <a:picLocks noChangeAspect="1"/>
          </p:cNvPicPr>
          <p:nvPr/>
        </p:nvPicPr>
        <p:blipFill>
          <a:blip r:embed="rId10"/>
          <a:stretch>
            <a:fillRect/>
          </a:stretch>
        </p:blipFill>
        <p:spPr>
          <a:xfrm>
            <a:off x="4562856" y="3438144"/>
            <a:ext cx="201168" cy="201168"/>
          </a:xfrm>
          <a:prstGeom prst="rect">
            <a:avLst/>
          </a:prstGeom>
        </p:spPr>
      </p:pic>
      <p:sp>
        <p:nvSpPr>
          <p:cNvPr id="30" name="Text 19"/>
          <p:cNvSpPr txBox="1"/>
          <p:nvPr/>
        </p:nvSpPr>
        <p:spPr>
          <a:xfrm>
            <a:off x="4892040" y="3410712"/>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Submit bids</a:t>
            </a:r>
            <a:endParaRPr lang="en-US" sz="1200" dirty="0"/>
          </a:p>
        </p:txBody>
      </p:sp>
      <p:pic>
        <p:nvPicPr>
          <p:cNvPr id="31" name="Image 9" descr="preencoded.png">    </p:cNvPr>
          <p:cNvPicPr>
            <a:picLocks noChangeAspect="1"/>
          </p:cNvPicPr>
          <p:nvPr/>
        </p:nvPicPr>
        <p:blipFill>
          <a:blip r:embed="rId11"/>
          <a:stretch>
            <a:fillRect/>
          </a:stretch>
        </p:blipFill>
        <p:spPr>
          <a:xfrm>
            <a:off x="4562856" y="3813048"/>
            <a:ext cx="201168" cy="201168"/>
          </a:xfrm>
          <a:prstGeom prst="rect">
            <a:avLst/>
          </a:prstGeom>
        </p:spPr>
      </p:pic>
      <p:sp>
        <p:nvSpPr>
          <p:cNvPr id="32" name="Text 20"/>
          <p:cNvSpPr txBox="1"/>
          <p:nvPr/>
        </p:nvSpPr>
        <p:spPr>
          <a:xfrm>
            <a:off x="4892040" y="3785616"/>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Track opportunities</a:t>
            </a:r>
            <a:endParaRPr lang="en-US" sz="1200" dirty="0"/>
          </a:p>
        </p:txBody>
      </p:sp>
      <p:pic>
        <p:nvPicPr>
          <p:cNvPr id="33" name="Image 10" descr="preencoded.png">    </p:cNvPr>
          <p:cNvPicPr>
            <a:picLocks noChangeAspect="1"/>
          </p:cNvPicPr>
          <p:nvPr/>
        </p:nvPicPr>
        <p:blipFill>
          <a:blip r:embed="rId12"/>
          <a:stretch>
            <a:fillRect/>
          </a:stretch>
        </p:blipFill>
        <p:spPr>
          <a:xfrm>
            <a:off x="4562856" y="4187952"/>
            <a:ext cx="201168" cy="201168"/>
          </a:xfrm>
          <a:prstGeom prst="rect">
            <a:avLst/>
          </a:prstGeom>
        </p:spPr>
      </p:pic>
      <p:sp>
        <p:nvSpPr>
          <p:cNvPr id="34" name="Text 21"/>
          <p:cNvSpPr txBox="1"/>
          <p:nvPr/>
        </p:nvSpPr>
        <p:spPr>
          <a:xfrm>
            <a:off x="4892040" y="4160520"/>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Manage credits</a:t>
            </a:r>
            <a:endParaRPr lang="en-US" sz="1200" dirty="0"/>
          </a:p>
        </p:txBody>
      </p:sp>
      <p:sp>
        <p:nvSpPr>
          <p:cNvPr id="35" name="Shape 22"/>
          <p:cNvSpPr/>
          <p:nvPr/>
        </p:nvSpPr>
        <p:spPr>
          <a:xfrm>
            <a:off x="8156448" y="1554480"/>
            <a:ext cx="3575304" cy="3017520"/>
          </a:xfrm>
          <a:prstGeom prst="roundRect">
            <a:avLst>
              <a:gd name="adj" fmla="val 424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6" name="Shape 23"/>
          <p:cNvSpPr/>
          <p:nvPr/>
        </p:nvSpPr>
        <p:spPr>
          <a:xfrm>
            <a:off x="8412480" y="1810512"/>
            <a:ext cx="621792" cy="621792"/>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37" name="Image 11" descr="preencoded.png">    </p:cNvPr>
          <p:cNvPicPr>
            <a:picLocks noChangeAspect="1"/>
          </p:cNvPicPr>
          <p:nvPr/>
        </p:nvPicPr>
        <p:blipFill>
          <a:blip r:embed="rId13"/>
          <a:stretch>
            <a:fillRect/>
          </a:stretch>
        </p:blipFill>
        <p:spPr>
          <a:xfrm>
            <a:off x="8567928" y="1965960"/>
            <a:ext cx="310896" cy="310896"/>
          </a:xfrm>
          <a:prstGeom prst="rect">
            <a:avLst/>
          </a:prstGeom>
        </p:spPr>
      </p:pic>
      <p:sp>
        <p:nvSpPr>
          <p:cNvPr id="38" name="Text 24"/>
          <p:cNvSpPr txBox="1"/>
          <p:nvPr/>
        </p:nvSpPr>
        <p:spPr>
          <a:xfrm>
            <a:off x="9162288" y="1810512"/>
            <a:ext cx="2478024" cy="621792"/>
          </a:xfrm>
          <a:prstGeom prst="rect">
            <a:avLst/>
          </a:prstGeom>
          <a:noFill/>
          <a:ln/>
        </p:spPr>
        <p:txBody>
          <a:bodyPr wrap="square" lIns="0" tIns="0" rIns="0" bIns="0" rtlCol="0" anchor="ctr"/>
          <a:lstStyle/>
          <a:p>
            <a:pPr indent="0" marL="0">
              <a:buNone/>
            </a:pPr>
            <a:r>
              <a:rPr lang="en-US" sz="1150" b="1" spc="100" kern="0" dirty="0">
                <a:solidFill>
                  <a:srgbClr val="EF5B59"/>
                </a:solidFill>
                <a:latin typeface="Poppins" pitchFamily="34" charset="0"/>
                <a:ea typeface="Poppins" pitchFamily="34" charset="-122"/>
                <a:cs typeface="Poppins" pitchFamily="34" charset="-120"/>
              </a:rPr>
              <a:t>CURRENT CHALLENGE</a:t>
            </a:r>
            <a:endParaRPr lang="en-US" sz="1150" dirty="0"/>
          </a:p>
        </p:txBody>
      </p:sp>
      <p:sp>
        <p:nvSpPr>
          <p:cNvPr id="39" name="Text 25"/>
          <p:cNvSpPr txBox="1"/>
          <p:nvPr/>
        </p:nvSpPr>
        <p:spPr>
          <a:xfrm>
            <a:off x="8412480" y="2606040"/>
            <a:ext cx="3118104" cy="274320"/>
          </a:xfrm>
          <a:prstGeom prst="rect">
            <a:avLst/>
          </a:prstGeom>
          <a:noFill/>
          <a:ln/>
        </p:spPr>
        <p:txBody>
          <a:bodyPr wrap="square" lIns="0" tIns="0" rIns="0" bIns="0" rtlCol="0" anchor="ctr"/>
          <a:lstStyle/>
          <a:p>
            <a:pPr indent="0" marL="0">
              <a:buNone/>
            </a:pPr>
            <a:r>
              <a:rPr lang="en-US" sz="1100" b="1" dirty="0">
                <a:solidFill>
                  <a:srgbClr val="0B1930"/>
                </a:solidFill>
                <a:latin typeface="Poppins" pitchFamily="34" charset="0"/>
                <a:ea typeface="Poppins" pitchFamily="34" charset="-122"/>
                <a:cs typeface="Poppins" pitchFamily="34" charset="-120"/>
              </a:rPr>
              <a:t>Manual hiring workflows can make:</a:t>
            </a:r>
            <a:endParaRPr lang="en-US" sz="1100" dirty="0"/>
          </a:p>
        </p:txBody>
      </p:sp>
      <p:pic>
        <p:nvPicPr>
          <p:cNvPr id="40" name="Image 12" descr="preencoded.png">    </p:cNvPr>
          <p:cNvPicPr>
            <a:picLocks noChangeAspect="1"/>
          </p:cNvPicPr>
          <p:nvPr/>
        </p:nvPicPr>
        <p:blipFill>
          <a:blip r:embed="rId14"/>
          <a:stretch>
            <a:fillRect/>
          </a:stretch>
        </p:blipFill>
        <p:spPr>
          <a:xfrm>
            <a:off x="8412480" y="3063240"/>
            <a:ext cx="201168" cy="201168"/>
          </a:xfrm>
          <a:prstGeom prst="rect">
            <a:avLst/>
          </a:prstGeom>
        </p:spPr>
      </p:pic>
      <p:sp>
        <p:nvSpPr>
          <p:cNvPr id="41" name="Text 26"/>
          <p:cNvSpPr txBox="1"/>
          <p:nvPr/>
        </p:nvSpPr>
        <p:spPr>
          <a:xfrm>
            <a:off x="8741664" y="3035808"/>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Project tracking difficult</a:t>
            </a:r>
            <a:endParaRPr lang="en-US" sz="1200" dirty="0"/>
          </a:p>
        </p:txBody>
      </p:sp>
      <p:pic>
        <p:nvPicPr>
          <p:cNvPr id="42" name="Image 13" descr="preencoded.png">    </p:cNvPr>
          <p:cNvPicPr>
            <a:picLocks noChangeAspect="1"/>
          </p:cNvPicPr>
          <p:nvPr/>
        </p:nvPicPr>
        <p:blipFill>
          <a:blip r:embed="rId15"/>
          <a:stretch>
            <a:fillRect/>
          </a:stretch>
        </p:blipFill>
        <p:spPr>
          <a:xfrm>
            <a:off x="8412480" y="3438144"/>
            <a:ext cx="201168" cy="201168"/>
          </a:xfrm>
          <a:prstGeom prst="rect">
            <a:avLst/>
          </a:prstGeom>
        </p:spPr>
      </p:pic>
      <p:sp>
        <p:nvSpPr>
          <p:cNvPr id="43" name="Text 27"/>
          <p:cNvSpPr txBox="1"/>
          <p:nvPr/>
        </p:nvSpPr>
        <p:spPr>
          <a:xfrm>
            <a:off x="8741664" y="3410712"/>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Bid management difficult</a:t>
            </a:r>
            <a:endParaRPr lang="en-US" sz="1200" dirty="0"/>
          </a:p>
        </p:txBody>
      </p:sp>
      <p:pic>
        <p:nvPicPr>
          <p:cNvPr id="44" name="Image 14" descr="preencoded.png">    </p:cNvPr>
          <p:cNvPicPr>
            <a:picLocks noChangeAspect="1"/>
          </p:cNvPicPr>
          <p:nvPr/>
        </p:nvPicPr>
        <p:blipFill>
          <a:blip r:embed="rId16"/>
          <a:stretch>
            <a:fillRect/>
          </a:stretch>
        </p:blipFill>
        <p:spPr>
          <a:xfrm>
            <a:off x="8412480" y="3813048"/>
            <a:ext cx="201168" cy="201168"/>
          </a:xfrm>
          <a:prstGeom prst="rect">
            <a:avLst/>
          </a:prstGeom>
        </p:spPr>
      </p:pic>
      <p:sp>
        <p:nvSpPr>
          <p:cNvPr id="45" name="Text 28"/>
          <p:cNvSpPr txBox="1"/>
          <p:nvPr/>
        </p:nvSpPr>
        <p:spPr>
          <a:xfrm>
            <a:off x="8741664" y="3785616"/>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Communication fragmented</a:t>
            </a:r>
            <a:endParaRPr lang="en-US" sz="1200" dirty="0"/>
          </a:p>
        </p:txBody>
      </p:sp>
      <p:sp>
        <p:nvSpPr>
          <p:cNvPr id="46" name="Shape 29"/>
          <p:cNvSpPr/>
          <p:nvPr/>
        </p:nvSpPr>
        <p:spPr>
          <a:xfrm>
            <a:off x="457200" y="4800600"/>
            <a:ext cx="11274552" cy="1481328"/>
          </a:xfrm>
          <a:prstGeom prst="roundRect">
            <a:avLst>
              <a:gd name="adj" fmla="val 11111"/>
            </a:avLst>
          </a:prstGeom>
          <a:solidFill>
            <a:srgbClr val="0B1930"/>
          </a:solidFill>
          <a:ln w="9525">
            <a:solidFill>
              <a:srgbClr val="0B1930"/>
            </a:solidFill>
            <a:prstDash val="solid"/>
          </a:ln>
          <a:effectLst>
            <a:outerShdw sx="100000" sy="100000" kx="0" ky="0" algn="bl" rotWithShape="0" blurRad="152400" dist="38100" dir="5400000">
              <a:srgbClr val="0B1930">
                <a:alpha val="12000"/>
              </a:srgbClr>
            </a:outerShdw>
          </a:effectLst>
        </p:spPr>
      </p:sp>
      <p:sp>
        <p:nvSpPr>
          <p:cNvPr id="47" name="Shape 30"/>
          <p:cNvSpPr/>
          <p:nvPr/>
        </p:nvSpPr>
        <p:spPr>
          <a:xfrm>
            <a:off x="731520" y="4956048"/>
            <a:ext cx="329184" cy="329184"/>
          </a:xfrm>
          <a:prstGeom prst="ellipse">
            <a:avLst/>
          </a:prstGeom>
          <a:solidFill>
            <a:srgbClr val="12AEA4"/>
          </a:solidFill>
          <a:ln/>
        </p:spPr>
      </p:sp>
      <p:pic>
        <p:nvPicPr>
          <p:cNvPr id="48" name="Image 15" descr="preencoded.png">    </p:cNvPr>
          <p:cNvPicPr>
            <a:picLocks noChangeAspect="1"/>
          </p:cNvPicPr>
          <p:nvPr/>
        </p:nvPicPr>
        <p:blipFill>
          <a:blip r:embed="rId17"/>
          <a:stretch>
            <a:fillRect/>
          </a:stretch>
        </p:blipFill>
        <p:spPr>
          <a:xfrm>
            <a:off x="813816" y="5038344"/>
            <a:ext cx="164592" cy="164592"/>
          </a:xfrm>
          <a:prstGeom prst="rect">
            <a:avLst/>
          </a:prstGeom>
        </p:spPr>
      </p:pic>
      <p:sp>
        <p:nvSpPr>
          <p:cNvPr id="49" name="Text 31"/>
          <p:cNvSpPr txBox="1"/>
          <p:nvPr/>
        </p:nvSpPr>
        <p:spPr>
          <a:xfrm>
            <a:off x="1188720" y="4956048"/>
            <a:ext cx="3657600" cy="329184"/>
          </a:xfrm>
          <a:prstGeom prst="rect">
            <a:avLst/>
          </a:prstGeom>
          <a:noFill/>
          <a:ln/>
        </p:spPr>
        <p:txBody>
          <a:bodyPr wrap="square" lIns="0" tIns="0" rIns="0" bIns="0" rtlCol="0" anchor="ctr"/>
          <a:lstStyle/>
          <a:p>
            <a:pPr indent="0" marL="0">
              <a:buNone/>
            </a:pPr>
            <a:r>
              <a:rPr lang="en-US" sz="1150" b="1" spc="200" kern="0" dirty="0">
                <a:solidFill>
                  <a:srgbClr val="5EEAD4"/>
                </a:solidFill>
                <a:latin typeface="Poppins" pitchFamily="34" charset="0"/>
                <a:ea typeface="Poppins" pitchFamily="34" charset="-122"/>
                <a:cs typeface="Poppins" pitchFamily="34" charset="-120"/>
              </a:rPr>
              <a:t>ZENTORA SOLUTION</a:t>
            </a:r>
            <a:endParaRPr lang="en-US" sz="1150" dirty="0"/>
          </a:p>
        </p:txBody>
      </p:sp>
      <p:sp>
        <p:nvSpPr>
          <p:cNvPr id="50" name="Shape 32"/>
          <p:cNvSpPr/>
          <p:nvPr/>
        </p:nvSpPr>
        <p:spPr>
          <a:xfrm>
            <a:off x="685800" y="5440680"/>
            <a:ext cx="1828800" cy="713232"/>
          </a:xfrm>
          <a:prstGeom prst="roundRect">
            <a:avLst>
              <a:gd name="adj" fmla="val 17949"/>
            </a:avLst>
          </a:prstGeom>
          <a:solidFill>
            <a:srgbClr val="FFFFFF">
              <a:alpha val="10000"/>
            </a:srgbClr>
          </a:solidFill>
          <a:ln w="9525">
            <a:solidFill>
              <a:srgbClr val="FFFFFF">
                <a:alpha val="20000"/>
              </a:srgbClr>
            </a:solidFill>
            <a:prstDash val="solid"/>
          </a:ln>
        </p:spPr>
      </p:sp>
      <p:sp>
        <p:nvSpPr>
          <p:cNvPr id="51" name="Shape 33"/>
          <p:cNvSpPr/>
          <p:nvPr/>
        </p:nvSpPr>
        <p:spPr>
          <a:xfrm>
            <a:off x="813816" y="5568696"/>
            <a:ext cx="457200" cy="457200"/>
          </a:xfrm>
          <a:prstGeom prst="ellipse">
            <a:avLst/>
          </a:prstGeom>
          <a:solidFill>
            <a:srgbClr val="12AEA4"/>
          </a:solidFill>
          <a:ln/>
        </p:spPr>
      </p:sp>
      <p:pic>
        <p:nvPicPr>
          <p:cNvPr id="52" name="Image 16" descr="preencoded.png">    </p:cNvPr>
          <p:cNvPicPr>
            <a:picLocks noChangeAspect="1"/>
          </p:cNvPicPr>
          <p:nvPr/>
        </p:nvPicPr>
        <p:blipFill>
          <a:blip r:embed="rId18"/>
          <a:stretch>
            <a:fillRect/>
          </a:stretch>
        </p:blipFill>
        <p:spPr>
          <a:xfrm>
            <a:off x="928116" y="5682996"/>
            <a:ext cx="228600" cy="228600"/>
          </a:xfrm>
          <a:prstGeom prst="rect">
            <a:avLst/>
          </a:prstGeom>
        </p:spPr>
      </p:pic>
      <p:sp>
        <p:nvSpPr>
          <p:cNvPr id="53" name="Text 34"/>
          <p:cNvSpPr txBox="1"/>
          <p:nvPr/>
        </p:nvSpPr>
        <p:spPr>
          <a:xfrm>
            <a:off x="1344168" y="5440680"/>
            <a:ext cx="1143000" cy="713232"/>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Project</a:t>
            </a:r>
            <a:endParaRPr lang="en-US" sz="1100" dirty="0"/>
          </a:p>
        </p:txBody>
      </p:sp>
      <p:pic>
        <p:nvPicPr>
          <p:cNvPr id="54" name="Image 17" descr="preencoded.png">    </p:cNvPr>
          <p:cNvPicPr>
            <a:picLocks noChangeAspect="1"/>
          </p:cNvPicPr>
          <p:nvPr/>
        </p:nvPicPr>
        <p:blipFill>
          <a:blip r:embed="rId19"/>
          <a:stretch>
            <a:fillRect/>
          </a:stretch>
        </p:blipFill>
        <p:spPr>
          <a:xfrm>
            <a:off x="2615184" y="5669280"/>
            <a:ext cx="256032" cy="256032"/>
          </a:xfrm>
          <a:prstGeom prst="rect">
            <a:avLst/>
          </a:prstGeom>
        </p:spPr>
      </p:pic>
      <p:sp>
        <p:nvSpPr>
          <p:cNvPr id="55" name="Shape 35"/>
          <p:cNvSpPr/>
          <p:nvPr/>
        </p:nvSpPr>
        <p:spPr>
          <a:xfrm>
            <a:off x="2926080" y="5440680"/>
            <a:ext cx="1828800" cy="713232"/>
          </a:xfrm>
          <a:prstGeom prst="roundRect">
            <a:avLst>
              <a:gd name="adj" fmla="val 17949"/>
            </a:avLst>
          </a:prstGeom>
          <a:solidFill>
            <a:srgbClr val="FFFFFF">
              <a:alpha val="10000"/>
            </a:srgbClr>
          </a:solidFill>
          <a:ln w="9525">
            <a:solidFill>
              <a:srgbClr val="FFFFFF">
                <a:alpha val="20000"/>
              </a:srgbClr>
            </a:solidFill>
            <a:prstDash val="solid"/>
          </a:ln>
        </p:spPr>
      </p:sp>
      <p:sp>
        <p:nvSpPr>
          <p:cNvPr id="56" name="Shape 36"/>
          <p:cNvSpPr/>
          <p:nvPr/>
        </p:nvSpPr>
        <p:spPr>
          <a:xfrm>
            <a:off x="3054096" y="5568696"/>
            <a:ext cx="457200" cy="457200"/>
          </a:xfrm>
          <a:prstGeom prst="ellipse">
            <a:avLst/>
          </a:prstGeom>
          <a:solidFill>
            <a:srgbClr val="EF5B59"/>
          </a:solidFill>
          <a:ln/>
        </p:spPr>
      </p:sp>
      <p:pic>
        <p:nvPicPr>
          <p:cNvPr id="57" name="Image 18" descr="preencoded.png">    </p:cNvPr>
          <p:cNvPicPr>
            <a:picLocks noChangeAspect="1"/>
          </p:cNvPicPr>
          <p:nvPr/>
        </p:nvPicPr>
        <p:blipFill>
          <a:blip r:embed="rId20"/>
          <a:stretch>
            <a:fillRect/>
          </a:stretch>
        </p:blipFill>
        <p:spPr>
          <a:xfrm>
            <a:off x="3168396" y="5682996"/>
            <a:ext cx="228600" cy="228600"/>
          </a:xfrm>
          <a:prstGeom prst="rect">
            <a:avLst/>
          </a:prstGeom>
        </p:spPr>
      </p:pic>
      <p:sp>
        <p:nvSpPr>
          <p:cNvPr id="58" name="Text 37"/>
          <p:cNvSpPr txBox="1"/>
          <p:nvPr/>
        </p:nvSpPr>
        <p:spPr>
          <a:xfrm>
            <a:off x="3584448" y="5440680"/>
            <a:ext cx="1143000" cy="713232"/>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Bids</a:t>
            </a:r>
            <a:endParaRPr lang="en-US" sz="1100" dirty="0"/>
          </a:p>
        </p:txBody>
      </p:sp>
      <p:pic>
        <p:nvPicPr>
          <p:cNvPr id="59" name="Image 19" descr="preencoded.png">    </p:cNvPr>
          <p:cNvPicPr>
            <a:picLocks noChangeAspect="1"/>
          </p:cNvPicPr>
          <p:nvPr/>
        </p:nvPicPr>
        <p:blipFill>
          <a:blip r:embed="rId21"/>
          <a:stretch>
            <a:fillRect/>
          </a:stretch>
        </p:blipFill>
        <p:spPr>
          <a:xfrm>
            <a:off x="4855464" y="5669280"/>
            <a:ext cx="256032" cy="256032"/>
          </a:xfrm>
          <a:prstGeom prst="rect">
            <a:avLst/>
          </a:prstGeom>
        </p:spPr>
      </p:pic>
      <p:sp>
        <p:nvSpPr>
          <p:cNvPr id="60" name="Shape 38"/>
          <p:cNvSpPr/>
          <p:nvPr/>
        </p:nvSpPr>
        <p:spPr>
          <a:xfrm>
            <a:off x="5166360" y="5440680"/>
            <a:ext cx="1828800" cy="713232"/>
          </a:xfrm>
          <a:prstGeom prst="roundRect">
            <a:avLst>
              <a:gd name="adj" fmla="val 17949"/>
            </a:avLst>
          </a:prstGeom>
          <a:solidFill>
            <a:srgbClr val="FFFFFF">
              <a:alpha val="10000"/>
            </a:srgbClr>
          </a:solidFill>
          <a:ln w="9525">
            <a:solidFill>
              <a:srgbClr val="FFFFFF">
                <a:alpha val="20000"/>
              </a:srgbClr>
            </a:solidFill>
            <a:prstDash val="solid"/>
          </a:ln>
        </p:spPr>
      </p:sp>
      <p:sp>
        <p:nvSpPr>
          <p:cNvPr id="61" name="Shape 39"/>
          <p:cNvSpPr/>
          <p:nvPr/>
        </p:nvSpPr>
        <p:spPr>
          <a:xfrm>
            <a:off x="5294376" y="5568696"/>
            <a:ext cx="457200" cy="457200"/>
          </a:xfrm>
          <a:prstGeom prst="ellipse">
            <a:avLst/>
          </a:prstGeom>
          <a:solidFill>
            <a:srgbClr val="F79330"/>
          </a:solidFill>
          <a:ln/>
        </p:spPr>
      </p:sp>
      <p:pic>
        <p:nvPicPr>
          <p:cNvPr id="62" name="Image 20" descr="preencoded.png">    </p:cNvPr>
          <p:cNvPicPr>
            <a:picLocks noChangeAspect="1"/>
          </p:cNvPicPr>
          <p:nvPr/>
        </p:nvPicPr>
        <p:blipFill>
          <a:blip r:embed="rId22"/>
          <a:stretch>
            <a:fillRect/>
          </a:stretch>
        </p:blipFill>
        <p:spPr>
          <a:xfrm>
            <a:off x="5408676" y="5682996"/>
            <a:ext cx="228600" cy="228600"/>
          </a:xfrm>
          <a:prstGeom prst="rect">
            <a:avLst/>
          </a:prstGeom>
        </p:spPr>
      </p:pic>
      <p:sp>
        <p:nvSpPr>
          <p:cNvPr id="63" name="Text 40"/>
          <p:cNvSpPr txBox="1"/>
          <p:nvPr/>
        </p:nvSpPr>
        <p:spPr>
          <a:xfrm>
            <a:off x="5824728" y="5440680"/>
            <a:ext cx="1143000" cy="713232"/>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Review</a:t>
            </a:r>
            <a:endParaRPr lang="en-US" sz="1100" dirty="0"/>
          </a:p>
        </p:txBody>
      </p:sp>
      <p:pic>
        <p:nvPicPr>
          <p:cNvPr id="64" name="Image 21" descr="preencoded.png">    </p:cNvPr>
          <p:cNvPicPr>
            <a:picLocks noChangeAspect="1"/>
          </p:cNvPicPr>
          <p:nvPr/>
        </p:nvPicPr>
        <p:blipFill>
          <a:blip r:embed="rId23"/>
          <a:stretch>
            <a:fillRect/>
          </a:stretch>
        </p:blipFill>
        <p:spPr>
          <a:xfrm>
            <a:off x="7095744" y="5669280"/>
            <a:ext cx="256032" cy="256032"/>
          </a:xfrm>
          <a:prstGeom prst="rect">
            <a:avLst/>
          </a:prstGeom>
        </p:spPr>
      </p:pic>
      <p:sp>
        <p:nvSpPr>
          <p:cNvPr id="65" name="Shape 41"/>
          <p:cNvSpPr/>
          <p:nvPr/>
        </p:nvSpPr>
        <p:spPr>
          <a:xfrm>
            <a:off x="7406640" y="5440680"/>
            <a:ext cx="1828800" cy="713232"/>
          </a:xfrm>
          <a:prstGeom prst="roundRect">
            <a:avLst>
              <a:gd name="adj" fmla="val 17949"/>
            </a:avLst>
          </a:prstGeom>
          <a:solidFill>
            <a:srgbClr val="FFFFFF">
              <a:alpha val="10000"/>
            </a:srgbClr>
          </a:solidFill>
          <a:ln w="9525">
            <a:solidFill>
              <a:srgbClr val="FFFFFF">
                <a:alpha val="20000"/>
              </a:srgbClr>
            </a:solidFill>
            <a:prstDash val="solid"/>
          </a:ln>
        </p:spPr>
      </p:sp>
      <p:sp>
        <p:nvSpPr>
          <p:cNvPr id="66" name="Shape 42"/>
          <p:cNvSpPr/>
          <p:nvPr/>
        </p:nvSpPr>
        <p:spPr>
          <a:xfrm>
            <a:off x="7534656" y="5568696"/>
            <a:ext cx="457200" cy="457200"/>
          </a:xfrm>
          <a:prstGeom prst="ellipse">
            <a:avLst/>
          </a:prstGeom>
          <a:solidFill>
            <a:srgbClr val="12AEA4"/>
          </a:solidFill>
          <a:ln/>
        </p:spPr>
      </p:sp>
      <p:pic>
        <p:nvPicPr>
          <p:cNvPr id="67" name="Image 22" descr="preencoded.png">    </p:cNvPr>
          <p:cNvPicPr>
            <a:picLocks noChangeAspect="1"/>
          </p:cNvPicPr>
          <p:nvPr/>
        </p:nvPicPr>
        <p:blipFill>
          <a:blip r:embed="rId24"/>
          <a:stretch>
            <a:fillRect/>
          </a:stretch>
        </p:blipFill>
        <p:spPr>
          <a:xfrm>
            <a:off x="7648956" y="5682996"/>
            <a:ext cx="228600" cy="228600"/>
          </a:xfrm>
          <a:prstGeom prst="rect">
            <a:avLst/>
          </a:prstGeom>
        </p:spPr>
      </p:pic>
      <p:sp>
        <p:nvSpPr>
          <p:cNvPr id="68" name="Text 43"/>
          <p:cNvSpPr txBox="1"/>
          <p:nvPr/>
        </p:nvSpPr>
        <p:spPr>
          <a:xfrm>
            <a:off x="8065008" y="5440680"/>
            <a:ext cx="1143000" cy="713232"/>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Deal</a:t>
            </a:r>
            <a:endParaRPr lang="en-US" sz="1100" dirty="0"/>
          </a:p>
        </p:txBody>
      </p:sp>
      <p:pic>
        <p:nvPicPr>
          <p:cNvPr id="69" name="Image 23" descr="preencoded.png">    </p:cNvPr>
          <p:cNvPicPr>
            <a:picLocks noChangeAspect="1"/>
          </p:cNvPicPr>
          <p:nvPr/>
        </p:nvPicPr>
        <p:blipFill>
          <a:blip r:embed="rId25"/>
          <a:stretch>
            <a:fillRect/>
          </a:stretch>
        </p:blipFill>
        <p:spPr>
          <a:xfrm>
            <a:off x="9336024" y="5669280"/>
            <a:ext cx="256032" cy="256032"/>
          </a:xfrm>
          <a:prstGeom prst="rect">
            <a:avLst/>
          </a:prstGeom>
        </p:spPr>
      </p:pic>
      <p:sp>
        <p:nvSpPr>
          <p:cNvPr id="70" name="Shape 44"/>
          <p:cNvSpPr/>
          <p:nvPr/>
        </p:nvSpPr>
        <p:spPr>
          <a:xfrm>
            <a:off x="9646920" y="5440680"/>
            <a:ext cx="1828800" cy="713232"/>
          </a:xfrm>
          <a:prstGeom prst="roundRect">
            <a:avLst>
              <a:gd name="adj" fmla="val 17949"/>
            </a:avLst>
          </a:prstGeom>
          <a:solidFill>
            <a:srgbClr val="FFFFFF">
              <a:alpha val="10000"/>
            </a:srgbClr>
          </a:solidFill>
          <a:ln w="9525">
            <a:solidFill>
              <a:srgbClr val="FFFFFF">
                <a:alpha val="20000"/>
              </a:srgbClr>
            </a:solidFill>
            <a:prstDash val="solid"/>
          </a:ln>
        </p:spPr>
      </p:sp>
      <p:sp>
        <p:nvSpPr>
          <p:cNvPr id="71" name="Shape 45"/>
          <p:cNvSpPr/>
          <p:nvPr/>
        </p:nvSpPr>
        <p:spPr>
          <a:xfrm>
            <a:off x="9774936" y="5568696"/>
            <a:ext cx="457200" cy="457200"/>
          </a:xfrm>
          <a:prstGeom prst="ellipse">
            <a:avLst/>
          </a:prstGeom>
          <a:solidFill>
            <a:srgbClr val="EF5B59"/>
          </a:solidFill>
          <a:ln/>
        </p:spPr>
      </p:sp>
      <p:pic>
        <p:nvPicPr>
          <p:cNvPr id="72" name="Image 24" descr="preencoded.png">    </p:cNvPr>
          <p:cNvPicPr>
            <a:picLocks noChangeAspect="1"/>
          </p:cNvPicPr>
          <p:nvPr/>
        </p:nvPicPr>
        <p:blipFill>
          <a:blip r:embed="rId26"/>
          <a:stretch>
            <a:fillRect/>
          </a:stretch>
        </p:blipFill>
        <p:spPr>
          <a:xfrm>
            <a:off x="9889236" y="5682996"/>
            <a:ext cx="228600" cy="228600"/>
          </a:xfrm>
          <a:prstGeom prst="rect">
            <a:avLst/>
          </a:prstGeom>
        </p:spPr>
      </p:pic>
      <p:sp>
        <p:nvSpPr>
          <p:cNvPr id="73" name="Text 46"/>
          <p:cNvSpPr txBox="1"/>
          <p:nvPr/>
        </p:nvSpPr>
        <p:spPr>
          <a:xfrm>
            <a:off x="10305288" y="5440680"/>
            <a:ext cx="1143000" cy="713232"/>
          </a:xfrm>
          <a:prstGeom prst="rect">
            <a:avLst/>
          </a:prstGeom>
          <a:noFill/>
          <a:ln/>
        </p:spPr>
        <p:txBody>
          <a:bodyPr wrap="square" lIns="0" tIns="0" rIns="0" bIns="0" rtlCol="0" anchor="ctr"/>
          <a:lstStyle/>
          <a:p>
            <a:pPr indent="0" marL="0">
              <a:buNone/>
            </a:pPr>
            <a:r>
              <a:rPr lang="en-US" sz="1100" b="1" dirty="0">
                <a:solidFill>
                  <a:srgbClr val="FFFFFF"/>
                </a:solidFill>
                <a:latin typeface="Poppins" pitchFamily="34" charset="0"/>
                <a:ea typeface="Poppins" pitchFamily="34" charset="-122"/>
                <a:cs typeface="Poppins" pitchFamily="34" charset="-120"/>
              </a:rPr>
              <a:t>Management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PROJECT OBJECTIVES</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3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03</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Project Objectives</a:t>
            </a:r>
            <a:endParaRPr lang="en-US" sz="3000" dirty="0"/>
          </a:p>
        </p:txBody>
      </p:sp>
      <p:sp>
        <p:nvSpPr>
          <p:cNvPr id="9" name="Shape 6"/>
          <p:cNvSpPr/>
          <p:nvPr/>
        </p:nvSpPr>
        <p:spPr>
          <a:xfrm>
            <a:off x="457200" y="1554480"/>
            <a:ext cx="3575304" cy="2240280"/>
          </a:xfrm>
          <a:prstGeom prst="roundRect">
            <a:avLst>
              <a:gd name="adj" fmla="val 5714"/>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Text 7"/>
          <p:cNvSpPr txBox="1"/>
          <p:nvPr/>
        </p:nvSpPr>
        <p:spPr>
          <a:xfrm>
            <a:off x="2843784" y="1691640"/>
            <a:ext cx="1005840" cy="685800"/>
          </a:xfrm>
          <a:prstGeom prst="rect">
            <a:avLst/>
          </a:prstGeom>
          <a:noFill/>
          <a:ln/>
        </p:spPr>
        <p:txBody>
          <a:bodyPr wrap="square" lIns="0" tIns="0" rIns="0" bIns="0" rtlCol="0" anchor="ctr"/>
          <a:lstStyle/>
          <a:p>
            <a:pPr algn="r" indent="0" marL="0">
              <a:buNone/>
            </a:pPr>
            <a:r>
              <a:rPr lang="en-US" sz="3600" b="1" dirty="0">
                <a:solidFill>
                  <a:srgbClr val="A9E3DE"/>
                </a:solidFill>
                <a:latin typeface="Poppins" pitchFamily="34" charset="0"/>
                <a:ea typeface="Poppins" pitchFamily="34" charset="-122"/>
                <a:cs typeface="Poppins" pitchFamily="34" charset="-120"/>
              </a:rPr>
              <a:t>01</a:t>
            </a:r>
            <a:endParaRPr lang="en-US" sz="3600" dirty="0"/>
          </a:p>
        </p:txBody>
      </p:sp>
      <p:sp>
        <p:nvSpPr>
          <p:cNvPr id="11" name="Shape 8"/>
          <p:cNvSpPr/>
          <p:nvPr/>
        </p:nvSpPr>
        <p:spPr>
          <a:xfrm>
            <a:off x="731520" y="1828800"/>
            <a:ext cx="713232" cy="713232"/>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12" name="Image 1" descr="preencoded.png">    </p:cNvPr>
          <p:cNvPicPr>
            <a:picLocks noChangeAspect="1"/>
          </p:cNvPicPr>
          <p:nvPr/>
        </p:nvPicPr>
        <p:blipFill>
          <a:blip r:embed="rId3"/>
          <a:stretch>
            <a:fillRect/>
          </a:stretch>
        </p:blipFill>
        <p:spPr>
          <a:xfrm>
            <a:off x="916960" y="2014240"/>
            <a:ext cx="342351" cy="342351"/>
          </a:xfrm>
          <a:prstGeom prst="rect">
            <a:avLst/>
          </a:prstGeom>
        </p:spPr>
      </p:pic>
      <p:sp>
        <p:nvSpPr>
          <p:cNvPr id="13" name="Text 9"/>
          <p:cNvSpPr txBox="1"/>
          <p:nvPr/>
        </p:nvSpPr>
        <p:spPr>
          <a:xfrm>
            <a:off x="731520" y="2743200"/>
            <a:ext cx="3118104" cy="365760"/>
          </a:xfrm>
          <a:prstGeom prst="rect">
            <a:avLst/>
          </a:prstGeom>
          <a:noFill/>
          <a:ln/>
        </p:spPr>
        <p:txBody>
          <a:bodyPr wrap="square" lIns="0" tIns="0" rIns="0" bIns="0" rtlCol="0" anchor="ctr"/>
          <a:lstStyle/>
          <a:p>
            <a:pPr indent="0" marL="0">
              <a:buNone/>
            </a:pPr>
            <a:r>
              <a:rPr lang="en-US" sz="1550" b="1" dirty="0">
                <a:solidFill>
                  <a:srgbClr val="0B1930"/>
                </a:solidFill>
                <a:latin typeface="Poppins" pitchFamily="34" charset="0"/>
                <a:ea typeface="Poppins" pitchFamily="34" charset="-122"/>
                <a:cs typeface="Poppins" pitchFamily="34" charset="-120"/>
              </a:rPr>
              <a:t>Role-Based Marketplace</a:t>
            </a:r>
            <a:endParaRPr lang="en-US" sz="1550" dirty="0"/>
          </a:p>
        </p:txBody>
      </p:sp>
      <p:sp>
        <p:nvSpPr>
          <p:cNvPr id="14" name="Text 10"/>
          <p:cNvSpPr txBox="1"/>
          <p:nvPr/>
        </p:nvSpPr>
        <p:spPr>
          <a:xfrm>
            <a:off x="731520" y="3145536"/>
            <a:ext cx="3072384" cy="566928"/>
          </a:xfrm>
          <a:prstGeom prst="rect">
            <a:avLst/>
          </a:prstGeom>
          <a:noFill/>
          <a:ln/>
        </p:spPr>
        <p:txBody>
          <a:bodyPr wrap="square" lIns="0" tIns="0" rIns="0" bIns="0" rtlCol="0" anchor="t"/>
          <a:lstStyle/>
          <a:p>
            <a:pPr indent="0" marL="0">
              <a:buNone/>
            </a:pPr>
            <a:r>
              <a:rPr lang="en-US" sz="1200" dirty="0">
                <a:solidFill>
                  <a:srgbClr val="64748B"/>
                </a:solidFill>
                <a:latin typeface="Poppins" pitchFamily="34" charset="0"/>
                <a:ea typeface="Poppins" pitchFamily="34" charset="-122"/>
                <a:cs typeface="Poppins" pitchFamily="34" charset="-120"/>
              </a:rPr>
              <a:t>Separate workflows for Client, Freelancer and Admin.</a:t>
            </a:r>
            <a:endParaRPr lang="en-US" sz="1200" dirty="0"/>
          </a:p>
        </p:txBody>
      </p:sp>
      <p:sp>
        <p:nvSpPr>
          <p:cNvPr id="15" name="Shape 11"/>
          <p:cNvSpPr/>
          <p:nvPr/>
        </p:nvSpPr>
        <p:spPr>
          <a:xfrm>
            <a:off x="4306824" y="1554480"/>
            <a:ext cx="3575304" cy="2240280"/>
          </a:xfrm>
          <a:prstGeom prst="roundRect">
            <a:avLst>
              <a:gd name="adj" fmla="val 5714"/>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6" name="Text 12"/>
          <p:cNvSpPr txBox="1"/>
          <p:nvPr/>
        </p:nvSpPr>
        <p:spPr>
          <a:xfrm>
            <a:off x="6693408" y="1691640"/>
            <a:ext cx="1005840" cy="685800"/>
          </a:xfrm>
          <a:prstGeom prst="rect">
            <a:avLst/>
          </a:prstGeom>
          <a:noFill/>
          <a:ln/>
        </p:spPr>
        <p:txBody>
          <a:bodyPr wrap="square" lIns="0" tIns="0" rIns="0" bIns="0" rtlCol="0" anchor="ctr"/>
          <a:lstStyle/>
          <a:p>
            <a:pPr algn="r" indent="0" marL="0">
              <a:buNone/>
            </a:pPr>
            <a:r>
              <a:rPr lang="en-US" sz="3600" b="1" dirty="0">
                <a:solidFill>
                  <a:srgbClr val="F8BDBC"/>
                </a:solidFill>
                <a:latin typeface="Poppins" pitchFamily="34" charset="0"/>
                <a:ea typeface="Poppins" pitchFamily="34" charset="-122"/>
                <a:cs typeface="Poppins" pitchFamily="34" charset="-120"/>
              </a:rPr>
              <a:t>02</a:t>
            </a:r>
            <a:endParaRPr lang="en-US" sz="3600" dirty="0"/>
          </a:p>
        </p:txBody>
      </p:sp>
      <p:sp>
        <p:nvSpPr>
          <p:cNvPr id="17" name="Shape 13"/>
          <p:cNvSpPr/>
          <p:nvPr/>
        </p:nvSpPr>
        <p:spPr>
          <a:xfrm>
            <a:off x="4581144" y="1828800"/>
            <a:ext cx="713232" cy="713232"/>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18" name="Image 2" descr="preencoded.png">    </p:cNvPr>
          <p:cNvPicPr>
            <a:picLocks noChangeAspect="1"/>
          </p:cNvPicPr>
          <p:nvPr/>
        </p:nvPicPr>
        <p:blipFill>
          <a:blip r:embed="rId4"/>
          <a:stretch>
            <a:fillRect/>
          </a:stretch>
        </p:blipFill>
        <p:spPr>
          <a:xfrm>
            <a:off x="4766584" y="2014240"/>
            <a:ext cx="342351" cy="342351"/>
          </a:xfrm>
          <a:prstGeom prst="rect">
            <a:avLst/>
          </a:prstGeom>
        </p:spPr>
      </p:pic>
      <p:sp>
        <p:nvSpPr>
          <p:cNvPr id="19" name="Text 14"/>
          <p:cNvSpPr txBox="1"/>
          <p:nvPr/>
        </p:nvSpPr>
        <p:spPr>
          <a:xfrm>
            <a:off x="4581144" y="2743200"/>
            <a:ext cx="3118104" cy="365760"/>
          </a:xfrm>
          <a:prstGeom prst="rect">
            <a:avLst/>
          </a:prstGeom>
          <a:noFill/>
          <a:ln/>
        </p:spPr>
        <p:txBody>
          <a:bodyPr wrap="square" lIns="0" tIns="0" rIns="0" bIns="0" rtlCol="0" anchor="ctr"/>
          <a:lstStyle/>
          <a:p>
            <a:pPr indent="0" marL="0">
              <a:buNone/>
            </a:pPr>
            <a:r>
              <a:rPr lang="en-US" sz="1550" b="1" dirty="0">
                <a:solidFill>
                  <a:srgbClr val="0B1930"/>
                </a:solidFill>
                <a:latin typeface="Poppins" pitchFamily="34" charset="0"/>
                <a:ea typeface="Poppins" pitchFamily="34" charset="-122"/>
                <a:cs typeface="Poppins" pitchFamily="34" charset="-120"/>
              </a:rPr>
              <a:t>Project Management</a:t>
            </a:r>
            <a:endParaRPr lang="en-US" sz="1550" dirty="0"/>
          </a:p>
        </p:txBody>
      </p:sp>
      <p:sp>
        <p:nvSpPr>
          <p:cNvPr id="20" name="Text 15"/>
          <p:cNvSpPr txBox="1"/>
          <p:nvPr/>
        </p:nvSpPr>
        <p:spPr>
          <a:xfrm>
            <a:off x="4581144" y="3145536"/>
            <a:ext cx="3072384" cy="566928"/>
          </a:xfrm>
          <a:prstGeom prst="rect">
            <a:avLst/>
          </a:prstGeom>
          <a:noFill/>
          <a:ln/>
        </p:spPr>
        <p:txBody>
          <a:bodyPr wrap="square" lIns="0" tIns="0" rIns="0" bIns="0" rtlCol="0" anchor="t"/>
          <a:lstStyle/>
          <a:p>
            <a:pPr indent="0" marL="0">
              <a:buNone/>
            </a:pPr>
            <a:r>
              <a:rPr lang="en-US" sz="1200" dirty="0">
                <a:solidFill>
                  <a:srgbClr val="64748B"/>
                </a:solidFill>
                <a:latin typeface="Poppins" pitchFamily="34" charset="0"/>
                <a:ea typeface="Poppins" pitchFamily="34" charset="-122"/>
                <a:cs typeface="Poppins" pitchFamily="34" charset="-120"/>
              </a:rPr>
              <a:t>Clients can create and manage projects.</a:t>
            </a:r>
            <a:endParaRPr lang="en-US" sz="1200" dirty="0"/>
          </a:p>
        </p:txBody>
      </p:sp>
      <p:sp>
        <p:nvSpPr>
          <p:cNvPr id="21" name="Shape 16"/>
          <p:cNvSpPr/>
          <p:nvPr/>
        </p:nvSpPr>
        <p:spPr>
          <a:xfrm>
            <a:off x="8156448" y="1554480"/>
            <a:ext cx="3575304" cy="2240280"/>
          </a:xfrm>
          <a:prstGeom prst="roundRect">
            <a:avLst>
              <a:gd name="adj" fmla="val 5714"/>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2" name="Text 17"/>
          <p:cNvSpPr txBox="1"/>
          <p:nvPr/>
        </p:nvSpPr>
        <p:spPr>
          <a:xfrm>
            <a:off x="10543032" y="1691640"/>
            <a:ext cx="1005840" cy="685800"/>
          </a:xfrm>
          <a:prstGeom prst="rect">
            <a:avLst/>
          </a:prstGeom>
          <a:noFill/>
          <a:ln/>
        </p:spPr>
        <p:txBody>
          <a:bodyPr wrap="square" lIns="0" tIns="0" rIns="0" bIns="0" rtlCol="0" anchor="ctr"/>
          <a:lstStyle/>
          <a:p>
            <a:pPr algn="r" indent="0" marL="0">
              <a:buNone/>
            </a:pPr>
            <a:r>
              <a:rPr lang="en-US" sz="3600" b="1" dirty="0">
                <a:solidFill>
                  <a:srgbClr val="FBD3A6"/>
                </a:solidFill>
                <a:latin typeface="Poppins" pitchFamily="34" charset="0"/>
                <a:ea typeface="Poppins" pitchFamily="34" charset="-122"/>
                <a:cs typeface="Poppins" pitchFamily="34" charset="-120"/>
              </a:rPr>
              <a:t>03</a:t>
            </a:r>
            <a:endParaRPr lang="en-US" sz="3600" dirty="0"/>
          </a:p>
        </p:txBody>
      </p:sp>
      <p:sp>
        <p:nvSpPr>
          <p:cNvPr id="23" name="Shape 18"/>
          <p:cNvSpPr/>
          <p:nvPr/>
        </p:nvSpPr>
        <p:spPr>
          <a:xfrm>
            <a:off x="8430768" y="1828800"/>
            <a:ext cx="713232" cy="713232"/>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24" name="Image 3" descr="preencoded.png">    </p:cNvPr>
          <p:cNvPicPr>
            <a:picLocks noChangeAspect="1"/>
          </p:cNvPicPr>
          <p:nvPr/>
        </p:nvPicPr>
        <p:blipFill>
          <a:blip r:embed="rId5"/>
          <a:stretch>
            <a:fillRect/>
          </a:stretch>
        </p:blipFill>
        <p:spPr>
          <a:xfrm>
            <a:off x="8616208" y="2014240"/>
            <a:ext cx="342351" cy="342351"/>
          </a:xfrm>
          <a:prstGeom prst="rect">
            <a:avLst/>
          </a:prstGeom>
        </p:spPr>
      </p:pic>
      <p:sp>
        <p:nvSpPr>
          <p:cNvPr id="25" name="Text 19"/>
          <p:cNvSpPr txBox="1"/>
          <p:nvPr/>
        </p:nvSpPr>
        <p:spPr>
          <a:xfrm>
            <a:off x="8430768" y="2743200"/>
            <a:ext cx="3118104" cy="365760"/>
          </a:xfrm>
          <a:prstGeom prst="rect">
            <a:avLst/>
          </a:prstGeom>
          <a:noFill/>
          <a:ln/>
        </p:spPr>
        <p:txBody>
          <a:bodyPr wrap="square" lIns="0" tIns="0" rIns="0" bIns="0" rtlCol="0" anchor="ctr"/>
          <a:lstStyle/>
          <a:p>
            <a:pPr indent="0" marL="0">
              <a:buNone/>
            </a:pPr>
            <a:r>
              <a:rPr lang="en-US" sz="1550" b="1" dirty="0">
                <a:solidFill>
                  <a:srgbClr val="0B1930"/>
                </a:solidFill>
                <a:latin typeface="Poppins" pitchFamily="34" charset="0"/>
                <a:ea typeface="Poppins" pitchFamily="34" charset="-122"/>
                <a:cs typeface="Poppins" pitchFamily="34" charset="-120"/>
              </a:rPr>
              <a:t>Freelancer Bidding</a:t>
            </a:r>
            <a:endParaRPr lang="en-US" sz="1550" dirty="0"/>
          </a:p>
        </p:txBody>
      </p:sp>
      <p:sp>
        <p:nvSpPr>
          <p:cNvPr id="26" name="Text 20"/>
          <p:cNvSpPr txBox="1"/>
          <p:nvPr/>
        </p:nvSpPr>
        <p:spPr>
          <a:xfrm>
            <a:off x="8430768" y="3145536"/>
            <a:ext cx="3072384" cy="566928"/>
          </a:xfrm>
          <a:prstGeom prst="rect">
            <a:avLst/>
          </a:prstGeom>
          <a:noFill/>
          <a:ln/>
        </p:spPr>
        <p:txBody>
          <a:bodyPr wrap="square" lIns="0" tIns="0" rIns="0" bIns="0" rtlCol="0" anchor="t"/>
          <a:lstStyle/>
          <a:p>
            <a:pPr indent="0" marL="0">
              <a:buNone/>
            </a:pPr>
            <a:r>
              <a:rPr lang="en-US" sz="1200" dirty="0">
                <a:solidFill>
                  <a:srgbClr val="64748B"/>
                </a:solidFill>
                <a:latin typeface="Poppins" pitchFamily="34" charset="0"/>
                <a:ea typeface="Poppins" pitchFamily="34" charset="-122"/>
                <a:cs typeface="Poppins" pitchFamily="34" charset="-120"/>
              </a:rPr>
              <a:t>Freelancers can browse projects and submit bids.</a:t>
            </a:r>
            <a:endParaRPr lang="en-US" sz="1200" dirty="0"/>
          </a:p>
        </p:txBody>
      </p:sp>
      <p:sp>
        <p:nvSpPr>
          <p:cNvPr id="27" name="Shape 21"/>
          <p:cNvSpPr/>
          <p:nvPr/>
        </p:nvSpPr>
        <p:spPr>
          <a:xfrm>
            <a:off x="457200" y="4069080"/>
            <a:ext cx="3575304" cy="2240280"/>
          </a:xfrm>
          <a:prstGeom prst="roundRect">
            <a:avLst>
              <a:gd name="adj" fmla="val 5714"/>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8" name="Text 22"/>
          <p:cNvSpPr txBox="1"/>
          <p:nvPr/>
        </p:nvSpPr>
        <p:spPr>
          <a:xfrm>
            <a:off x="2843784" y="4206240"/>
            <a:ext cx="1005840" cy="685800"/>
          </a:xfrm>
          <a:prstGeom prst="rect">
            <a:avLst/>
          </a:prstGeom>
          <a:noFill/>
          <a:ln/>
        </p:spPr>
        <p:txBody>
          <a:bodyPr wrap="square" lIns="0" tIns="0" rIns="0" bIns="0" rtlCol="0" anchor="ctr"/>
          <a:lstStyle/>
          <a:p>
            <a:pPr algn="r" indent="0" marL="0">
              <a:buNone/>
            </a:pPr>
            <a:r>
              <a:rPr lang="en-US" sz="3600" b="1" dirty="0">
                <a:solidFill>
                  <a:srgbClr val="B8C2D6"/>
                </a:solidFill>
                <a:latin typeface="Poppins" pitchFamily="34" charset="0"/>
                <a:ea typeface="Poppins" pitchFamily="34" charset="-122"/>
                <a:cs typeface="Poppins" pitchFamily="34" charset="-120"/>
              </a:rPr>
              <a:t>04</a:t>
            </a:r>
            <a:endParaRPr lang="en-US" sz="3600" dirty="0"/>
          </a:p>
        </p:txBody>
      </p:sp>
      <p:sp>
        <p:nvSpPr>
          <p:cNvPr id="29" name="Shape 23"/>
          <p:cNvSpPr/>
          <p:nvPr/>
        </p:nvSpPr>
        <p:spPr>
          <a:xfrm>
            <a:off x="731520" y="4343400"/>
            <a:ext cx="713232" cy="713232"/>
          </a:xfrm>
          <a:prstGeom prst="ellipse">
            <a:avLst/>
          </a:prstGeom>
          <a:solidFill>
            <a:srgbClr val="0B1930"/>
          </a:solidFill>
          <a:ln/>
          <a:effectLst>
            <a:outerShdw sx="100000" sy="100000" kx="0" ky="0" algn="bl" rotWithShape="0" blurRad="152400" dist="38100" dir="5400000">
              <a:srgbClr val="0B1930">
                <a:alpha val="12000"/>
              </a:srgbClr>
            </a:outerShdw>
          </a:effectLst>
        </p:spPr>
      </p:sp>
      <p:pic>
        <p:nvPicPr>
          <p:cNvPr id="30" name="Image 4" descr="preencoded.png">    </p:cNvPr>
          <p:cNvPicPr>
            <a:picLocks noChangeAspect="1"/>
          </p:cNvPicPr>
          <p:nvPr/>
        </p:nvPicPr>
        <p:blipFill>
          <a:blip r:embed="rId6"/>
          <a:stretch>
            <a:fillRect/>
          </a:stretch>
        </p:blipFill>
        <p:spPr>
          <a:xfrm>
            <a:off x="916960" y="4528840"/>
            <a:ext cx="342351" cy="342351"/>
          </a:xfrm>
          <a:prstGeom prst="rect">
            <a:avLst/>
          </a:prstGeom>
        </p:spPr>
      </p:pic>
      <p:sp>
        <p:nvSpPr>
          <p:cNvPr id="31" name="Text 24"/>
          <p:cNvSpPr txBox="1"/>
          <p:nvPr/>
        </p:nvSpPr>
        <p:spPr>
          <a:xfrm>
            <a:off x="731520" y="5257800"/>
            <a:ext cx="3118104" cy="365760"/>
          </a:xfrm>
          <a:prstGeom prst="rect">
            <a:avLst/>
          </a:prstGeom>
          <a:noFill/>
          <a:ln/>
        </p:spPr>
        <p:txBody>
          <a:bodyPr wrap="square" lIns="0" tIns="0" rIns="0" bIns="0" rtlCol="0" anchor="ctr"/>
          <a:lstStyle/>
          <a:p>
            <a:pPr indent="0" marL="0">
              <a:buNone/>
            </a:pPr>
            <a:r>
              <a:rPr lang="en-US" sz="1550" b="1" dirty="0">
                <a:solidFill>
                  <a:srgbClr val="0B1930"/>
                </a:solidFill>
                <a:latin typeface="Poppins" pitchFamily="34" charset="0"/>
                <a:ea typeface="Poppins" pitchFamily="34" charset="-122"/>
                <a:cs typeface="Poppins" pitchFamily="34" charset="-120"/>
              </a:rPr>
              <a:t>Admin Management</a:t>
            </a:r>
            <a:endParaRPr lang="en-US" sz="1550" dirty="0"/>
          </a:p>
        </p:txBody>
      </p:sp>
      <p:sp>
        <p:nvSpPr>
          <p:cNvPr id="32" name="Text 25"/>
          <p:cNvSpPr txBox="1"/>
          <p:nvPr/>
        </p:nvSpPr>
        <p:spPr>
          <a:xfrm>
            <a:off x="731520" y="5660136"/>
            <a:ext cx="3072384" cy="566928"/>
          </a:xfrm>
          <a:prstGeom prst="rect">
            <a:avLst/>
          </a:prstGeom>
          <a:noFill/>
          <a:ln/>
        </p:spPr>
        <p:txBody>
          <a:bodyPr wrap="square" lIns="0" tIns="0" rIns="0" bIns="0" rtlCol="0" anchor="t"/>
          <a:lstStyle/>
          <a:p>
            <a:pPr indent="0" marL="0">
              <a:buNone/>
            </a:pPr>
            <a:r>
              <a:rPr lang="en-US" sz="1200" dirty="0">
                <a:solidFill>
                  <a:srgbClr val="64748B"/>
                </a:solidFill>
                <a:latin typeface="Poppins" pitchFamily="34" charset="0"/>
                <a:ea typeface="Poppins" pitchFamily="34" charset="-122"/>
                <a:cs typeface="Poppins" pitchFamily="34" charset="-120"/>
              </a:rPr>
              <a:t>Admins can manage platform-level data.</a:t>
            </a:r>
            <a:endParaRPr lang="en-US" sz="1200" dirty="0"/>
          </a:p>
        </p:txBody>
      </p:sp>
      <p:sp>
        <p:nvSpPr>
          <p:cNvPr id="33" name="Shape 26"/>
          <p:cNvSpPr/>
          <p:nvPr/>
        </p:nvSpPr>
        <p:spPr>
          <a:xfrm>
            <a:off x="4306824" y="4069080"/>
            <a:ext cx="3575304" cy="2240280"/>
          </a:xfrm>
          <a:prstGeom prst="roundRect">
            <a:avLst>
              <a:gd name="adj" fmla="val 5714"/>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4" name="Text 27"/>
          <p:cNvSpPr txBox="1"/>
          <p:nvPr/>
        </p:nvSpPr>
        <p:spPr>
          <a:xfrm>
            <a:off x="6693408" y="4206240"/>
            <a:ext cx="1005840" cy="685800"/>
          </a:xfrm>
          <a:prstGeom prst="rect">
            <a:avLst/>
          </a:prstGeom>
          <a:noFill/>
          <a:ln/>
        </p:spPr>
        <p:txBody>
          <a:bodyPr wrap="square" lIns="0" tIns="0" rIns="0" bIns="0" rtlCol="0" anchor="ctr"/>
          <a:lstStyle/>
          <a:p>
            <a:pPr algn="r" indent="0" marL="0">
              <a:buNone/>
            </a:pPr>
            <a:r>
              <a:rPr lang="en-US" sz="3600" b="1" dirty="0">
                <a:solidFill>
                  <a:srgbClr val="A9E3DE"/>
                </a:solidFill>
                <a:latin typeface="Poppins" pitchFamily="34" charset="0"/>
                <a:ea typeface="Poppins" pitchFamily="34" charset="-122"/>
                <a:cs typeface="Poppins" pitchFamily="34" charset="-120"/>
              </a:rPr>
              <a:t>05</a:t>
            </a:r>
            <a:endParaRPr lang="en-US" sz="3600" dirty="0"/>
          </a:p>
        </p:txBody>
      </p:sp>
      <p:sp>
        <p:nvSpPr>
          <p:cNvPr id="35" name="Shape 28"/>
          <p:cNvSpPr/>
          <p:nvPr/>
        </p:nvSpPr>
        <p:spPr>
          <a:xfrm>
            <a:off x="4581144" y="4343400"/>
            <a:ext cx="713232" cy="713232"/>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36" name="Image 5" descr="preencoded.png">    </p:cNvPr>
          <p:cNvPicPr>
            <a:picLocks noChangeAspect="1"/>
          </p:cNvPicPr>
          <p:nvPr/>
        </p:nvPicPr>
        <p:blipFill>
          <a:blip r:embed="rId7"/>
          <a:stretch>
            <a:fillRect/>
          </a:stretch>
        </p:blipFill>
        <p:spPr>
          <a:xfrm>
            <a:off x="4766584" y="4528840"/>
            <a:ext cx="342351" cy="342351"/>
          </a:xfrm>
          <a:prstGeom prst="rect">
            <a:avLst/>
          </a:prstGeom>
        </p:spPr>
      </p:pic>
      <p:sp>
        <p:nvSpPr>
          <p:cNvPr id="37" name="Text 29"/>
          <p:cNvSpPr txBox="1"/>
          <p:nvPr/>
        </p:nvSpPr>
        <p:spPr>
          <a:xfrm>
            <a:off x="4581144" y="5257800"/>
            <a:ext cx="3118104" cy="365760"/>
          </a:xfrm>
          <a:prstGeom prst="rect">
            <a:avLst/>
          </a:prstGeom>
          <a:noFill/>
          <a:ln/>
        </p:spPr>
        <p:txBody>
          <a:bodyPr wrap="square" lIns="0" tIns="0" rIns="0" bIns="0" rtlCol="0" anchor="ctr"/>
          <a:lstStyle/>
          <a:p>
            <a:pPr indent="0" marL="0">
              <a:buNone/>
            </a:pPr>
            <a:r>
              <a:rPr lang="en-US" sz="1550" b="1" dirty="0">
                <a:solidFill>
                  <a:srgbClr val="0B1930"/>
                </a:solidFill>
                <a:latin typeface="Poppins" pitchFamily="34" charset="0"/>
                <a:ea typeface="Poppins" pitchFamily="34" charset="-122"/>
                <a:cs typeface="Poppins" pitchFamily="34" charset="-120"/>
              </a:rPr>
              <a:t>Secure Authentication</a:t>
            </a:r>
            <a:endParaRPr lang="en-US" sz="1550" dirty="0"/>
          </a:p>
        </p:txBody>
      </p:sp>
      <p:sp>
        <p:nvSpPr>
          <p:cNvPr id="38" name="Text 30"/>
          <p:cNvSpPr txBox="1"/>
          <p:nvPr/>
        </p:nvSpPr>
        <p:spPr>
          <a:xfrm>
            <a:off x="4581144" y="5660136"/>
            <a:ext cx="3072384" cy="566928"/>
          </a:xfrm>
          <a:prstGeom prst="rect">
            <a:avLst/>
          </a:prstGeom>
          <a:noFill/>
          <a:ln/>
        </p:spPr>
        <p:txBody>
          <a:bodyPr wrap="square" lIns="0" tIns="0" rIns="0" bIns="0" rtlCol="0" anchor="t"/>
          <a:lstStyle/>
          <a:p>
            <a:pPr indent="0" marL="0">
              <a:buNone/>
            </a:pPr>
            <a:r>
              <a:rPr lang="en-US" sz="1200" dirty="0">
                <a:solidFill>
                  <a:srgbClr val="64748B"/>
                </a:solidFill>
                <a:latin typeface="Poppins" pitchFamily="34" charset="0"/>
                <a:ea typeface="Poppins" pitchFamily="34" charset="-122"/>
                <a:cs typeface="Poppins" pitchFamily="34" charset="-120"/>
              </a:rPr>
              <a:t>JWT, password hashing and protected routes.</a:t>
            </a:r>
            <a:endParaRPr lang="en-US" sz="1200" dirty="0"/>
          </a:p>
        </p:txBody>
      </p:sp>
      <p:sp>
        <p:nvSpPr>
          <p:cNvPr id="39" name="Shape 31"/>
          <p:cNvSpPr/>
          <p:nvPr/>
        </p:nvSpPr>
        <p:spPr>
          <a:xfrm>
            <a:off x="8156448" y="4069080"/>
            <a:ext cx="3575304" cy="2240280"/>
          </a:xfrm>
          <a:prstGeom prst="roundRect">
            <a:avLst>
              <a:gd name="adj" fmla="val 5714"/>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0" name="Text 32"/>
          <p:cNvSpPr txBox="1"/>
          <p:nvPr/>
        </p:nvSpPr>
        <p:spPr>
          <a:xfrm>
            <a:off x="10543032" y="4206240"/>
            <a:ext cx="1005840" cy="685800"/>
          </a:xfrm>
          <a:prstGeom prst="rect">
            <a:avLst/>
          </a:prstGeom>
          <a:noFill/>
          <a:ln/>
        </p:spPr>
        <p:txBody>
          <a:bodyPr wrap="square" lIns="0" tIns="0" rIns="0" bIns="0" rtlCol="0" anchor="ctr"/>
          <a:lstStyle/>
          <a:p>
            <a:pPr algn="r" indent="0" marL="0">
              <a:buNone/>
            </a:pPr>
            <a:r>
              <a:rPr lang="en-US" sz="3600" b="1" dirty="0">
                <a:solidFill>
                  <a:srgbClr val="F8BDBC"/>
                </a:solidFill>
                <a:latin typeface="Poppins" pitchFamily="34" charset="0"/>
                <a:ea typeface="Poppins" pitchFamily="34" charset="-122"/>
                <a:cs typeface="Poppins" pitchFamily="34" charset="-120"/>
              </a:rPr>
              <a:t>06</a:t>
            </a:r>
            <a:endParaRPr lang="en-US" sz="3600" dirty="0"/>
          </a:p>
        </p:txBody>
      </p:sp>
      <p:sp>
        <p:nvSpPr>
          <p:cNvPr id="41" name="Shape 33"/>
          <p:cNvSpPr/>
          <p:nvPr/>
        </p:nvSpPr>
        <p:spPr>
          <a:xfrm>
            <a:off x="8430768" y="4343400"/>
            <a:ext cx="713232" cy="713232"/>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42" name="Image 6" descr="preencoded.png">    </p:cNvPr>
          <p:cNvPicPr>
            <a:picLocks noChangeAspect="1"/>
          </p:cNvPicPr>
          <p:nvPr/>
        </p:nvPicPr>
        <p:blipFill>
          <a:blip r:embed="rId8"/>
          <a:stretch>
            <a:fillRect/>
          </a:stretch>
        </p:blipFill>
        <p:spPr>
          <a:xfrm>
            <a:off x="8616208" y="4528840"/>
            <a:ext cx="342351" cy="342351"/>
          </a:xfrm>
          <a:prstGeom prst="rect">
            <a:avLst/>
          </a:prstGeom>
        </p:spPr>
      </p:pic>
      <p:sp>
        <p:nvSpPr>
          <p:cNvPr id="43" name="Text 34"/>
          <p:cNvSpPr txBox="1"/>
          <p:nvPr/>
        </p:nvSpPr>
        <p:spPr>
          <a:xfrm>
            <a:off x="8430768" y="5257800"/>
            <a:ext cx="3118104" cy="365760"/>
          </a:xfrm>
          <a:prstGeom prst="rect">
            <a:avLst/>
          </a:prstGeom>
          <a:noFill/>
          <a:ln/>
        </p:spPr>
        <p:txBody>
          <a:bodyPr wrap="square" lIns="0" tIns="0" rIns="0" bIns="0" rtlCol="0" anchor="ctr"/>
          <a:lstStyle/>
          <a:p>
            <a:pPr indent="0" marL="0">
              <a:buNone/>
            </a:pPr>
            <a:r>
              <a:rPr lang="en-US" sz="1550" b="1" dirty="0">
                <a:solidFill>
                  <a:srgbClr val="0B1930"/>
                </a:solidFill>
                <a:latin typeface="Poppins" pitchFamily="34" charset="0"/>
                <a:ea typeface="Poppins" pitchFamily="34" charset="-122"/>
                <a:cs typeface="Poppins" pitchFamily="34" charset="-120"/>
              </a:rPr>
              <a:t>Credit-Based Bidding</a:t>
            </a:r>
            <a:endParaRPr lang="en-US" sz="1550" dirty="0"/>
          </a:p>
        </p:txBody>
      </p:sp>
      <p:sp>
        <p:nvSpPr>
          <p:cNvPr id="44" name="Text 35"/>
          <p:cNvSpPr txBox="1"/>
          <p:nvPr/>
        </p:nvSpPr>
        <p:spPr>
          <a:xfrm>
            <a:off x="8430768" y="5660136"/>
            <a:ext cx="3072384" cy="566928"/>
          </a:xfrm>
          <a:prstGeom prst="rect">
            <a:avLst/>
          </a:prstGeom>
          <a:noFill/>
          <a:ln/>
        </p:spPr>
        <p:txBody>
          <a:bodyPr wrap="square" lIns="0" tIns="0" rIns="0" bIns="0" rtlCol="0" anchor="t"/>
          <a:lstStyle/>
          <a:p>
            <a:pPr indent="0" marL="0">
              <a:buNone/>
            </a:pPr>
            <a:r>
              <a:rPr lang="en-US" sz="1200" dirty="0">
                <a:solidFill>
                  <a:srgbClr val="64748B"/>
                </a:solidFill>
                <a:latin typeface="Poppins" pitchFamily="34" charset="0"/>
                <a:ea typeface="Poppins" pitchFamily="34" charset="-122"/>
                <a:cs typeface="Poppins" pitchFamily="34" charset="-120"/>
              </a:rPr>
              <a:t>Freelancers use credits to place bids.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USERS &amp; ROLES</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4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04</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Users &amp; Roles</a:t>
            </a:r>
            <a:endParaRPr lang="en-US" sz="3000" dirty="0"/>
          </a:p>
        </p:txBody>
      </p:sp>
      <p:sp>
        <p:nvSpPr>
          <p:cNvPr id="9" name="Shape 6"/>
          <p:cNvSpPr/>
          <p:nvPr/>
        </p:nvSpPr>
        <p:spPr>
          <a:xfrm>
            <a:off x="457200" y="1554480"/>
            <a:ext cx="3575304" cy="3611880"/>
          </a:xfrm>
          <a:prstGeom prst="roundRect">
            <a:avLst>
              <a:gd name="adj" fmla="val 3581"/>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Shape 7"/>
          <p:cNvSpPr/>
          <p:nvPr/>
        </p:nvSpPr>
        <p:spPr>
          <a:xfrm>
            <a:off x="594360" y="1691640"/>
            <a:ext cx="3300984" cy="1051560"/>
          </a:xfrm>
          <a:prstGeom prst="roundRect">
            <a:avLst>
              <a:gd name="adj" fmla="val 10435"/>
            </a:avLst>
          </a:prstGeom>
          <a:solidFill>
            <a:srgbClr val="DFF5F3"/>
          </a:solidFill>
          <a:ln/>
        </p:spPr>
      </p:sp>
      <p:sp>
        <p:nvSpPr>
          <p:cNvPr id="11" name="Shape 8"/>
          <p:cNvSpPr/>
          <p:nvPr/>
        </p:nvSpPr>
        <p:spPr>
          <a:xfrm>
            <a:off x="777240" y="1828800"/>
            <a:ext cx="777240" cy="77724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12" name="Image 1" descr="preencoded.png">    </p:cNvPr>
          <p:cNvPicPr>
            <a:picLocks noChangeAspect="1"/>
          </p:cNvPicPr>
          <p:nvPr/>
        </p:nvPicPr>
        <p:blipFill>
          <a:blip r:embed="rId3"/>
          <a:stretch>
            <a:fillRect/>
          </a:stretch>
        </p:blipFill>
        <p:spPr>
          <a:xfrm>
            <a:off x="971550" y="2023110"/>
            <a:ext cx="388620" cy="388620"/>
          </a:xfrm>
          <a:prstGeom prst="rect">
            <a:avLst/>
          </a:prstGeom>
        </p:spPr>
      </p:pic>
      <p:sp>
        <p:nvSpPr>
          <p:cNvPr id="13" name="Text 9"/>
          <p:cNvSpPr txBox="1"/>
          <p:nvPr/>
        </p:nvSpPr>
        <p:spPr>
          <a:xfrm>
            <a:off x="1737360" y="1856232"/>
            <a:ext cx="2112264" cy="365760"/>
          </a:xfrm>
          <a:prstGeom prst="rect">
            <a:avLst/>
          </a:prstGeom>
          <a:noFill/>
          <a:ln/>
        </p:spPr>
        <p:txBody>
          <a:bodyPr wrap="square" lIns="0" tIns="0" rIns="0" bIns="0" rtlCol="0" anchor="ctr"/>
          <a:lstStyle/>
          <a:p>
            <a:pPr indent="0" marL="0">
              <a:buNone/>
            </a:pPr>
            <a:r>
              <a:rPr lang="en-US" sz="1700" b="1" dirty="0">
                <a:solidFill>
                  <a:srgbClr val="0B1930"/>
                </a:solidFill>
                <a:latin typeface="Poppins" pitchFamily="34" charset="0"/>
                <a:ea typeface="Poppins" pitchFamily="34" charset="-122"/>
                <a:cs typeface="Poppins" pitchFamily="34" charset="-120"/>
              </a:rPr>
              <a:t>CLIENT</a:t>
            </a:r>
            <a:endParaRPr lang="en-US" sz="1700" dirty="0"/>
          </a:p>
        </p:txBody>
      </p:sp>
      <p:sp>
        <p:nvSpPr>
          <p:cNvPr id="14" name="Text 10"/>
          <p:cNvSpPr txBox="1"/>
          <p:nvPr/>
        </p:nvSpPr>
        <p:spPr>
          <a:xfrm>
            <a:off x="1737360" y="2231136"/>
            <a:ext cx="2112264" cy="274320"/>
          </a:xfrm>
          <a:prstGeom prst="rect">
            <a:avLst/>
          </a:prstGeom>
          <a:noFill/>
          <a:ln/>
        </p:spPr>
        <p:txBody>
          <a:bodyPr wrap="square" lIns="0" tIns="0" rIns="0" bIns="0" rtlCol="0" anchor="t"/>
          <a:lstStyle/>
          <a:p>
            <a:pPr indent="0" marL="0">
              <a:buNone/>
            </a:pPr>
            <a:r>
              <a:rPr lang="en-US" sz="1050" b="1" dirty="0">
                <a:solidFill>
                  <a:srgbClr val="12AEA4"/>
                </a:solidFill>
                <a:latin typeface="Poppins" pitchFamily="34" charset="0"/>
                <a:ea typeface="Poppins" pitchFamily="34" charset="-122"/>
                <a:cs typeface="Poppins" pitchFamily="34" charset="-120"/>
              </a:rPr>
              <a:t>Hires talent</a:t>
            </a:r>
            <a:endParaRPr lang="en-US" sz="1050" dirty="0"/>
          </a:p>
        </p:txBody>
      </p:sp>
      <p:sp>
        <p:nvSpPr>
          <p:cNvPr id="15" name="Text 11"/>
          <p:cNvSpPr txBox="1"/>
          <p:nvPr/>
        </p:nvSpPr>
        <p:spPr>
          <a:xfrm>
            <a:off x="731520" y="2926080"/>
            <a:ext cx="2743200" cy="228600"/>
          </a:xfrm>
          <a:prstGeom prst="rect">
            <a:avLst/>
          </a:prstGeom>
          <a:noFill/>
          <a:ln/>
        </p:spPr>
        <p:txBody>
          <a:bodyPr wrap="square" lIns="0" tIns="0" rIns="0" bIns="0" rtlCol="0" anchor="t"/>
          <a:lstStyle/>
          <a:p>
            <a:pPr indent="0" marL="0">
              <a:buNone/>
            </a:pPr>
            <a:r>
              <a:rPr lang="en-US" sz="850" b="1" spc="200" kern="0" dirty="0">
                <a:solidFill>
                  <a:srgbClr val="64748B"/>
                </a:solidFill>
                <a:latin typeface="Poppins" pitchFamily="34" charset="0"/>
                <a:ea typeface="Poppins" pitchFamily="34" charset="-122"/>
                <a:cs typeface="Poppins" pitchFamily="34" charset="-120"/>
              </a:rPr>
              <a:t>RESPONSIBILITIES</a:t>
            </a:r>
            <a:endParaRPr lang="en-US" sz="850" dirty="0"/>
          </a:p>
        </p:txBody>
      </p:sp>
      <p:pic>
        <p:nvPicPr>
          <p:cNvPr id="16" name="Image 2" descr="preencoded.png">    </p:cNvPr>
          <p:cNvPicPr>
            <a:picLocks noChangeAspect="1"/>
          </p:cNvPicPr>
          <p:nvPr/>
        </p:nvPicPr>
        <p:blipFill>
          <a:blip r:embed="rId4"/>
          <a:stretch>
            <a:fillRect/>
          </a:stretch>
        </p:blipFill>
        <p:spPr>
          <a:xfrm>
            <a:off x="731520" y="3300984"/>
            <a:ext cx="201168" cy="201168"/>
          </a:xfrm>
          <a:prstGeom prst="rect">
            <a:avLst/>
          </a:prstGeom>
        </p:spPr>
      </p:pic>
      <p:sp>
        <p:nvSpPr>
          <p:cNvPr id="17" name="Text 12"/>
          <p:cNvSpPr txBox="1"/>
          <p:nvPr/>
        </p:nvSpPr>
        <p:spPr>
          <a:xfrm>
            <a:off x="1060704" y="3273552"/>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Post projects</a:t>
            </a:r>
            <a:endParaRPr lang="en-US" sz="1200" dirty="0"/>
          </a:p>
        </p:txBody>
      </p:sp>
      <p:pic>
        <p:nvPicPr>
          <p:cNvPr id="18" name="Image 3" descr="preencoded.png">    </p:cNvPr>
          <p:cNvPicPr>
            <a:picLocks noChangeAspect="1"/>
          </p:cNvPicPr>
          <p:nvPr/>
        </p:nvPicPr>
        <p:blipFill>
          <a:blip r:embed="rId5"/>
          <a:stretch>
            <a:fillRect/>
          </a:stretch>
        </p:blipFill>
        <p:spPr>
          <a:xfrm>
            <a:off x="731520" y="3630168"/>
            <a:ext cx="201168" cy="201168"/>
          </a:xfrm>
          <a:prstGeom prst="rect">
            <a:avLst/>
          </a:prstGeom>
        </p:spPr>
      </p:pic>
      <p:sp>
        <p:nvSpPr>
          <p:cNvPr id="19" name="Text 13"/>
          <p:cNvSpPr txBox="1"/>
          <p:nvPr/>
        </p:nvSpPr>
        <p:spPr>
          <a:xfrm>
            <a:off x="1060704" y="3602736"/>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Set budget and duration</a:t>
            </a:r>
            <a:endParaRPr lang="en-US" sz="1200" dirty="0"/>
          </a:p>
        </p:txBody>
      </p:sp>
      <p:pic>
        <p:nvPicPr>
          <p:cNvPr id="20" name="Image 4" descr="preencoded.png">    </p:cNvPr>
          <p:cNvPicPr>
            <a:picLocks noChangeAspect="1"/>
          </p:cNvPicPr>
          <p:nvPr/>
        </p:nvPicPr>
        <p:blipFill>
          <a:blip r:embed="rId6"/>
          <a:stretch>
            <a:fillRect/>
          </a:stretch>
        </p:blipFill>
        <p:spPr>
          <a:xfrm>
            <a:off x="731520" y="3959352"/>
            <a:ext cx="201168" cy="201168"/>
          </a:xfrm>
          <a:prstGeom prst="rect">
            <a:avLst/>
          </a:prstGeom>
        </p:spPr>
      </p:pic>
      <p:sp>
        <p:nvSpPr>
          <p:cNvPr id="21" name="Text 14"/>
          <p:cNvSpPr txBox="1"/>
          <p:nvPr/>
        </p:nvSpPr>
        <p:spPr>
          <a:xfrm>
            <a:off x="1060704" y="3931920"/>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View received bids</a:t>
            </a:r>
            <a:endParaRPr lang="en-US" sz="1200" dirty="0"/>
          </a:p>
        </p:txBody>
      </p:sp>
      <p:pic>
        <p:nvPicPr>
          <p:cNvPr id="22" name="Image 5" descr="preencoded.png">    </p:cNvPr>
          <p:cNvPicPr>
            <a:picLocks noChangeAspect="1"/>
          </p:cNvPicPr>
          <p:nvPr/>
        </p:nvPicPr>
        <p:blipFill>
          <a:blip r:embed="rId7"/>
          <a:stretch>
            <a:fillRect/>
          </a:stretch>
        </p:blipFill>
        <p:spPr>
          <a:xfrm>
            <a:off x="731520" y="4288536"/>
            <a:ext cx="201168" cy="201168"/>
          </a:xfrm>
          <a:prstGeom prst="rect">
            <a:avLst/>
          </a:prstGeom>
        </p:spPr>
      </p:pic>
      <p:sp>
        <p:nvSpPr>
          <p:cNvPr id="23" name="Text 15"/>
          <p:cNvSpPr txBox="1"/>
          <p:nvPr/>
        </p:nvSpPr>
        <p:spPr>
          <a:xfrm>
            <a:off x="1060704" y="4261104"/>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Accept / Reject bids</a:t>
            </a:r>
            <a:endParaRPr lang="en-US" sz="1200" dirty="0"/>
          </a:p>
        </p:txBody>
      </p:sp>
      <p:pic>
        <p:nvPicPr>
          <p:cNvPr id="24" name="Image 6" descr="preencoded.png">    </p:cNvPr>
          <p:cNvPicPr>
            <a:picLocks noChangeAspect="1"/>
          </p:cNvPicPr>
          <p:nvPr/>
        </p:nvPicPr>
        <p:blipFill>
          <a:blip r:embed="rId8"/>
          <a:stretch>
            <a:fillRect/>
          </a:stretch>
        </p:blipFill>
        <p:spPr>
          <a:xfrm>
            <a:off x="731520" y="4617720"/>
            <a:ext cx="201168" cy="201168"/>
          </a:xfrm>
          <a:prstGeom prst="rect">
            <a:avLst/>
          </a:prstGeom>
        </p:spPr>
      </p:pic>
      <p:sp>
        <p:nvSpPr>
          <p:cNvPr id="25" name="Text 16"/>
          <p:cNvSpPr txBox="1"/>
          <p:nvPr/>
        </p:nvSpPr>
        <p:spPr>
          <a:xfrm>
            <a:off x="1060704" y="4590288"/>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Update profile</a:t>
            </a:r>
            <a:endParaRPr lang="en-US" sz="1200" dirty="0"/>
          </a:p>
        </p:txBody>
      </p:sp>
      <p:sp>
        <p:nvSpPr>
          <p:cNvPr id="26" name="Shape 17"/>
          <p:cNvSpPr/>
          <p:nvPr/>
        </p:nvSpPr>
        <p:spPr>
          <a:xfrm>
            <a:off x="4306824" y="1554480"/>
            <a:ext cx="3575304" cy="3611880"/>
          </a:xfrm>
          <a:prstGeom prst="roundRect">
            <a:avLst>
              <a:gd name="adj" fmla="val 3581"/>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7" name="Shape 18"/>
          <p:cNvSpPr/>
          <p:nvPr/>
        </p:nvSpPr>
        <p:spPr>
          <a:xfrm>
            <a:off x="4443984" y="1691640"/>
            <a:ext cx="3300984" cy="1051560"/>
          </a:xfrm>
          <a:prstGeom prst="roundRect">
            <a:avLst>
              <a:gd name="adj" fmla="val 10435"/>
            </a:avLst>
          </a:prstGeom>
          <a:solidFill>
            <a:srgbClr val="FEF0DF"/>
          </a:solidFill>
          <a:ln/>
        </p:spPr>
      </p:sp>
      <p:sp>
        <p:nvSpPr>
          <p:cNvPr id="28" name="Shape 19"/>
          <p:cNvSpPr/>
          <p:nvPr/>
        </p:nvSpPr>
        <p:spPr>
          <a:xfrm>
            <a:off x="4626864" y="1828800"/>
            <a:ext cx="777240" cy="77724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29" name="Image 7" descr="preencoded.png">    </p:cNvPr>
          <p:cNvPicPr>
            <a:picLocks noChangeAspect="1"/>
          </p:cNvPicPr>
          <p:nvPr/>
        </p:nvPicPr>
        <p:blipFill>
          <a:blip r:embed="rId9"/>
          <a:stretch>
            <a:fillRect/>
          </a:stretch>
        </p:blipFill>
        <p:spPr>
          <a:xfrm>
            <a:off x="4821174" y="2023110"/>
            <a:ext cx="388620" cy="388620"/>
          </a:xfrm>
          <a:prstGeom prst="rect">
            <a:avLst/>
          </a:prstGeom>
        </p:spPr>
      </p:pic>
      <p:sp>
        <p:nvSpPr>
          <p:cNvPr id="30" name="Text 20"/>
          <p:cNvSpPr txBox="1"/>
          <p:nvPr/>
        </p:nvSpPr>
        <p:spPr>
          <a:xfrm>
            <a:off x="5586984" y="1856232"/>
            <a:ext cx="2112264" cy="365760"/>
          </a:xfrm>
          <a:prstGeom prst="rect">
            <a:avLst/>
          </a:prstGeom>
          <a:noFill/>
          <a:ln/>
        </p:spPr>
        <p:txBody>
          <a:bodyPr wrap="square" lIns="0" tIns="0" rIns="0" bIns="0" rtlCol="0" anchor="ctr"/>
          <a:lstStyle/>
          <a:p>
            <a:pPr indent="0" marL="0">
              <a:buNone/>
            </a:pPr>
            <a:r>
              <a:rPr lang="en-US" sz="1700" b="1" dirty="0">
                <a:solidFill>
                  <a:srgbClr val="0B1930"/>
                </a:solidFill>
                <a:latin typeface="Poppins" pitchFamily="34" charset="0"/>
                <a:ea typeface="Poppins" pitchFamily="34" charset="-122"/>
                <a:cs typeface="Poppins" pitchFamily="34" charset="-120"/>
              </a:rPr>
              <a:t>FREELANCER</a:t>
            </a:r>
            <a:endParaRPr lang="en-US" sz="1700" dirty="0"/>
          </a:p>
        </p:txBody>
      </p:sp>
      <p:sp>
        <p:nvSpPr>
          <p:cNvPr id="31" name="Text 21"/>
          <p:cNvSpPr txBox="1"/>
          <p:nvPr/>
        </p:nvSpPr>
        <p:spPr>
          <a:xfrm>
            <a:off x="5586984" y="2231136"/>
            <a:ext cx="2112264" cy="274320"/>
          </a:xfrm>
          <a:prstGeom prst="rect">
            <a:avLst/>
          </a:prstGeom>
          <a:noFill/>
          <a:ln/>
        </p:spPr>
        <p:txBody>
          <a:bodyPr wrap="square" lIns="0" tIns="0" rIns="0" bIns="0" rtlCol="0" anchor="t"/>
          <a:lstStyle/>
          <a:p>
            <a:pPr indent="0" marL="0">
              <a:buNone/>
            </a:pPr>
            <a:r>
              <a:rPr lang="en-US" sz="1050" b="1" dirty="0">
                <a:solidFill>
                  <a:srgbClr val="F79330"/>
                </a:solidFill>
                <a:latin typeface="Poppins" pitchFamily="34" charset="0"/>
                <a:ea typeface="Poppins" pitchFamily="34" charset="-122"/>
                <a:cs typeface="Poppins" pitchFamily="34" charset="-120"/>
              </a:rPr>
              <a:t>Finds work</a:t>
            </a:r>
            <a:endParaRPr lang="en-US" sz="1050" dirty="0"/>
          </a:p>
        </p:txBody>
      </p:sp>
      <p:sp>
        <p:nvSpPr>
          <p:cNvPr id="32" name="Text 22"/>
          <p:cNvSpPr txBox="1"/>
          <p:nvPr/>
        </p:nvSpPr>
        <p:spPr>
          <a:xfrm>
            <a:off x="4581144" y="2926080"/>
            <a:ext cx="2743200" cy="228600"/>
          </a:xfrm>
          <a:prstGeom prst="rect">
            <a:avLst/>
          </a:prstGeom>
          <a:noFill/>
          <a:ln/>
        </p:spPr>
        <p:txBody>
          <a:bodyPr wrap="square" lIns="0" tIns="0" rIns="0" bIns="0" rtlCol="0" anchor="t"/>
          <a:lstStyle/>
          <a:p>
            <a:pPr indent="0" marL="0">
              <a:buNone/>
            </a:pPr>
            <a:r>
              <a:rPr lang="en-US" sz="850" b="1" spc="200" kern="0" dirty="0">
                <a:solidFill>
                  <a:srgbClr val="64748B"/>
                </a:solidFill>
                <a:latin typeface="Poppins" pitchFamily="34" charset="0"/>
                <a:ea typeface="Poppins" pitchFamily="34" charset="-122"/>
                <a:cs typeface="Poppins" pitchFamily="34" charset="-120"/>
              </a:rPr>
              <a:t>RESPONSIBILITIES</a:t>
            </a:r>
            <a:endParaRPr lang="en-US" sz="850" dirty="0"/>
          </a:p>
        </p:txBody>
      </p:sp>
      <p:pic>
        <p:nvPicPr>
          <p:cNvPr id="33" name="Image 8" descr="preencoded.png">    </p:cNvPr>
          <p:cNvPicPr>
            <a:picLocks noChangeAspect="1"/>
          </p:cNvPicPr>
          <p:nvPr/>
        </p:nvPicPr>
        <p:blipFill>
          <a:blip r:embed="rId10"/>
          <a:stretch>
            <a:fillRect/>
          </a:stretch>
        </p:blipFill>
        <p:spPr>
          <a:xfrm>
            <a:off x="4581144" y="3300984"/>
            <a:ext cx="201168" cy="201168"/>
          </a:xfrm>
          <a:prstGeom prst="rect">
            <a:avLst/>
          </a:prstGeom>
        </p:spPr>
      </p:pic>
      <p:sp>
        <p:nvSpPr>
          <p:cNvPr id="34" name="Text 23"/>
          <p:cNvSpPr txBox="1"/>
          <p:nvPr/>
        </p:nvSpPr>
        <p:spPr>
          <a:xfrm>
            <a:off x="4910328" y="3273552"/>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Browse projects</a:t>
            </a:r>
            <a:endParaRPr lang="en-US" sz="1200" dirty="0"/>
          </a:p>
        </p:txBody>
      </p:sp>
      <p:pic>
        <p:nvPicPr>
          <p:cNvPr id="35" name="Image 9" descr="preencoded.png">    </p:cNvPr>
          <p:cNvPicPr>
            <a:picLocks noChangeAspect="1"/>
          </p:cNvPicPr>
          <p:nvPr/>
        </p:nvPicPr>
        <p:blipFill>
          <a:blip r:embed="rId11"/>
          <a:stretch>
            <a:fillRect/>
          </a:stretch>
        </p:blipFill>
        <p:spPr>
          <a:xfrm>
            <a:off x="4581144" y="3630168"/>
            <a:ext cx="201168" cy="201168"/>
          </a:xfrm>
          <a:prstGeom prst="rect">
            <a:avLst/>
          </a:prstGeom>
        </p:spPr>
      </p:pic>
      <p:sp>
        <p:nvSpPr>
          <p:cNvPr id="36" name="Text 24"/>
          <p:cNvSpPr txBox="1"/>
          <p:nvPr/>
        </p:nvSpPr>
        <p:spPr>
          <a:xfrm>
            <a:off x="4910328" y="3602736"/>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Submit bids</a:t>
            </a:r>
            <a:endParaRPr lang="en-US" sz="1200" dirty="0"/>
          </a:p>
        </p:txBody>
      </p:sp>
      <p:pic>
        <p:nvPicPr>
          <p:cNvPr id="37" name="Image 10" descr="preencoded.png">    </p:cNvPr>
          <p:cNvPicPr>
            <a:picLocks noChangeAspect="1"/>
          </p:cNvPicPr>
          <p:nvPr/>
        </p:nvPicPr>
        <p:blipFill>
          <a:blip r:embed="rId12"/>
          <a:stretch>
            <a:fillRect/>
          </a:stretch>
        </p:blipFill>
        <p:spPr>
          <a:xfrm>
            <a:off x="4581144" y="3959352"/>
            <a:ext cx="201168" cy="201168"/>
          </a:xfrm>
          <a:prstGeom prst="rect">
            <a:avLst/>
          </a:prstGeom>
        </p:spPr>
      </p:pic>
      <p:sp>
        <p:nvSpPr>
          <p:cNvPr id="38" name="Text 25"/>
          <p:cNvSpPr txBox="1"/>
          <p:nvPr/>
        </p:nvSpPr>
        <p:spPr>
          <a:xfrm>
            <a:off x="4910328" y="3931920"/>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Track bids</a:t>
            </a:r>
            <a:endParaRPr lang="en-US" sz="1200" dirty="0"/>
          </a:p>
        </p:txBody>
      </p:sp>
      <p:pic>
        <p:nvPicPr>
          <p:cNvPr id="39" name="Image 11" descr="preencoded.png">    </p:cNvPr>
          <p:cNvPicPr>
            <a:picLocks noChangeAspect="1"/>
          </p:cNvPicPr>
          <p:nvPr/>
        </p:nvPicPr>
        <p:blipFill>
          <a:blip r:embed="rId13"/>
          <a:stretch>
            <a:fillRect/>
          </a:stretch>
        </p:blipFill>
        <p:spPr>
          <a:xfrm>
            <a:off x="4581144" y="4288536"/>
            <a:ext cx="201168" cy="201168"/>
          </a:xfrm>
          <a:prstGeom prst="rect">
            <a:avLst/>
          </a:prstGeom>
        </p:spPr>
      </p:pic>
      <p:sp>
        <p:nvSpPr>
          <p:cNvPr id="40" name="Text 26"/>
          <p:cNvSpPr txBox="1"/>
          <p:nvPr/>
        </p:nvSpPr>
        <p:spPr>
          <a:xfrm>
            <a:off x="4910328" y="4261104"/>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Buy credit plans</a:t>
            </a:r>
            <a:endParaRPr lang="en-US" sz="1200" dirty="0"/>
          </a:p>
        </p:txBody>
      </p:sp>
      <p:pic>
        <p:nvPicPr>
          <p:cNvPr id="41" name="Image 12" descr="preencoded.png">    </p:cNvPr>
          <p:cNvPicPr>
            <a:picLocks noChangeAspect="1"/>
          </p:cNvPicPr>
          <p:nvPr/>
        </p:nvPicPr>
        <p:blipFill>
          <a:blip r:embed="rId14"/>
          <a:stretch>
            <a:fillRect/>
          </a:stretch>
        </p:blipFill>
        <p:spPr>
          <a:xfrm>
            <a:off x="4581144" y="4617720"/>
            <a:ext cx="201168" cy="201168"/>
          </a:xfrm>
          <a:prstGeom prst="rect">
            <a:avLst/>
          </a:prstGeom>
        </p:spPr>
      </p:pic>
      <p:sp>
        <p:nvSpPr>
          <p:cNvPr id="42" name="Text 27"/>
          <p:cNvSpPr txBox="1"/>
          <p:nvPr/>
        </p:nvSpPr>
        <p:spPr>
          <a:xfrm>
            <a:off x="4910328" y="4590288"/>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Manage profile</a:t>
            </a:r>
            <a:endParaRPr lang="en-US" sz="1200" dirty="0"/>
          </a:p>
        </p:txBody>
      </p:sp>
      <p:sp>
        <p:nvSpPr>
          <p:cNvPr id="43" name="Shape 28"/>
          <p:cNvSpPr/>
          <p:nvPr/>
        </p:nvSpPr>
        <p:spPr>
          <a:xfrm>
            <a:off x="8156448" y="1554480"/>
            <a:ext cx="3575304" cy="3611880"/>
          </a:xfrm>
          <a:prstGeom prst="roundRect">
            <a:avLst>
              <a:gd name="adj" fmla="val 3581"/>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4" name="Shape 29"/>
          <p:cNvSpPr/>
          <p:nvPr/>
        </p:nvSpPr>
        <p:spPr>
          <a:xfrm>
            <a:off x="8293608" y="1691640"/>
            <a:ext cx="3300984" cy="1051560"/>
          </a:xfrm>
          <a:prstGeom prst="roundRect">
            <a:avLst>
              <a:gd name="adj" fmla="val 10435"/>
            </a:avLst>
          </a:prstGeom>
          <a:solidFill>
            <a:srgbClr val="FDEAEA"/>
          </a:solidFill>
          <a:ln/>
        </p:spPr>
      </p:sp>
      <p:sp>
        <p:nvSpPr>
          <p:cNvPr id="45" name="Shape 30"/>
          <p:cNvSpPr/>
          <p:nvPr/>
        </p:nvSpPr>
        <p:spPr>
          <a:xfrm>
            <a:off x="8476488" y="1828800"/>
            <a:ext cx="777240" cy="77724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46" name="Image 13" descr="preencoded.png">    </p:cNvPr>
          <p:cNvPicPr>
            <a:picLocks noChangeAspect="1"/>
          </p:cNvPicPr>
          <p:nvPr/>
        </p:nvPicPr>
        <p:blipFill>
          <a:blip r:embed="rId15"/>
          <a:stretch>
            <a:fillRect/>
          </a:stretch>
        </p:blipFill>
        <p:spPr>
          <a:xfrm>
            <a:off x="8670798" y="2023110"/>
            <a:ext cx="388620" cy="388620"/>
          </a:xfrm>
          <a:prstGeom prst="rect">
            <a:avLst/>
          </a:prstGeom>
        </p:spPr>
      </p:pic>
      <p:sp>
        <p:nvSpPr>
          <p:cNvPr id="47" name="Text 31"/>
          <p:cNvSpPr txBox="1"/>
          <p:nvPr/>
        </p:nvSpPr>
        <p:spPr>
          <a:xfrm>
            <a:off x="9436608" y="1856232"/>
            <a:ext cx="2112264" cy="365760"/>
          </a:xfrm>
          <a:prstGeom prst="rect">
            <a:avLst/>
          </a:prstGeom>
          <a:noFill/>
          <a:ln/>
        </p:spPr>
        <p:txBody>
          <a:bodyPr wrap="square" lIns="0" tIns="0" rIns="0" bIns="0" rtlCol="0" anchor="ctr"/>
          <a:lstStyle/>
          <a:p>
            <a:pPr indent="0" marL="0">
              <a:buNone/>
            </a:pPr>
            <a:r>
              <a:rPr lang="en-US" sz="1700" b="1" dirty="0">
                <a:solidFill>
                  <a:srgbClr val="0B1930"/>
                </a:solidFill>
                <a:latin typeface="Poppins" pitchFamily="34" charset="0"/>
                <a:ea typeface="Poppins" pitchFamily="34" charset="-122"/>
                <a:cs typeface="Poppins" pitchFamily="34" charset="-120"/>
              </a:rPr>
              <a:t>ADMIN</a:t>
            </a:r>
            <a:endParaRPr lang="en-US" sz="1700" dirty="0"/>
          </a:p>
        </p:txBody>
      </p:sp>
      <p:sp>
        <p:nvSpPr>
          <p:cNvPr id="48" name="Text 32"/>
          <p:cNvSpPr txBox="1"/>
          <p:nvPr/>
        </p:nvSpPr>
        <p:spPr>
          <a:xfrm>
            <a:off x="9436608" y="2231136"/>
            <a:ext cx="2112264" cy="274320"/>
          </a:xfrm>
          <a:prstGeom prst="rect">
            <a:avLst/>
          </a:prstGeom>
          <a:noFill/>
          <a:ln/>
        </p:spPr>
        <p:txBody>
          <a:bodyPr wrap="square" lIns="0" tIns="0" rIns="0" bIns="0" rtlCol="0" anchor="t"/>
          <a:lstStyle/>
          <a:p>
            <a:pPr indent="0" marL="0">
              <a:buNone/>
            </a:pPr>
            <a:r>
              <a:rPr lang="en-US" sz="1050" b="1" dirty="0">
                <a:solidFill>
                  <a:srgbClr val="EF5B59"/>
                </a:solidFill>
                <a:latin typeface="Poppins" pitchFamily="34" charset="0"/>
                <a:ea typeface="Poppins" pitchFamily="34" charset="-122"/>
                <a:cs typeface="Poppins" pitchFamily="34" charset="-120"/>
              </a:rPr>
              <a:t>Manages platform</a:t>
            </a:r>
            <a:endParaRPr lang="en-US" sz="1050" dirty="0"/>
          </a:p>
        </p:txBody>
      </p:sp>
      <p:sp>
        <p:nvSpPr>
          <p:cNvPr id="49" name="Text 33"/>
          <p:cNvSpPr txBox="1"/>
          <p:nvPr/>
        </p:nvSpPr>
        <p:spPr>
          <a:xfrm>
            <a:off x="8430768" y="2926080"/>
            <a:ext cx="2743200" cy="228600"/>
          </a:xfrm>
          <a:prstGeom prst="rect">
            <a:avLst/>
          </a:prstGeom>
          <a:noFill/>
          <a:ln/>
        </p:spPr>
        <p:txBody>
          <a:bodyPr wrap="square" lIns="0" tIns="0" rIns="0" bIns="0" rtlCol="0" anchor="t"/>
          <a:lstStyle/>
          <a:p>
            <a:pPr indent="0" marL="0">
              <a:buNone/>
            </a:pPr>
            <a:r>
              <a:rPr lang="en-US" sz="850" b="1" spc="200" kern="0" dirty="0">
                <a:solidFill>
                  <a:srgbClr val="64748B"/>
                </a:solidFill>
                <a:latin typeface="Poppins" pitchFamily="34" charset="0"/>
                <a:ea typeface="Poppins" pitchFamily="34" charset="-122"/>
                <a:cs typeface="Poppins" pitchFamily="34" charset="-120"/>
              </a:rPr>
              <a:t>RESPONSIBILITIES</a:t>
            </a:r>
            <a:endParaRPr lang="en-US" sz="850" dirty="0"/>
          </a:p>
        </p:txBody>
      </p:sp>
      <p:pic>
        <p:nvPicPr>
          <p:cNvPr id="50" name="Image 14" descr="preencoded.png">    </p:cNvPr>
          <p:cNvPicPr>
            <a:picLocks noChangeAspect="1"/>
          </p:cNvPicPr>
          <p:nvPr/>
        </p:nvPicPr>
        <p:blipFill>
          <a:blip r:embed="rId16"/>
          <a:stretch>
            <a:fillRect/>
          </a:stretch>
        </p:blipFill>
        <p:spPr>
          <a:xfrm>
            <a:off x="8430768" y="3300984"/>
            <a:ext cx="201168" cy="201168"/>
          </a:xfrm>
          <a:prstGeom prst="rect">
            <a:avLst/>
          </a:prstGeom>
        </p:spPr>
      </p:pic>
      <p:sp>
        <p:nvSpPr>
          <p:cNvPr id="51" name="Text 34"/>
          <p:cNvSpPr txBox="1"/>
          <p:nvPr/>
        </p:nvSpPr>
        <p:spPr>
          <a:xfrm>
            <a:off x="8759952" y="3273552"/>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View platform statistics</a:t>
            </a:r>
            <a:endParaRPr lang="en-US" sz="1200" dirty="0"/>
          </a:p>
        </p:txBody>
      </p:sp>
      <p:pic>
        <p:nvPicPr>
          <p:cNvPr id="52" name="Image 15" descr="preencoded.png">    </p:cNvPr>
          <p:cNvPicPr>
            <a:picLocks noChangeAspect="1"/>
          </p:cNvPicPr>
          <p:nvPr/>
        </p:nvPicPr>
        <p:blipFill>
          <a:blip r:embed="rId17"/>
          <a:stretch>
            <a:fillRect/>
          </a:stretch>
        </p:blipFill>
        <p:spPr>
          <a:xfrm>
            <a:off x="8430768" y="3630168"/>
            <a:ext cx="201168" cy="201168"/>
          </a:xfrm>
          <a:prstGeom prst="rect">
            <a:avLst/>
          </a:prstGeom>
        </p:spPr>
      </p:pic>
      <p:sp>
        <p:nvSpPr>
          <p:cNvPr id="53" name="Text 35"/>
          <p:cNvSpPr txBox="1"/>
          <p:nvPr/>
        </p:nvSpPr>
        <p:spPr>
          <a:xfrm>
            <a:off x="8759952" y="3602736"/>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Manage users</a:t>
            </a:r>
            <a:endParaRPr lang="en-US" sz="1200" dirty="0"/>
          </a:p>
        </p:txBody>
      </p:sp>
      <p:pic>
        <p:nvPicPr>
          <p:cNvPr id="54" name="Image 16" descr="preencoded.png">    </p:cNvPr>
          <p:cNvPicPr>
            <a:picLocks noChangeAspect="1"/>
          </p:cNvPicPr>
          <p:nvPr/>
        </p:nvPicPr>
        <p:blipFill>
          <a:blip r:embed="rId18"/>
          <a:stretch>
            <a:fillRect/>
          </a:stretch>
        </p:blipFill>
        <p:spPr>
          <a:xfrm>
            <a:off x="8430768" y="3959352"/>
            <a:ext cx="201168" cy="201168"/>
          </a:xfrm>
          <a:prstGeom prst="rect">
            <a:avLst/>
          </a:prstGeom>
        </p:spPr>
      </p:pic>
      <p:sp>
        <p:nvSpPr>
          <p:cNvPr id="55" name="Text 36"/>
          <p:cNvSpPr txBox="1"/>
          <p:nvPr/>
        </p:nvSpPr>
        <p:spPr>
          <a:xfrm>
            <a:off x="8759952" y="3931920"/>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Manage projects</a:t>
            </a:r>
            <a:endParaRPr lang="en-US" sz="1200" dirty="0"/>
          </a:p>
        </p:txBody>
      </p:sp>
      <p:pic>
        <p:nvPicPr>
          <p:cNvPr id="56" name="Image 17" descr="preencoded.png">    </p:cNvPr>
          <p:cNvPicPr>
            <a:picLocks noChangeAspect="1"/>
          </p:cNvPicPr>
          <p:nvPr/>
        </p:nvPicPr>
        <p:blipFill>
          <a:blip r:embed="rId19"/>
          <a:stretch>
            <a:fillRect/>
          </a:stretch>
        </p:blipFill>
        <p:spPr>
          <a:xfrm>
            <a:off x="8430768" y="4288536"/>
            <a:ext cx="201168" cy="201168"/>
          </a:xfrm>
          <a:prstGeom prst="rect">
            <a:avLst/>
          </a:prstGeom>
        </p:spPr>
      </p:pic>
      <p:sp>
        <p:nvSpPr>
          <p:cNvPr id="57" name="Text 37"/>
          <p:cNvSpPr txBox="1"/>
          <p:nvPr/>
        </p:nvSpPr>
        <p:spPr>
          <a:xfrm>
            <a:off x="8759952" y="4261104"/>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Manage bids</a:t>
            </a:r>
            <a:endParaRPr lang="en-US" sz="1200" dirty="0"/>
          </a:p>
        </p:txBody>
      </p:sp>
      <p:pic>
        <p:nvPicPr>
          <p:cNvPr id="58" name="Image 18" descr="preencoded.png">    </p:cNvPr>
          <p:cNvPicPr>
            <a:picLocks noChangeAspect="1"/>
          </p:cNvPicPr>
          <p:nvPr/>
        </p:nvPicPr>
        <p:blipFill>
          <a:blip r:embed="rId20"/>
          <a:stretch>
            <a:fillRect/>
          </a:stretch>
        </p:blipFill>
        <p:spPr>
          <a:xfrm>
            <a:off x="8430768" y="4617720"/>
            <a:ext cx="201168" cy="201168"/>
          </a:xfrm>
          <a:prstGeom prst="rect">
            <a:avLst/>
          </a:prstGeom>
        </p:spPr>
      </p:pic>
      <p:sp>
        <p:nvSpPr>
          <p:cNvPr id="59" name="Text 38"/>
          <p:cNvSpPr txBox="1"/>
          <p:nvPr/>
        </p:nvSpPr>
        <p:spPr>
          <a:xfrm>
            <a:off x="8759952" y="4590288"/>
            <a:ext cx="2788920" cy="274320"/>
          </a:xfrm>
          <a:prstGeom prst="rect">
            <a:avLst/>
          </a:prstGeom>
          <a:noFill/>
          <a:ln/>
        </p:spPr>
        <p:txBody>
          <a:bodyPr wrap="square" lIns="0" tIns="0" rIns="0" bIns="0" rtlCol="0" anchor="ctr"/>
          <a:lstStyle/>
          <a:p>
            <a:pPr indent="0" marL="0">
              <a:buNone/>
            </a:pPr>
            <a:r>
              <a:rPr lang="en-US" sz="1200" dirty="0">
                <a:solidFill>
                  <a:srgbClr val="1F2A3D"/>
                </a:solidFill>
                <a:latin typeface="Poppins" pitchFamily="34" charset="0"/>
                <a:ea typeface="Poppins" pitchFamily="34" charset="-122"/>
                <a:cs typeface="Poppins" pitchFamily="34" charset="-120"/>
              </a:rPr>
              <a:t>Manage credit plans</a:t>
            </a:r>
            <a:endParaRPr lang="en-US" sz="1200" dirty="0"/>
          </a:p>
        </p:txBody>
      </p:sp>
      <p:sp>
        <p:nvSpPr>
          <p:cNvPr id="60" name="Shape 39"/>
          <p:cNvSpPr/>
          <p:nvPr/>
        </p:nvSpPr>
        <p:spPr>
          <a:xfrm>
            <a:off x="457200" y="5394960"/>
            <a:ext cx="11274552" cy="914400"/>
          </a:xfrm>
          <a:prstGeom prst="roundRect">
            <a:avLst>
              <a:gd name="adj" fmla="val 16000"/>
            </a:avLst>
          </a:prstGeom>
          <a:solidFill>
            <a:srgbClr val="0B1930"/>
          </a:solidFill>
          <a:ln w="9525">
            <a:solidFill>
              <a:srgbClr val="0B1930"/>
            </a:solidFill>
            <a:prstDash val="solid"/>
          </a:ln>
          <a:effectLst>
            <a:outerShdw sx="100000" sy="100000" kx="0" ky="0" algn="bl" rotWithShape="0" blurRad="152400" dist="38100" dir="5400000">
              <a:srgbClr val="0B1930">
                <a:alpha val="12000"/>
              </a:srgbClr>
            </a:outerShdw>
          </a:effectLst>
        </p:spPr>
      </p:sp>
      <p:sp>
        <p:nvSpPr>
          <p:cNvPr id="61" name="Shape 40"/>
          <p:cNvSpPr/>
          <p:nvPr/>
        </p:nvSpPr>
        <p:spPr>
          <a:xfrm>
            <a:off x="685800" y="5623560"/>
            <a:ext cx="457200" cy="457200"/>
          </a:xfrm>
          <a:prstGeom prst="ellipse">
            <a:avLst/>
          </a:prstGeom>
          <a:solidFill>
            <a:srgbClr val="12AEA4"/>
          </a:solidFill>
          <a:ln/>
        </p:spPr>
      </p:sp>
      <p:pic>
        <p:nvPicPr>
          <p:cNvPr id="62" name="Image 19" descr="preencoded.png">    </p:cNvPr>
          <p:cNvPicPr>
            <a:picLocks noChangeAspect="1"/>
          </p:cNvPicPr>
          <p:nvPr/>
        </p:nvPicPr>
        <p:blipFill>
          <a:blip r:embed="rId21"/>
          <a:stretch>
            <a:fillRect/>
          </a:stretch>
        </p:blipFill>
        <p:spPr>
          <a:xfrm>
            <a:off x="800100" y="5737860"/>
            <a:ext cx="228600" cy="228600"/>
          </a:xfrm>
          <a:prstGeom prst="rect">
            <a:avLst/>
          </a:prstGeom>
        </p:spPr>
      </p:pic>
      <p:sp>
        <p:nvSpPr>
          <p:cNvPr id="63" name="Text 41"/>
          <p:cNvSpPr txBox="1"/>
          <p:nvPr/>
        </p:nvSpPr>
        <p:spPr>
          <a:xfrm>
            <a:off x="1280160" y="5532120"/>
            <a:ext cx="2194560" cy="365760"/>
          </a:xfrm>
          <a:prstGeom prst="rect">
            <a:avLst/>
          </a:prstGeom>
          <a:noFill/>
          <a:ln/>
        </p:spPr>
        <p:txBody>
          <a:bodyPr wrap="square" lIns="0" tIns="0" rIns="0" bIns="0" rtlCol="0" anchor="ctr"/>
          <a:lstStyle/>
          <a:p>
            <a:pPr indent="0" marL="0">
              <a:buNone/>
            </a:pPr>
            <a:r>
              <a:rPr lang="en-US" sz="1250" b="1" dirty="0">
                <a:solidFill>
                  <a:srgbClr val="FFFFFF"/>
                </a:solidFill>
                <a:latin typeface="Poppins" pitchFamily="34" charset="0"/>
                <a:ea typeface="Poppins" pitchFamily="34" charset="-122"/>
                <a:cs typeface="Poppins" pitchFamily="34" charset="-120"/>
              </a:rPr>
              <a:t>Role-Based Access</a:t>
            </a:r>
            <a:endParaRPr lang="en-US" sz="1250" dirty="0"/>
          </a:p>
        </p:txBody>
      </p:sp>
      <p:sp>
        <p:nvSpPr>
          <p:cNvPr id="64" name="Text 42"/>
          <p:cNvSpPr txBox="1"/>
          <p:nvPr/>
        </p:nvSpPr>
        <p:spPr>
          <a:xfrm>
            <a:off x="1280160" y="5870448"/>
            <a:ext cx="2194560" cy="274320"/>
          </a:xfrm>
          <a:prstGeom prst="rect">
            <a:avLst/>
          </a:prstGeom>
          <a:noFill/>
          <a:ln/>
        </p:spPr>
        <p:txBody>
          <a:bodyPr wrap="square" lIns="0" tIns="0" rIns="0" bIns="0" rtlCol="0" anchor="t"/>
          <a:lstStyle/>
          <a:p>
            <a:pPr indent="0" marL="0">
              <a:buNone/>
            </a:pPr>
            <a:r>
              <a:rPr lang="en-US" sz="900" dirty="0">
                <a:solidFill>
                  <a:srgbClr val="A9B7CC"/>
                </a:solidFill>
                <a:latin typeface="Poppins" pitchFamily="34" charset="0"/>
                <a:ea typeface="Poppins" pitchFamily="34" charset="-122"/>
                <a:cs typeface="Poppins" pitchFamily="34" charset="-120"/>
              </a:rPr>
              <a:t>Separate view per role</a:t>
            </a:r>
            <a:endParaRPr lang="en-US" sz="900" dirty="0"/>
          </a:p>
        </p:txBody>
      </p:sp>
      <p:sp>
        <p:nvSpPr>
          <p:cNvPr id="65" name="Text 43"/>
          <p:cNvSpPr txBox="1"/>
          <p:nvPr/>
        </p:nvSpPr>
        <p:spPr>
          <a:xfrm>
            <a:off x="3429000" y="5669280"/>
            <a:ext cx="2286000" cy="457200"/>
          </a:xfrm>
          <a:prstGeom prst="roundRect">
            <a:avLst>
              <a:gd name="adj" fmla="val 50000"/>
            </a:avLst>
          </a:prstGeom>
          <a:solidFill>
            <a:srgbClr val="12AEA4">
              <a:alpha val="85000"/>
            </a:srgbClr>
          </a:solid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Client Dashboard</a:t>
            </a:r>
            <a:endParaRPr lang="en-US" sz="1050" dirty="0"/>
          </a:p>
        </p:txBody>
      </p:sp>
      <p:sp>
        <p:nvSpPr>
          <p:cNvPr id="66" name="Shape 44"/>
          <p:cNvSpPr/>
          <p:nvPr/>
        </p:nvSpPr>
        <p:spPr>
          <a:xfrm>
            <a:off x="5806440" y="5715000"/>
            <a:ext cx="365760" cy="365760"/>
          </a:xfrm>
          <a:prstGeom prst="ellipse">
            <a:avLst/>
          </a:prstGeom>
          <a:solidFill>
            <a:srgbClr val="FFFFFF">
              <a:alpha val="12000"/>
            </a:srgbClr>
          </a:solidFill>
          <a:ln/>
        </p:spPr>
      </p:sp>
      <p:sp>
        <p:nvSpPr>
          <p:cNvPr id="67" name="Text 45"/>
          <p:cNvSpPr txBox="1"/>
          <p:nvPr/>
        </p:nvSpPr>
        <p:spPr>
          <a:xfrm>
            <a:off x="5806440" y="57150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68" name="Text 46"/>
          <p:cNvSpPr txBox="1"/>
          <p:nvPr/>
        </p:nvSpPr>
        <p:spPr>
          <a:xfrm>
            <a:off x="6263640" y="5669280"/>
            <a:ext cx="2286000" cy="457200"/>
          </a:xfrm>
          <a:prstGeom prst="roundRect">
            <a:avLst>
              <a:gd name="adj" fmla="val 50000"/>
            </a:avLst>
          </a:prstGeom>
          <a:solidFill>
            <a:srgbClr val="F79330">
              <a:alpha val="85000"/>
            </a:srgbClr>
          </a:solid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Freelancer Dashboard</a:t>
            </a:r>
            <a:endParaRPr lang="en-US" sz="1050" dirty="0"/>
          </a:p>
        </p:txBody>
      </p:sp>
      <p:sp>
        <p:nvSpPr>
          <p:cNvPr id="69" name="Shape 47"/>
          <p:cNvSpPr/>
          <p:nvPr/>
        </p:nvSpPr>
        <p:spPr>
          <a:xfrm>
            <a:off x="8641080" y="5715000"/>
            <a:ext cx="365760" cy="365760"/>
          </a:xfrm>
          <a:prstGeom prst="ellipse">
            <a:avLst/>
          </a:prstGeom>
          <a:solidFill>
            <a:srgbClr val="FFFFFF">
              <a:alpha val="12000"/>
            </a:srgbClr>
          </a:solidFill>
          <a:ln/>
        </p:spPr>
      </p:sp>
      <p:sp>
        <p:nvSpPr>
          <p:cNvPr id="70" name="Text 48"/>
          <p:cNvSpPr txBox="1"/>
          <p:nvPr/>
        </p:nvSpPr>
        <p:spPr>
          <a:xfrm>
            <a:off x="8641080" y="57150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71" name="Text 49"/>
          <p:cNvSpPr txBox="1"/>
          <p:nvPr/>
        </p:nvSpPr>
        <p:spPr>
          <a:xfrm>
            <a:off x="9098280" y="5669280"/>
            <a:ext cx="2286000" cy="457200"/>
          </a:xfrm>
          <a:prstGeom prst="roundRect">
            <a:avLst>
              <a:gd name="adj" fmla="val 50000"/>
            </a:avLst>
          </a:prstGeom>
          <a:solidFill>
            <a:srgbClr val="EF5B59">
              <a:alpha val="85000"/>
            </a:srgbClr>
          </a:solid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Admin Dashboard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KEY FEATURES</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5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05</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Key Features</a:t>
            </a:r>
            <a:endParaRPr lang="en-US" sz="3000" dirty="0"/>
          </a:p>
        </p:txBody>
      </p:sp>
      <p:sp>
        <p:nvSpPr>
          <p:cNvPr id="9" name="Shape 6"/>
          <p:cNvSpPr/>
          <p:nvPr/>
        </p:nvSpPr>
        <p:spPr>
          <a:xfrm>
            <a:off x="457200" y="1554480"/>
            <a:ext cx="5504688" cy="1069848"/>
          </a:xfrm>
          <a:prstGeom prst="roundRect">
            <a:avLst>
              <a:gd name="adj" fmla="val 1196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Shape 7"/>
          <p:cNvSpPr/>
          <p:nvPr/>
        </p:nvSpPr>
        <p:spPr>
          <a:xfrm>
            <a:off x="685800" y="1773936"/>
            <a:ext cx="640080" cy="64008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11" name="Image 1" descr="preencoded.png">    </p:cNvPr>
          <p:cNvPicPr>
            <a:picLocks noChangeAspect="1"/>
          </p:cNvPicPr>
          <p:nvPr/>
        </p:nvPicPr>
        <p:blipFill>
          <a:blip r:embed="rId3"/>
          <a:stretch>
            <a:fillRect/>
          </a:stretch>
        </p:blipFill>
        <p:spPr>
          <a:xfrm>
            <a:off x="852221" y="1940357"/>
            <a:ext cx="307238" cy="307238"/>
          </a:xfrm>
          <a:prstGeom prst="rect">
            <a:avLst/>
          </a:prstGeom>
        </p:spPr>
      </p:pic>
      <p:sp>
        <p:nvSpPr>
          <p:cNvPr id="12" name="Text 8"/>
          <p:cNvSpPr txBox="1"/>
          <p:nvPr/>
        </p:nvSpPr>
        <p:spPr>
          <a:xfrm>
            <a:off x="1536192" y="1673352"/>
            <a:ext cx="3493008" cy="310896"/>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Landing Page</a:t>
            </a:r>
            <a:endParaRPr lang="en-US" sz="1350" dirty="0"/>
          </a:p>
        </p:txBody>
      </p:sp>
      <p:sp>
        <p:nvSpPr>
          <p:cNvPr id="13" name="Text 9"/>
          <p:cNvSpPr txBox="1"/>
          <p:nvPr/>
        </p:nvSpPr>
        <p:spPr>
          <a:xfrm>
            <a:off x="1536192" y="2011680"/>
            <a:ext cx="4133088" cy="566928"/>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Hero section, categories, trending content, testimonials, partners and articles.</a:t>
            </a:r>
            <a:endParaRPr lang="en-US" sz="1050" dirty="0"/>
          </a:p>
        </p:txBody>
      </p:sp>
      <p:sp>
        <p:nvSpPr>
          <p:cNvPr id="14" name="Text 10"/>
          <p:cNvSpPr txBox="1"/>
          <p:nvPr/>
        </p:nvSpPr>
        <p:spPr>
          <a:xfrm>
            <a:off x="5093208" y="1645920"/>
            <a:ext cx="685800" cy="457200"/>
          </a:xfrm>
          <a:prstGeom prst="rect">
            <a:avLst/>
          </a:prstGeom>
          <a:noFill/>
          <a:ln/>
        </p:spPr>
        <p:txBody>
          <a:bodyPr wrap="square" lIns="0" tIns="0" rIns="0" bIns="0" rtlCol="0" anchor="ctr"/>
          <a:lstStyle/>
          <a:p>
            <a:pPr algn="r" indent="0" marL="0">
              <a:buNone/>
            </a:pPr>
            <a:r>
              <a:rPr lang="en-US" sz="2200" b="1" dirty="0">
                <a:solidFill>
                  <a:srgbClr val="CBD5E4"/>
                </a:solidFill>
                <a:latin typeface="Poppins" pitchFamily="34" charset="0"/>
                <a:ea typeface="Poppins" pitchFamily="34" charset="-122"/>
                <a:cs typeface="Poppins" pitchFamily="34" charset="-120"/>
              </a:rPr>
              <a:t>01</a:t>
            </a:r>
            <a:endParaRPr lang="en-US" sz="2200" dirty="0"/>
          </a:p>
        </p:txBody>
      </p:sp>
      <p:sp>
        <p:nvSpPr>
          <p:cNvPr id="15" name="Shape 11"/>
          <p:cNvSpPr/>
          <p:nvPr/>
        </p:nvSpPr>
        <p:spPr>
          <a:xfrm>
            <a:off x="6227064" y="1554480"/>
            <a:ext cx="5504688" cy="1069848"/>
          </a:xfrm>
          <a:prstGeom prst="roundRect">
            <a:avLst>
              <a:gd name="adj" fmla="val 1196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6" name="Shape 12"/>
          <p:cNvSpPr/>
          <p:nvPr/>
        </p:nvSpPr>
        <p:spPr>
          <a:xfrm>
            <a:off x="6455664" y="1773936"/>
            <a:ext cx="640080" cy="64008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17" name="Image 2" descr="preencoded.png">    </p:cNvPr>
          <p:cNvPicPr>
            <a:picLocks noChangeAspect="1"/>
          </p:cNvPicPr>
          <p:nvPr/>
        </p:nvPicPr>
        <p:blipFill>
          <a:blip r:embed="rId4"/>
          <a:stretch>
            <a:fillRect/>
          </a:stretch>
        </p:blipFill>
        <p:spPr>
          <a:xfrm>
            <a:off x="6622085" y="1940357"/>
            <a:ext cx="307238" cy="307238"/>
          </a:xfrm>
          <a:prstGeom prst="rect">
            <a:avLst/>
          </a:prstGeom>
        </p:spPr>
      </p:pic>
      <p:sp>
        <p:nvSpPr>
          <p:cNvPr id="18" name="Text 13"/>
          <p:cNvSpPr txBox="1"/>
          <p:nvPr/>
        </p:nvSpPr>
        <p:spPr>
          <a:xfrm>
            <a:off x="7306056" y="1673352"/>
            <a:ext cx="3493008" cy="310896"/>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Authentication</a:t>
            </a:r>
            <a:endParaRPr lang="en-US" sz="1350" dirty="0"/>
          </a:p>
        </p:txBody>
      </p:sp>
      <p:sp>
        <p:nvSpPr>
          <p:cNvPr id="19" name="Text 14"/>
          <p:cNvSpPr txBox="1"/>
          <p:nvPr/>
        </p:nvSpPr>
        <p:spPr>
          <a:xfrm>
            <a:off x="7306056" y="2011680"/>
            <a:ext cx="4133088" cy="566928"/>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Registration, login and email OTP verification.</a:t>
            </a:r>
            <a:endParaRPr lang="en-US" sz="1050" dirty="0"/>
          </a:p>
        </p:txBody>
      </p:sp>
      <p:sp>
        <p:nvSpPr>
          <p:cNvPr id="20" name="Text 15"/>
          <p:cNvSpPr txBox="1"/>
          <p:nvPr/>
        </p:nvSpPr>
        <p:spPr>
          <a:xfrm>
            <a:off x="10863072" y="1645920"/>
            <a:ext cx="685800" cy="457200"/>
          </a:xfrm>
          <a:prstGeom prst="rect">
            <a:avLst/>
          </a:prstGeom>
          <a:noFill/>
          <a:ln/>
        </p:spPr>
        <p:txBody>
          <a:bodyPr wrap="square" lIns="0" tIns="0" rIns="0" bIns="0" rtlCol="0" anchor="ctr"/>
          <a:lstStyle/>
          <a:p>
            <a:pPr algn="r" indent="0" marL="0">
              <a:buNone/>
            </a:pPr>
            <a:r>
              <a:rPr lang="en-US" sz="2200" b="1" dirty="0">
                <a:solidFill>
                  <a:srgbClr val="CBD5E4"/>
                </a:solidFill>
                <a:latin typeface="Poppins" pitchFamily="34" charset="0"/>
                <a:ea typeface="Poppins" pitchFamily="34" charset="-122"/>
                <a:cs typeface="Poppins" pitchFamily="34" charset="-120"/>
              </a:rPr>
              <a:t>02</a:t>
            </a:r>
            <a:endParaRPr lang="en-US" sz="2200" dirty="0"/>
          </a:p>
        </p:txBody>
      </p:sp>
      <p:sp>
        <p:nvSpPr>
          <p:cNvPr id="21" name="Shape 16"/>
          <p:cNvSpPr/>
          <p:nvPr/>
        </p:nvSpPr>
        <p:spPr>
          <a:xfrm>
            <a:off x="457200" y="2779776"/>
            <a:ext cx="5504688" cy="1069848"/>
          </a:xfrm>
          <a:prstGeom prst="roundRect">
            <a:avLst>
              <a:gd name="adj" fmla="val 1196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2" name="Shape 17"/>
          <p:cNvSpPr/>
          <p:nvPr/>
        </p:nvSpPr>
        <p:spPr>
          <a:xfrm>
            <a:off x="685800" y="2999232"/>
            <a:ext cx="640080" cy="64008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23" name="Image 3" descr="preencoded.png">    </p:cNvPr>
          <p:cNvPicPr>
            <a:picLocks noChangeAspect="1"/>
          </p:cNvPicPr>
          <p:nvPr/>
        </p:nvPicPr>
        <p:blipFill>
          <a:blip r:embed="rId5"/>
          <a:stretch>
            <a:fillRect/>
          </a:stretch>
        </p:blipFill>
        <p:spPr>
          <a:xfrm>
            <a:off x="852221" y="3165653"/>
            <a:ext cx="307238" cy="307238"/>
          </a:xfrm>
          <a:prstGeom prst="rect">
            <a:avLst/>
          </a:prstGeom>
        </p:spPr>
      </p:pic>
      <p:sp>
        <p:nvSpPr>
          <p:cNvPr id="24" name="Text 18"/>
          <p:cNvSpPr txBox="1"/>
          <p:nvPr/>
        </p:nvSpPr>
        <p:spPr>
          <a:xfrm>
            <a:off x="1536192" y="2898648"/>
            <a:ext cx="3493008" cy="310896"/>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Project Creation</a:t>
            </a:r>
            <a:endParaRPr lang="en-US" sz="1350" dirty="0"/>
          </a:p>
        </p:txBody>
      </p:sp>
      <p:sp>
        <p:nvSpPr>
          <p:cNvPr id="25" name="Text 19"/>
          <p:cNvSpPr txBox="1"/>
          <p:nvPr/>
        </p:nvSpPr>
        <p:spPr>
          <a:xfrm>
            <a:off x="1536192" y="3236976"/>
            <a:ext cx="4133088" cy="566928"/>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Title, description, budget and duration.</a:t>
            </a:r>
            <a:endParaRPr lang="en-US" sz="1050" dirty="0"/>
          </a:p>
        </p:txBody>
      </p:sp>
      <p:sp>
        <p:nvSpPr>
          <p:cNvPr id="26" name="Text 20"/>
          <p:cNvSpPr txBox="1"/>
          <p:nvPr/>
        </p:nvSpPr>
        <p:spPr>
          <a:xfrm>
            <a:off x="5093208" y="2871216"/>
            <a:ext cx="685800" cy="457200"/>
          </a:xfrm>
          <a:prstGeom prst="rect">
            <a:avLst/>
          </a:prstGeom>
          <a:noFill/>
          <a:ln/>
        </p:spPr>
        <p:txBody>
          <a:bodyPr wrap="square" lIns="0" tIns="0" rIns="0" bIns="0" rtlCol="0" anchor="ctr"/>
          <a:lstStyle/>
          <a:p>
            <a:pPr algn="r" indent="0" marL="0">
              <a:buNone/>
            </a:pPr>
            <a:r>
              <a:rPr lang="en-US" sz="2200" b="1" dirty="0">
                <a:solidFill>
                  <a:srgbClr val="CBD5E4"/>
                </a:solidFill>
                <a:latin typeface="Poppins" pitchFamily="34" charset="0"/>
                <a:ea typeface="Poppins" pitchFamily="34" charset="-122"/>
                <a:cs typeface="Poppins" pitchFamily="34" charset="-120"/>
              </a:rPr>
              <a:t>03</a:t>
            </a:r>
            <a:endParaRPr lang="en-US" sz="2200" dirty="0"/>
          </a:p>
        </p:txBody>
      </p:sp>
      <p:sp>
        <p:nvSpPr>
          <p:cNvPr id="27" name="Shape 21"/>
          <p:cNvSpPr/>
          <p:nvPr/>
        </p:nvSpPr>
        <p:spPr>
          <a:xfrm>
            <a:off x="6227064" y="2779776"/>
            <a:ext cx="5504688" cy="1069848"/>
          </a:xfrm>
          <a:prstGeom prst="roundRect">
            <a:avLst>
              <a:gd name="adj" fmla="val 1196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8" name="Shape 22"/>
          <p:cNvSpPr/>
          <p:nvPr/>
        </p:nvSpPr>
        <p:spPr>
          <a:xfrm>
            <a:off x="6455664" y="2999232"/>
            <a:ext cx="640080" cy="64008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29" name="Image 4" descr="preencoded.png">    </p:cNvPr>
          <p:cNvPicPr>
            <a:picLocks noChangeAspect="1"/>
          </p:cNvPicPr>
          <p:nvPr/>
        </p:nvPicPr>
        <p:blipFill>
          <a:blip r:embed="rId6"/>
          <a:stretch>
            <a:fillRect/>
          </a:stretch>
        </p:blipFill>
        <p:spPr>
          <a:xfrm>
            <a:off x="6622085" y="3165653"/>
            <a:ext cx="307238" cy="307238"/>
          </a:xfrm>
          <a:prstGeom prst="rect">
            <a:avLst/>
          </a:prstGeom>
        </p:spPr>
      </p:pic>
      <p:sp>
        <p:nvSpPr>
          <p:cNvPr id="30" name="Text 23"/>
          <p:cNvSpPr txBox="1"/>
          <p:nvPr/>
        </p:nvSpPr>
        <p:spPr>
          <a:xfrm>
            <a:off x="7306056" y="2898648"/>
            <a:ext cx="3493008" cy="310896"/>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Bidding System</a:t>
            </a:r>
            <a:endParaRPr lang="en-US" sz="1350" dirty="0"/>
          </a:p>
        </p:txBody>
      </p:sp>
      <p:sp>
        <p:nvSpPr>
          <p:cNvPr id="31" name="Text 24"/>
          <p:cNvSpPr txBox="1"/>
          <p:nvPr/>
        </p:nvSpPr>
        <p:spPr>
          <a:xfrm>
            <a:off x="7306056" y="3236976"/>
            <a:ext cx="4133088" cy="566928"/>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Browse open projects and submit bids.</a:t>
            </a:r>
            <a:endParaRPr lang="en-US" sz="1050" dirty="0"/>
          </a:p>
        </p:txBody>
      </p:sp>
      <p:sp>
        <p:nvSpPr>
          <p:cNvPr id="32" name="Text 25"/>
          <p:cNvSpPr txBox="1"/>
          <p:nvPr/>
        </p:nvSpPr>
        <p:spPr>
          <a:xfrm>
            <a:off x="10863072" y="2871216"/>
            <a:ext cx="685800" cy="457200"/>
          </a:xfrm>
          <a:prstGeom prst="rect">
            <a:avLst/>
          </a:prstGeom>
          <a:noFill/>
          <a:ln/>
        </p:spPr>
        <p:txBody>
          <a:bodyPr wrap="square" lIns="0" tIns="0" rIns="0" bIns="0" rtlCol="0" anchor="ctr"/>
          <a:lstStyle/>
          <a:p>
            <a:pPr algn="r" indent="0" marL="0">
              <a:buNone/>
            </a:pPr>
            <a:r>
              <a:rPr lang="en-US" sz="2200" b="1" dirty="0">
                <a:solidFill>
                  <a:srgbClr val="CBD5E4"/>
                </a:solidFill>
                <a:latin typeface="Poppins" pitchFamily="34" charset="0"/>
                <a:ea typeface="Poppins" pitchFamily="34" charset="-122"/>
                <a:cs typeface="Poppins" pitchFamily="34" charset="-120"/>
              </a:rPr>
              <a:t>04</a:t>
            </a:r>
            <a:endParaRPr lang="en-US" sz="2200" dirty="0"/>
          </a:p>
        </p:txBody>
      </p:sp>
      <p:sp>
        <p:nvSpPr>
          <p:cNvPr id="33" name="Shape 26"/>
          <p:cNvSpPr/>
          <p:nvPr/>
        </p:nvSpPr>
        <p:spPr>
          <a:xfrm>
            <a:off x="457200" y="4005072"/>
            <a:ext cx="5504688" cy="1069848"/>
          </a:xfrm>
          <a:prstGeom prst="roundRect">
            <a:avLst>
              <a:gd name="adj" fmla="val 1196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4" name="Shape 27"/>
          <p:cNvSpPr/>
          <p:nvPr/>
        </p:nvSpPr>
        <p:spPr>
          <a:xfrm>
            <a:off x="685800" y="4224528"/>
            <a:ext cx="640080" cy="64008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35" name="Image 5" descr="preencoded.png">    </p:cNvPr>
          <p:cNvPicPr>
            <a:picLocks noChangeAspect="1"/>
          </p:cNvPicPr>
          <p:nvPr/>
        </p:nvPicPr>
        <p:blipFill>
          <a:blip r:embed="rId7"/>
          <a:stretch>
            <a:fillRect/>
          </a:stretch>
        </p:blipFill>
        <p:spPr>
          <a:xfrm>
            <a:off x="852221" y="4390949"/>
            <a:ext cx="307238" cy="307238"/>
          </a:xfrm>
          <a:prstGeom prst="rect">
            <a:avLst/>
          </a:prstGeom>
        </p:spPr>
      </p:pic>
      <p:sp>
        <p:nvSpPr>
          <p:cNvPr id="36" name="Text 28"/>
          <p:cNvSpPr txBox="1"/>
          <p:nvPr/>
        </p:nvSpPr>
        <p:spPr>
          <a:xfrm>
            <a:off x="1536192" y="4123944"/>
            <a:ext cx="3493008" cy="310896"/>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Dashboards</a:t>
            </a:r>
            <a:endParaRPr lang="en-US" sz="1350" dirty="0"/>
          </a:p>
        </p:txBody>
      </p:sp>
      <p:sp>
        <p:nvSpPr>
          <p:cNvPr id="37" name="Text 29"/>
          <p:cNvSpPr txBox="1"/>
          <p:nvPr/>
        </p:nvSpPr>
        <p:spPr>
          <a:xfrm>
            <a:off x="1536192" y="4462272"/>
            <a:ext cx="4133088" cy="566928"/>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Projects, bids, deals, credits and earnings KPIs.</a:t>
            </a:r>
            <a:endParaRPr lang="en-US" sz="1050" dirty="0"/>
          </a:p>
        </p:txBody>
      </p:sp>
      <p:sp>
        <p:nvSpPr>
          <p:cNvPr id="38" name="Text 30"/>
          <p:cNvSpPr txBox="1"/>
          <p:nvPr/>
        </p:nvSpPr>
        <p:spPr>
          <a:xfrm>
            <a:off x="5093208" y="4096512"/>
            <a:ext cx="685800" cy="457200"/>
          </a:xfrm>
          <a:prstGeom prst="rect">
            <a:avLst/>
          </a:prstGeom>
          <a:noFill/>
          <a:ln/>
        </p:spPr>
        <p:txBody>
          <a:bodyPr wrap="square" lIns="0" tIns="0" rIns="0" bIns="0" rtlCol="0" anchor="ctr"/>
          <a:lstStyle/>
          <a:p>
            <a:pPr algn="r" indent="0" marL="0">
              <a:buNone/>
            </a:pPr>
            <a:r>
              <a:rPr lang="en-US" sz="2200" b="1" dirty="0">
                <a:solidFill>
                  <a:srgbClr val="CBD5E4"/>
                </a:solidFill>
                <a:latin typeface="Poppins" pitchFamily="34" charset="0"/>
                <a:ea typeface="Poppins" pitchFamily="34" charset="-122"/>
                <a:cs typeface="Poppins" pitchFamily="34" charset="-120"/>
              </a:rPr>
              <a:t>05</a:t>
            </a:r>
            <a:endParaRPr lang="en-US" sz="2200" dirty="0"/>
          </a:p>
        </p:txBody>
      </p:sp>
      <p:sp>
        <p:nvSpPr>
          <p:cNvPr id="39" name="Shape 31"/>
          <p:cNvSpPr/>
          <p:nvPr/>
        </p:nvSpPr>
        <p:spPr>
          <a:xfrm>
            <a:off x="6227064" y="4005072"/>
            <a:ext cx="5504688" cy="1069848"/>
          </a:xfrm>
          <a:prstGeom prst="roundRect">
            <a:avLst>
              <a:gd name="adj" fmla="val 1196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0" name="Shape 32"/>
          <p:cNvSpPr/>
          <p:nvPr/>
        </p:nvSpPr>
        <p:spPr>
          <a:xfrm>
            <a:off x="6455664" y="4224528"/>
            <a:ext cx="640080" cy="64008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41" name="Image 6" descr="preencoded.png">    </p:cNvPr>
          <p:cNvPicPr>
            <a:picLocks noChangeAspect="1"/>
          </p:cNvPicPr>
          <p:nvPr/>
        </p:nvPicPr>
        <p:blipFill>
          <a:blip r:embed="rId8"/>
          <a:stretch>
            <a:fillRect/>
          </a:stretch>
        </p:blipFill>
        <p:spPr>
          <a:xfrm>
            <a:off x="6622085" y="4390949"/>
            <a:ext cx="307238" cy="307238"/>
          </a:xfrm>
          <a:prstGeom prst="rect">
            <a:avLst/>
          </a:prstGeom>
        </p:spPr>
      </p:pic>
      <p:sp>
        <p:nvSpPr>
          <p:cNvPr id="42" name="Text 33"/>
          <p:cNvSpPr txBox="1"/>
          <p:nvPr/>
        </p:nvSpPr>
        <p:spPr>
          <a:xfrm>
            <a:off x="7306056" y="4123944"/>
            <a:ext cx="3493008" cy="310896"/>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Plans &amp; Credits</a:t>
            </a:r>
            <a:endParaRPr lang="en-US" sz="1350" dirty="0"/>
          </a:p>
        </p:txBody>
      </p:sp>
      <p:sp>
        <p:nvSpPr>
          <p:cNvPr id="43" name="Text 34"/>
          <p:cNvSpPr txBox="1"/>
          <p:nvPr/>
        </p:nvSpPr>
        <p:spPr>
          <a:xfrm>
            <a:off x="7306056" y="4462272"/>
            <a:ext cx="4133088" cy="566928"/>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Freelancer plans provide bidding credits.</a:t>
            </a:r>
            <a:endParaRPr lang="en-US" sz="1050" dirty="0"/>
          </a:p>
        </p:txBody>
      </p:sp>
      <p:sp>
        <p:nvSpPr>
          <p:cNvPr id="44" name="Text 35"/>
          <p:cNvSpPr txBox="1"/>
          <p:nvPr/>
        </p:nvSpPr>
        <p:spPr>
          <a:xfrm>
            <a:off x="10863072" y="4096512"/>
            <a:ext cx="685800" cy="457200"/>
          </a:xfrm>
          <a:prstGeom prst="rect">
            <a:avLst/>
          </a:prstGeom>
          <a:noFill/>
          <a:ln/>
        </p:spPr>
        <p:txBody>
          <a:bodyPr wrap="square" lIns="0" tIns="0" rIns="0" bIns="0" rtlCol="0" anchor="ctr"/>
          <a:lstStyle/>
          <a:p>
            <a:pPr algn="r" indent="0" marL="0">
              <a:buNone/>
            </a:pPr>
            <a:r>
              <a:rPr lang="en-US" sz="2200" b="1" dirty="0">
                <a:solidFill>
                  <a:srgbClr val="CBD5E4"/>
                </a:solidFill>
                <a:latin typeface="Poppins" pitchFamily="34" charset="0"/>
                <a:ea typeface="Poppins" pitchFamily="34" charset="-122"/>
                <a:cs typeface="Poppins" pitchFamily="34" charset="-120"/>
              </a:rPr>
              <a:t>06</a:t>
            </a:r>
            <a:endParaRPr lang="en-US" sz="2200" dirty="0"/>
          </a:p>
        </p:txBody>
      </p:sp>
      <p:sp>
        <p:nvSpPr>
          <p:cNvPr id="45" name="Shape 36"/>
          <p:cNvSpPr/>
          <p:nvPr/>
        </p:nvSpPr>
        <p:spPr>
          <a:xfrm>
            <a:off x="457200" y="5230368"/>
            <a:ext cx="5504688" cy="1069848"/>
          </a:xfrm>
          <a:prstGeom prst="roundRect">
            <a:avLst>
              <a:gd name="adj" fmla="val 1196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6" name="Shape 37"/>
          <p:cNvSpPr/>
          <p:nvPr/>
        </p:nvSpPr>
        <p:spPr>
          <a:xfrm>
            <a:off x="685800" y="5449824"/>
            <a:ext cx="640080" cy="64008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47" name="Image 7" descr="preencoded.png">    </p:cNvPr>
          <p:cNvPicPr>
            <a:picLocks noChangeAspect="1"/>
          </p:cNvPicPr>
          <p:nvPr/>
        </p:nvPicPr>
        <p:blipFill>
          <a:blip r:embed="rId9"/>
          <a:stretch>
            <a:fillRect/>
          </a:stretch>
        </p:blipFill>
        <p:spPr>
          <a:xfrm>
            <a:off x="852221" y="5616245"/>
            <a:ext cx="307238" cy="307238"/>
          </a:xfrm>
          <a:prstGeom prst="rect">
            <a:avLst/>
          </a:prstGeom>
        </p:spPr>
      </p:pic>
      <p:sp>
        <p:nvSpPr>
          <p:cNvPr id="48" name="Text 38"/>
          <p:cNvSpPr txBox="1"/>
          <p:nvPr/>
        </p:nvSpPr>
        <p:spPr>
          <a:xfrm>
            <a:off x="1536192" y="5349240"/>
            <a:ext cx="3493008" cy="310896"/>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Admin Panel</a:t>
            </a:r>
            <a:endParaRPr lang="en-US" sz="1350" dirty="0"/>
          </a:p>
        </p:txBody>
      </p:sp>
      <p:sp>
        <p:nvSpPr>
          <p:cNvPr id="49" name="Text 39"/>
          <p:cNvSpPr txBox="1"/>
          <p:nvPr/>
        </p:nvSpPr>
        <p:spPr>
          <a:xfrm>
            <a:off x="1536192" y="5687568"/>
            <a:ext cx="4133088" cy="566928"/>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Users, clients, projects, bids and plans.</a:t>
            </a:r>
            <a:endParaRPr lang="en-US" sz="1050" dirty="0"/>
          </a:p>
        </p:txBody>
      </p:sp>
      <p:sp>
        <p:nvSpPr>
          <p:cNvPr id="50" name="Text 40"/>
          <p:cNvSpPr txBox="1"/>
          <p:nvPr/>
        </p:nvSpPr>
        <p:spPr>
          <a:xfrm>
            <a:off x="5093208" y="5321808"/>
            <a:ext cx="685800" cy="457200"/>
          </a:xfrm>
          <a:prstGeom prst="rect">
            <a:avLst/>
          </a:prstGeom>
          <a:noFill/>
          <a:ln/>
        </p:spPr>
        <p:txBody>
          <a:bodyPr wrap="square" lIns="0" tIns="0" rIns="0" bIns="0" rtlCol="0" anchor="ctr"/>
          <a:lstStyle/>
          <a:p>
            <a:pPr algn="r" indent="0" marL="0">
              <a:buNone/>
            </a:pPr>
            <a:r>
              <a:rPr lang="en-US" sz="2200" b="1" dirty="0">
                <a:solidFill>
                  <a:srgbClr val="CBD5E4"/>
                </a:solidFill>
                <a:latin typeface="Poppins" pitchFamily="34" charset="0"/>
                <a:ea typeface="Poppins" pitchFamily="34" charset="-122"/>
                <a:cs typeface="Poppins" pitchFamily="34" charset="-120"/>
              </a:rPr>
              <a:t>07</a:t>
            </a:r>
            <a:endParaRPr lang="en-US" sz="2200" dirty="0"/>
          </a:p>
        </p:txBody>
      </p:sp>
      <p:sp>
        <p:nvSpPr>
          <p:cNvPr id="51" name="Shape 41"/>
          <p:cNvSpPr/>
          <p:nvPr/>
        </p:nvSpPr>
        <p:spPr>
          <a:xfrm>
            <a:off x="6227064" y="5230368"/>
            <a:ext cx="5504688" cy="1069848"/>
          </a:xfrm>
          <a:prstGeom prst="roundRect">
            <a:avLst>
              <a:gd name="adj" fmla="val 1196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52" name="Shape 42"/>
          <p:cNvSpPr/>
          <p:nvPr/>
        </p:nvSpPr>
        <p:spPr>
          <a:xfrm>
            <a:off x="6455664" y="5449824"/>
            <a:ext cx="640080" cy="64008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53" name="Image 8" descr="preencoded.png">    </p:cNvPr>
          <p:cNvPicPr>
            <a:picLocks noChangeAspect="1"/>
          </p:cNvPicPr>
          <p:nvPr/>
        </p:nvPicPr>
        <p:blipFill>
          <a:blip r:embed="rId10"/>
          <a:stretch>
            <a:fillRect/>
          </a:stretch>
        </p:blipFill>
        <p:spPr>
          <a:xfrm>
            <a:off x="6622085" y="5616245"/>
            <a:ext cx="307238" cy="307238"/>
          </a:xfrm>
          <a:prstGeom prst="rect">
            <a:avLst/>
          </a:prstGeom>
        </p:spPr>
      </p:pic>
      <p:sp>
        <p:nvSpPr>
          <p:cNvPr id="54" name="Text 43"/>
          <p:cNvSpPr txBox="1"/>
          <p:nvPr/>
        </p:nvSpPr>
        <p:spPr>
          <a:xfrm>
            <a:off x="7306056" y="5349240"/>
            <a:ext cx="3493008" cy="310896"/>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Responsive UI</a:t>
            </a:r>
            <a:endParaRPr lang="en-US" sz="1350" dirty="0"/>
          </a:p>
        </p:txBody>
      </p:sp>
      <p:sp>
        <p:nvSpPr>
          <p:cNvPr id="55" name="Text 44"/>
          <p:cNvSpPr txBox="1"/>
          <p:nvPr/>
        </p:nvSpPr>
        <p:spPr>
          <a:xfrm>
            <a:off x="7306056" y="5687568"/>
            <a:ext cx="4133088" cy="566928"/>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Bootstrap components and React Icons.</a:t>
            </a:r>
            <a:endParaRPr lang="en-US" sz="1050" dirty="0"/>
          </a:p>
        </p:txBody>
      </p:sp>
      <p:sp>
        <p:nvSpPr>
          <p:cNvPr id="56" name="Text 45"/>
          <p:cNvSpPr txBox="1"/>
          <p:nvPr/>
        </p:nvSpPr>
        <p:spPr>
          <a:xfrm>
            <a:off x="10863072" y="5321808"/>
            <a:ext cx="685800" cy="457200"/>
          </a:xfrm>
          <a:prstGeom prst="rect">
            <a:avLst/>
          </a:prstGeom>
          <a:noFill/>
          <a:ln/>
        </p:spPr>
        <p:txBody>
          <a:bodyPr wrap="square" lIns="0" tIns="0" rIns="0" bIns="0" rtlCol="0" anchor="ctr"/>
          <a:lstStyle/>
          <a:p>
            <a:pPr algn="r" indent="0" marL="0">
              <a:buNone/>
            </a:pPr>
            <a:r>
              <a:rPr lang="en-US" sz="2200" b="1" dirty="0">
                <a:solidFill>
                  <a:srgbClr val="CBD5E4"/>
                </a:solidFill>
                <a:latin typeface="Poppins" pitchFamily="34" charset="0"/>
                <a:ea typeface="Poppins" pitchFamily="34" charset="-122"/>
                <a:cs typeface="Poppins" pitchFamily="34" charset="-120"/>
              </a:rPr>
              <a:t>08</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TECHNOLOGY STACK</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6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06</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Technology Stack</a:t>
            </a:r>
            <a:endParaRPr lang="en-US" sz="3000" dirty="0"/>
          </a:p>
        </p:txBody>
      </p:sp>
      <p:sp>
        <p:nvSpPr>
          <p:cNvPr id="9" name="Shape 6"/>
          <p:cNvSpPr/>
          <p:nvPr/>
        </p:nvSpPr>
        <p:spPr>
          <a:xfrm>
            <a:off x="457200" y="1554480"/>
            <a:ext cx="4526280" cy="4114800"/>
          </a:xfrm>
          <a:prstGeom prst="roundRect">
            <a:avLst>
              <a:gd name="adj" fmla="val 3111"/>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Shape 7"/>
          <p:cNvSpPr/>
          <p:nvPr/>
        </p:nvSpPr>
        <p:spPr>
          <a:xfrm>
            <a:off x="685800" y="1691640"/>
            <a:ext cx="512064" cy="512064"/>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11" name="Image 1" descr="preencoded.png">    </p:cNvPr>
          <p:cNvPicPr>
            <a:picLocks noChangeAspect="1"/>
          </p:cNvPicPr>
          <p:nvPr/>
        </p:nvPicPr>
        <p:blipFill>
          <a:blip r:embed="rId3"/>
          <a:stretch>
            <a:fillRect/>
          </a:stretch>
        </p:blipFill>
        <p:spPr>
          <a:xfrm>
            <a:off x="813816" y="1819656"/>
            <a:ext cx="256032" cy="256032"/>
          </a:xfrm>
          <a:prstGeom prst="rect">
            <a:avLst/>
          </a:prstGeom>
        </p:spPr>
      </p:pic>
      <p:sp>
        <p:nvSpPr>
          <p:cNvPr id="12" name="Text 8"/>
          <p:cNvSpPr txBox="1"/>
          <p:nvPr/>
        </p:nvSpPr>
        <p:spPr>
          <a:xfrm>
            <a:off x="1371600" y="1691640"/>
            <a:ext cx="3520440" cy="274320"/>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FRONTEND</a:t>
            </a:r>
            <a:endParaRPr lang="en-US" sz="1350" dirty="0"/>
          </a:p>
        </p:txBody>
      </p:sp>
      <p:sp>
        <p:nvSpPr>
          <p:cNvPr id="13" name="Text 9"/>
          <p:cNvSpPr txBox="1"/>
          <p:nvPr/>
        </p:nvSpPr>
        <p:spPr>
          <a:xfrm>
            <a:off x="1371600" y="1984248"/>
            <a:ext cx="3520440" cy="228600"/>
          </a:xfrm>
          <a:prstGeom prst="rect">
            <a:avLst/>
          </a:prstGeom>
          <a:noFill/>
          <a:ln/>
        </p:spPr>
        <p:txBody>
          <a:bodyPr wrap="square" lIns="0" tIns="0" rIns="0" bIns="0" rtlCol="0" anchor="t"/>
          <a:lstStyle/>
          <a:p>
            <a:pPr indent="0" marL="0">
              <a:buNone/>
            </a:pPr>
            <a:r>
              <a:rPr lang="en-US" sz="900" b="1" dirty="0">
                <a:solidFill>
                  <a:srgbClr val="12AEA4"/>
                </a:solidFill>
                <a:latin typeface="Poppins" pitchFamily="34" charset="0"/>
                <a:ea typeface="Poppins" pitchFamily="34" charset="-122"/>
                <a:cs typeface="Poppins" pitchFamily="34" charset="-120"/>
              </a:rPr>
              <a:t>What the user sees</a:t>
            </a:r>
            <a:endParaRPr lang="en-US" sz="900" dirty="0"/>
          </a:p>
        </p:txBody>
      </p:sp>
      <p:sp>
        <p:nvSpPr>
          <p:cNvPr id="14" name="Shape 10"/>
          <p:cNvSpPr/>
          <p:nvPr/>
        </p:nvSpPr>
        <p:spPr>
          <a:xfrm>
            <a:off x="685800" y="2468880"/>
            <a:ext cx="1979676" cy="512064"/>
          </a:xfrm>
          <a:prstGeom prst="roundRect">
            <a:avLst>
              <a:gd name="adj" fmla="val 17857"/>
            </a:avLst>
          </a:prstGeom>
          <a:solidFill>
            <a:srgbClr val="F3F6FA"/>
          </a:solidFill>
          <a:ln w="9525">
            <a:solidFill>
              <a:srgbClr val="E3E9F1"/>
            </a:solidFill>
            <a:prstDash val="solid"/>
          </a:ln>
        </p:spPr>
      </p:sp>
      <p:pic>
        <p:nvPicPr>
          <p:cNvPr id="15" name="Image 2" descr="preencoded.png">    </p:cNvPr>
          <p:cNvPicPr>
            <a:picLocks noChangeAspect="1"/>
          </p:cNvPicPr>
          <p:nvPr/>
        </p:nvPicPr>
        <p:blipFill>
          <a:blip r:embed="rId4"/>
          <a:stretch>
            <a:fillRect/>
          </a:stretch>
        </p:blipFill>
        <p:spPr>
          <a:xfrm>
            <a:off x="813816" y="2596896"/>
            <a:ext cx="256032" cy="256032"/>
          </a:xfrm>
          <a:prstGeom prst="rect">
            <a:avLst/>
          </a:prstGeom>
        </p:spPr>
      </p:pic>
      <p:sp>
        <p:nvSpPr>
          <p:cNvPr id="16" name="Text 11"/>
          <p:cNvSpPr txBox="1"/>
          <p:nvPr/>
        </p:nvSpPr>
        <p:spPr>
          <a:xfrm>
            <a:off x="1161288" y="246888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React 19</a:t>
            </a:r>
            <a:endParaRPr lang="en-US" sz="1000" dirty="0"/>
          </a:p>
        </p:txBody>
      </p:sp>
      <p:sp>
        <p:nvSpPr>
          <p:cNvPr id="17" name="Shape 12"/>
          <p:cNvSpPr/>
          <p:nvPr/>
        </p:nvSpPr>
        <p:spPr>
          <a:xfrm>
            <a:off x="2775204" y="2468880"/>
            <a:ext cx="1979676" cy="512064"/>
          </a:xfrm>
          <a:prstGeom prst="roundRect">
            <a:avLst>
              <a:gd name="adj" fmla="val 17857"/>
            </a:avLst>
          </a:prstGeom>
          <a:solidFill>
            <a:srgbClr val="F3F6FA"/>
          </a:solidFill>
          <a:ln w="9525">
            <a:solidFill>
              <a:srgbClr val="E3E9F1"/>
            </a:solidFill>
            <a:prstDash val="solid"/>
          </a:ln>
        </p:spPr>
      </p:sp>
      <p:pic>
        <p:nvPicPr>
          <p:cNvPr id="18" name="Image 3" descr="preencoded.png">    </p:cNvPr>
          <p:cNvPicPr>
            <a:picLocks noChangeAspect="1"/>
          </p:cNvPicPr>
          <p:nvPr/>
        </p:nvPicPr>
        <p:blipFill>
          <a:blip r:embed="rId5"/>
          <a:stretch>
            <a:fillRect/>
          </a:stretch>
        </p:blipFill>
        <p:spPr>
          <a:xfrm>
            <a:off x="2903220" y="2596896"/>
            <a:ext cx="256032" cy="256032"/>
          </a:xfrm>
          <a:prstGeom prst="rect">
            <a:avLst/>
          </a:prstGeom>
        </p:spPr>
      </p:pic>
      <p:sp>
        <p:nvSpPr>
          <p:cNvPr id="19" name="Text 13"/>
          <p:cNvSpPr txBox="1"/>
          <p:nvPr/>
        </p:nvSpPr>
        <p:spPr>
          <a:xfrm>
            <a:off x="3250692" y="246888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Vite 8</a:t>
            </a:r>
            <a:endParaRPr lang="en-US" sz="1000" dirty="0"/>
          </a:p>
        </p:txBody>
      </p:sp>
      <p:sp>
        <p:nvSpPr>
          <p:cNvPr id="20" name="Shape 14"/>
          <p:cNvSpPr/>
          <p:nvPr/>
        </p:nvSpPr>
        <p:spPr>
          <a:xfrm>
            <a:off x="685800" y="3063240"/>
            <a:ext cx="1979676" cy="512064"/>
          </a:xfrm>
          <a:prstGeom prst="roundRect">
            <a:avLst>
              <a:gd name="adj" fmla="val 17857"/>
            </a:avLst>
          </a:prstGeom>
          <a:solidFill>
            <a:srgbClr val="F3F6FA"/>
          </a:solidFill>
          <a:ln w="9525">
            <a:solidFill>
              <a:srgbClr val="E3E9F1"/>
            </a:solidFill>
            <a:prstDash val="solid"/>
          </a:ln>
        </p:spPr>
      </p:sp>
      <p:pic>
        <p:nvPicPr>
          <p:cNvPr id="21" name="Image 4" descr="preencoded.png">    </p:cNvPr>
          <p:cNvPicPr>
            <a:picLocks noChangeAspect="1"/>
          </p:cNvPicPr>
          <p:nvPr/>
        </p:nvPicPr>
        <p:blipFill>
          <a:blip r:embed="rId6"/>
          <a:stretch>
            <a:fillRect/>
          </a:stretch>
        </p:blipFill>
        <p:spPr>
          <a:xfrm>
            <a:off x="813816" y="3191256"/>
            <a:ext cx="256032" cy="256032"/>
          </a:xfrm>
          <a:prstGeom prst="rect">
            <a:avLst/>
          </a:prstGeom>
        </p:spPr>
      </p:pic>
      <p:sp>
        <p:nvSpPr>
          <p:cNvPr id="22" name="Text 15"/>
          <p:cNvSpPr txBox="1"/>
          <p:nvPr/>
        </p:nvSpPr>
        <p:spPr>
          <a:xfrm>
            <a:off x="1161288" y="306324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React Router DOM</a:t>
            </a:r>
            <a:endParaRPr lang="en-US" sz="1000" dirty="0"/>
          </a:p>
        </p:txBody>
      </p:sp>
      <p:sp>
        <p:nvSpPr>
          <p:cNvPr id="23" name="Shape 16"/>
          <p:cNvSpPr/>
          <p:nvPr/>
        </p:nvSpPr>
        <p:spPr>
          <a:xfrm>
            <a:off x="2775204" y="3063240"/>
            <a:ext cx="1979676" cy="512064"/>
          </a:xfrm>
          <a:prstGeom prst="roundRect">
            <a:avLst>
              <a:gd name="adj" fmla="val 17857"/>
            </a:avLst>
          </a:prstGeom>
          <a:solidFill>
            <a:srgbClr val="F3F6FA"/>
          </a:solidFill>
          <a:ln w="9525">
            <a:solidFill>
              <a:srgbClr val="E3E9F1"/>
            </a:solidFill>
            <a:prstDash val="solid"/>
          </a:ln>
        </p:spPr>
      </p:sp>
      <p:pic>
        <p:nvPicPr>
          <p:cNvPr id="24" name="Image 5" descr="preencoded.png">    </p:cNvPr>
          <p:cNvPicPr>
            <a:picLocks noChangeAspect="1"/>
          </p:cNvPicPr>
          <p:nvPr/>
        </p:nvPicPr>
        <p:blipFill>
          <a:blip r:embed="rId7"/>
          <a:stretch>
            <a:fillRect/>
          </a:stretch>
        </p:blipFill>
        <p:spPr>
          <a:xfrm>
            <a:off x="2903220" y="3191256"/>
            <a:ext cx="256032" cy="256032"/>
          </a:xfrm>
          <a:prstGeom prst="rect">
            <a:avLst/>
          </a:prstGeom>
        </p:spPr>
      </p:pic>
      <p:sp>
        <p:nvSpPr>
          <p:cNvPr id="25" name="Text 17"/>
          <p:cNvSpPr txBox="1"/>
          <p:nvPr/>
        </p:nvSpPr>
        <p:spPr>
          <a:xfrm>
            <a:off x="3250692" y="306324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Axios</a:t>
            </a:r>
            <a:endParaRPr lang="en-US" sz="1000" dirty="0"/>
          </a:p>
        </p:txBody>
      </p:sp>
      <p:sp>
        <p:nvSpPr>
          <p:cNvPr id="26" name="Shape 18"/>
          <p:cNvSpPr/>
          <p:nvPr/>
        </p:nvSpPr>
        <p:spPr>
          <a:xfrm>
            <a:off x="685800" y="3657600"/>
            <a:ext cx="1979676" cy="512064"/>
          </a:xfrm>
          <a:prstGeom prst="roundRect">
            <a:avLst>
              <a:gd name="adj" fmla="val 17857"/>
            </a:avLst>
          </a:prstGeom>
          <a:solidFill>
            <a:srgbClr val="F3F6FA"/>
          </a:solidFill>
          <a:ln w="9525">
            <a:solidFill>
              <a:srgbClr val="E3E9F1"/>
            </a:solidFill>
            <a:prstDash val="solid"/>
          </a:ln>
        </p:spPr>
      </p:sp>
      <p:pic>
        <p:nvPicPr>
          <p:cNvPr id="27" name="Image 6" descr="preencoded.png">    </p:cNvPr>
          <p:cNvPicPr>
            <a:picLocks noChangeAspect="1"/>
          </p:cNvPicPr>
          <p:nvPr/>
        </p:nvPicPr>
        <p:blipFill>
          <a:blip r:embed="rId8"/>
          <a:stretch>
            <a:fillRect/>
          </a:stretch>
        </p:blipFill>
        <p:spPr>
          <a:xfrm>
            <a:off x="813816" y="3785616"/>
            <a:ext cx="256032" cy="256032"/>
          </a:xfrm>
          <a:prstGeom prst="rect">
            <a:avLst/>
          </a:prstGeom>
        </p:spPr>
      </p:pic>
      <p:sp>
        <p:nvSpPr>
          <p:cNvPr id="28" name="Text 19"/>
          <p:cNvSpPr txBox="1"/>
          <p:nvPr/>
        </p:nvSpPr>
        <p:spPr>
          <a:xfrm>
            <a:off x="1161288" y="365760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Bootstrap 5</a:t>
            </a:r>
            <a:endParaRPr lang="en-US" sz="1000" dirty="0"/>
          </a:p>
        </p:txBody>
      </p:sp>
      <p:sp>
        <p:nvSpPr>
          <p:cNvPr id="29" name="Shape 20"/>
          <p:cNvSpPr/>
          <p:nvPr/>
        </p:nvSpPr>
        <p:spPr>
          <a:xfrm>
            <a:off x="2775204" y="3657600"/>
            <a:ext cx="1979676" cy="512064"/>
          </a:xfrm>
          <a:prstGeom prst="roundRect">
            <a:avLst>
              <a:gd name="adj" fmla="val 17857"/>
            </a:avLst>
          </a:prstGeom>
          <a:solidFill>
            <a:srgbClr val="F3F6FA"/>
          </a:solidFill>
          <a:ln w="9525">
            <a:solidFill>
              <a:srgbClr val="E3E9F1"/>
            </a:solidFill>
            <a:prstDash val="solid"/>
          </a:ln>
        </p:spPr>
      </p:sp>
      <p:pic>
        <p:nvPicPr>
          <p:cNvPr id="30" name="Image 7" descr="preencoded.png">    </p:cNvPr>
          <p:cNvPicPr>
            <a:picLocks noChangeAspect="1"/>
          </p:cNvPicPr>
          <p:nvPr/>
        </p:nvPicPr>
        <p:blipFill>
          <a:blip r:embed="rId9"/>
          <a:stretch>
            <a:fillRect/>
          </a:stretch>
        </p:blipFill>
        <p:spPr>
          <a:xfrm>
            <a:off x="2903220" y="3785616"/>
            <a:ext cx="256032" cy="256032"/>
          </a:xfrm>
          <a:prstGeom prst="rect">
            <a:avLst/>
          </a:prstGeom>
        </p:spPr>
      </p:pic>
      <p:sp>
        <p:nvSpPr>
          <p:cNvPr id="31" name="Text 21"/>
          <p:cNvSpPr txBox="1"/>
          <p:nvPr/>
        </p:nvSpPr>
        <p:spPr>
          <a:xfrm>
            <a:off x="3250692" y="365760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React Icons</a:t>
            </a:r>
            <a:endParaRPr lang="en-US" sz="1000" dirty="0"/>
          </a:p>
        </p:txBody>
      </p:sp>
      <p:sp>
        <p:nvSpPr>
          <p:cNvPr id="32" name="Shape 22"/>
          <p:cNvSpPr/>
          <p:nvPr/>
        </p:nvSpPr>
        <p:spPr>
          <a:xfrm>
            <a:off x="685800" y="4251960"/>
            <a:ext cx="1979676" cy="512064"/>
          </a:xfrm>
          <a:prstGeom prst="roundRect">
            <a:avLst>
              <a:gd name="adj" fmla="val 17857"/>
            </a:avLst>
          </a:prstGeom>
          <a:solidFill>
            <a:srgbClr val="F3F6FA"/>
          </a:solidFill>
          <a:ln w="9525">
            <a:solidFill>
              <a:srgbClr val="E3E9F1"/>
            </a:solidFill>
            <a:prstDash val="solid"/>
          </a:ln>
        </p:spPr>
      </p:sp>
      <p:pic>
        <p:nvPicPr>
          <p:cNvPr id="33" name="Image 8" descr="preencoded.png">    </p:cNvPr>
          <p:cNvPicPr>
            <a:picLocks noChangeAspect="1"/>
          </p:cNvPicPr>
          <p:nvPr/>
        </p:nvPicPr>
        <p:blipFill>
          <a:blip r:embed="rId10"/>
          <a:stretch>
            <a:fillRect/>
          </a:stretch>
        </p:blipFill>
        <p:spPr>
          <a:xfrm>
            <a:off x="813816" y="4379976"/>
            <a:ext cx="256032" cy="256032"/>
          </a:xfrm>
          <a:prstGeom prst="rect">
            <a:avLst/>
          </a:prstGeom>
        </p:spPr>
      </p:pic>
      <p:sp>
        <p:nvSpPr>
          <p:cNvPr id="34" name="Text 23"/>
          <p:cNvSpPr txBox="1"/>
          <p:nvPr/>
        </p:nvSpPr>
        <p:spPr>
          <a:xfrm>
            <a:off x="1161288" y="425196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React Hook Form</a:t>
            </a:r>
            <a:endParaRPr lang="en-US" sz="1000" dirty="0"/>
          </a:p>
        </p:txBody>
      </p:sp>
      <p:sp>
        <p:nvSpPr>
          <p:cNvPr id="35" name="Shape 24"/>
          <p:cNvSpPr/>
          <p:nvPr/>
        </p:nvSpPr>
        <p:spPr>
          <a:xfrm>
            <a:off x="2775204" y="4251960"/>
            <a:ext cx="1979676" cy="512064"/>
          </a:xfrm>
          <a:prstGeom prst="roundRect">
            <a:avLst>
              <a:gd name="adj" fmla="val 17857"/>
            </a:avLst>
          </a:prstGeom>
          <a:solidFill>
            <a:srgbClr val="F3F6FA"/>
          </a:solidFill>
          <a:ln w="9525">
            <a:solidFill>
              <a:srgbClr val="E3E9F1"/>
            </a:solidFill>
            <a:prstDash val="solid"/>
          </a:ln>
        </p:spPr>
      </p:sp>
      <p:pic>
        <p:nvPicPr>
          <p:cNvPr id="36" name="Image 9" descr="preencoded.png">    </p:cNvPr>
          <p:cNvPicPr>
            <a:picLocks noChangeAspect="1"/>
          </p:cNvPicPr>
          <p:nvPr/>
        </p:nvPicPr>
        <p:blipFill>
          <a:blip r:embed="rId11"/>
          <a:stretch>
            <a:fillRect/>
          </a:stretch>
        </p:blipFill>
        <p:spPr>
          <a:xfrm>
            <a:off x="2903220" y="4379976"/>
            <a:ext cx="256032" cy="256032"/>
          </a:xfrm>
          <a:prstGeom prst="rect">
            <a:avLst/>
          </a:prstGeom>
        </p:spPr>
      </p:pic>
      <p:sp>
        <p:nvSpPr>
          <p:cNvPr id="37" name="Text 25"/>
          <p:cNvSpPr txBox="1"/>
          <p:nvPr/>
        </p:nvSpPr>
        <p:spPr>
          <a:xfrm>
            <a:off x="3250692" y="425196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Yup</a:t>
            </a:r>
            <a:endParaRPr lang="en-US" sz="1000" dirty="0"/>
          </a:p>
        </p:txBody>
      </p:sp>
      <p:sp>
        <p:nvSpPr>
          <p:cNvPr id="38" name="Shape 26"/>
          <p:cNvSpPr/>
          <p:nvPr/>
        </p:nvSpPr>
        <p:spPr>
          <a:xfrm>
            <a:off x="685800" y="4846320"/>
            <a:ext cx="1979676" cy="512064"/>
          </a:xfrm>
          <a:prstGeom prst="roundRect">
            <a:avLst>
              <a:gd name="adj" fmla="val 17857"/>
            </a:avLst>
          </a:prstGeom>
          <a:solidFill>
            <a:srgbClr val="F3F6FA"/>
          </a:solidFill>
          <a:ln w="9525">
            <a:solidFill>
              <a:srgbClr val="E3E9F1"/>
            </a:solidFill>
            <a:prstDash val="solid"/>
          </a:ln>
        </p:spPr>
      </p:sp>
      <p:pic>
        <p:nvPicPr>
          <p:cNvPr id="39" name="Image 10" descr="preencoded.png">    </p:cNvPr>
          <p:cNvPicPr>
            <a:picLocks noChangeAspect="1"/>
          </p:cNvPicPr>
          <p:nvPr/>
        </p:nvPicPr>
        <p:blipFill>
          <a:blip r:embed="rId12"/>
          <a:stretch>
            <a:fillRect/>
          </a:stretch>
        </p:blipFill>
        <p:spPr>
          <a:xfrm>
            <a:off x="813816" y="4974336"/>
            <a:ext cx="256032" cy="256032"/>
          </a:xfrm>
          <a:prstGeom prst="rect">
            <a:avLst/>
          </a:prstGeom>
        </p:spPr>
      </p:pic>
      <p:sp>
        <p:nvSpPr>
          <p:cNvPr id="40" name="Text 27"/>
          <p:cNvSpPr txBox="1"/>
          <p:nvPr/>
        </p:nvSpPr>
        <p:spPr>
          <a:xfrm>
            <a:off x="1161288" y="484632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SweetAlert2</a:t>
            </a:r>
            <a:endParaRPr lang="en-US" sz="1000" dirty="0"/>
          </a:p>
        </p:txBody>
      </p:sp>
      <p:sp>
        <p:nvSpPr>
          <p:cNvPr id="41" name="Shape 28"/>
          <p:cNvSpPr/>
          <p:nvPr/>
        </p:nvSpPr>
        <p:spPr>
          <a:xfrm>
            <a:off x="2775204" y="4846320"/>
            <a:ext cx="1979676" cy="512064"/>
          </a:xfrm>
          <a:prstGeom prst="roundRect">
            <a:avLst>
              <a:gd name="adj" fmla="val 17857"/>
            </a:avLst>
          </a:prstGeom>
          <a:solidFill>
            <a:srgbClr val="F3F6FA"/>
          </a:solidFill>
          <a:ln w="9525">
            <a:solidFill>
              <a:srgbClr val="E3E9F1"/>
            </a:solidFill>
            <a:prstDash val="solid"/>
          </a:ln>
        </p:spPr>
      </p:sp>
      <p:pic>
        <p:nvPicPr>
          <p:cNvPr id="42" name="Image 11" descr="preencoded.png">    </p:cNvPr>
          <p:cNvPicPr>
            <a:picLocks noChangeAspect="1"/>
          </p:cNvPicPr>
          <p:nvPr/>
        </p:nvPicPr>
        <p:blipFill>
          <a:blip r:embed="rId13"/>
          <a:stretch>
            <a:fillRect/>
          </a:stretch>
        </p:blipFill>
        <p:spPr>
          <a:xfrm>
            <a:off x="2903220" y="4974336"/>
            <a:ext cx="256032" cy="256032"/>
          </a:xfrm>
          <a:prstGeom prst="rect">
            <a:avLst/>
          </a:prstGeom>
        </p:spPr>
      </p:pic>
      <p:sp>
        <p:nvSpPr>
          <p:cNvPr id="43" name="Text 29"/>
          <p:cNvSpPr txBox="1"/>
          <p:nvPr/>
        </p:nvSpPr>
        <p:spPr>
          <a:xfrm>
            <a:off x="3250692" y="4846320"/>
            <a:ext cx="1467612" cy="512064"/>
          </a:xfrm>
          <a:prstGeom prst="rect">
            <a:avLst/>
          </a:prstGeom>
          <a:noFill/>
          <a:ln/>
        </p:spPr>
        <p:txBody>
          <a:bodyPr wrap="square" lIns="0" tIns="0" rIns="0" bIns="0" rtlCol="0" anchor="ctr"/>
          <a:lstStyle/>
          <a:p>
            <a:pPr indent="0" marL="0">
              <a:buNone/>
            </a:pPr>
            <a:r>
              <a:rPr lang="en-US" sz="1000" b="1" dirty="0">
                <a:solidFill>
                  <a:srgbClr val="0B1930"/>
                </a:solidFill>
                <a:latin typeface="Poppins" pitchFamily="34" charset="0"/>
                <a:ea typeface="Poppins" pitchFamily="34" charset="-122"/>
                <a:cs typeface="Poppins" pitchFamily="34" charset="-120"/>
              </a:rPr>
              <a:t>Typewriter Effect</a:t>
            </a:r>
            <a:endParaRPr lang="en-US" sz="1000" dirty="0"/>
          </a:p>
        </p:txBody>
      </p:sp>
      <p:sp>
        <p:nvSpPr>
          <p:cNvPr id="44" name="Shape 30"/>
          <p:cNvSpPr/>
          <p:nvPr/>
        </p:nvSpPr>
        <p:spPr>
          <a:xfrm>
            <a:off x="5212080" y="1554480"/>
            <a:ext cx="3520440" cy="4114800"/>
          </a:xfrm>
          <a:prstGeom prst="roundRect">
            <a:avLst>
              <a:gd name="adj" fmla="val 3636"/>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5" name="Shape 31"/>
          <p:cNvSpPr/>
          <p:nvPr/>
        </p:nvSpPr>
        <p:spPr>
          <a:xfrm>
            <a:off x="5440680" y="1691640"/>
            <a:ext cx="512064" cy="512064"/>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46" name="Image 12" descr="preencoded.png">    </p:cNvPr>
          <p:cNvPicPr>
            <a:picLocks noChangeAspect="1"/>
          </p:cNvPicPr>
          <p:nvPr/>
        </p:nvPicPr>
        <p:blipFill>
          <a:blip r:embed="rId14"/>
          <a:stretch>
            <a:fillRect/>
          </a:stretch>
        </p:blipFill>
        <p:spPr>
          <a:xfrm>
            <a:off x="5568696" y="1819656"/>
            <a:ext cx="256032" cy="256032"/>
          </a:xfrm>
          <a:prstGeom prst="rect">
            <a:avLst/>
          </a:prstGeom>
        </p:spPr>
      </p:pic>
      <p:sp>
        <p:nvSpPr>
          <p:cNvPr id="47" name="Text 32"/>
          <p:cNvSpPr txBox="1"/>
          <p:nvPr/>
        </p:nvSpPr>
        <p:spPr>
          <a:xfrm>
            <a:off x="6126480" y="1691640"/>
            <a:ext cx="2514600" cy="274320"/>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BACKEND</a:t>
            </a:r>
            <a:endParaRPr lang="en-US" sz="1350" dirty="0"/>
          </a:p>
        </p:txBody>
      </p:sp>
      <p:sp>
        <p:nvSpPr>
          <p:cNvPr id="48" name="Text 33"/>
          <p:cNvSpPr txBox="1"/>
          <p:nvPr/>
        </p:nvSpPr>
        <p:spPr>
          <a:xfrm>
            <a:off x="6126480" y="1984248"/>
            <a:ext cx="2514600" cy="228600"/>
          </a:xfrm>
          <a:prstGeom prst="rect">
            <a:avLst/>
          </a:prstGeom>
          <a:noFill/>
          <a:ln/>
        </p:spPr>
        <p:txBody>
          <a:bodyPr wrap="square" lIns="0" tIns="0" rIns="0" bIns="0" rtlCol="0" anchor="t"/>
          <a:lstStyle/>
          <a:p>
            <a:pPr indent="0" marL="0">
              <a:buNone/>
            </a:pPr>
            <a:r>
              <a:rPr lang="en-US" sz="900" b="1" dirty="0">
                <a:solidFill>
                  <a:srgbClr val="EF5B59"/>
                </a:solidFill>
                <a:latin typeface="Poppins" pitchFamily="34" charset="0"/>
                <a:ea typeface="Poppins" pitchFamily="34" charset="-122"/>
                <a:cs typeface="Poppins" pitchFamily="34" charset="-120"/>
              </a:rPr>
              <a:t>Server &amp; API</a:t>
            </a:r>
            <a:endParaRPr lang="en-US" sz="900" dirty="0"/>
          </a:p>
        </p:txBody>
      </p:sp>
      <p:sp>
        <p:nvSpPr>
          <p:cNvPr id="49" name="Shape 34"/>
          <p:cNvSpPr/>
          <p:nvPr/>
        </p:nvSpPr>
        <p:spPr>
          <a:xfrm>
            <a:off x="5440680" y="2468880"/>
            <a:ext cx="3063240" cy="411480"/>
          </a:xfrm>
          <a:prstGeom prst="roundRect">
            <a:avLst>
              <a:gd name="adj" fmla="val 22222"/>
            </a:avLst>
          </a:prstGeom>
          <a:solidFill>
            <a:srgbClr val="F3F6FA"/>
          </a:solidFill>
          <a:ln w="9525">
            <a:solidFill>
              <a:srgbClr val="E3E9F1"/>
            </a:solidFill>
            <a:prstDash val="solid"/>
          </a:ln>
        </p:spPr>
      </p:sp>
      <p:pic>
        <p:nvPicPr>
          <p:cNvPr id="50" name="Image 13" descr="preencoded.png">    </p:cNvPr>
          <p:cNvPicPr>
            <a:picLocks noChangeAspect="1"/>
          </p:cNvPicPr>
          <p:nvPr/>
        </p:nvPicPr>
        <p:blipFill>
          <a:blip r:embed="rId15"/>
          <a:stretch>
            <a:fillRect/>
          </a:stretch>
        </p:blipFill>
        <p:spPr>
          <a:xfrm>
            <a:off x="5568696" y="2546604"/>
            <a:ext cx="256032" cy="256032"/>
          </a:xfrm>
          <a:prstGeom prst="rect">
            <a:avLst/>
          </a:prstGeom>
        </p:spPr>
      </p:pic>
      <p:sp>
        <p:nvSpPr>
          <p:cNvPr id="51" name="Text 35"/>
          <p:cNvSpPr txBox="1"/>
          <p:nvPr/>
        </p:nvSpPr>
        <p:spPr>
          <a:xfrm>
            <a:off x="5916168" y="2468880"/>
            <a:ext cx="2551176" cy="41148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Node.js</a:t>
            </a:r>
            <a:endParaRPr lang="en-US" sz="1050" dirty="0"/>
          </a:p>
        </p:txBody>
      </p:sp>
      <p:sp>
        <p:nvSpPr>
          <p:cNvPr id="52" name="Shape 36"/>
          <p:cNvSpPr/>
          <p:nvPr/>
        </p:nvSpPr>
        <p:spPr>
          <a:xfrm>
            <a:off x="5440680" y="2916936"/>
            <a:ext cx="3063240" cy="411480"/>
          </a:xfrm>
          <a:prstGeom prst="roundRect">
            <a:avLst>
              <a:gd name="adj" fmla="val 22222"/>
            </a:avLst>
          </a:prstGeom>
          <a:solidFill>
            <a:srgbClr val="F3F6FA"/>
          </a:solidFill>
          <a:ln w="9525">
            <a:solidFill>
              <a:srgbClr val="E3E9F1"/>
            </a:solidFill>
            <a:prstDash val="solid"/>
          </a:ln>
        </p:spPr>
      </p:sp>
      <p:pic>
        <p:nvPicPr>
          <p:cNvPr id="53" name="Image 14" descr="preencoded.png">    </p:cNvPr>
          <p:cNvPicPr>
            <a:picLocks noChangeAspect="1"/>
          </p:cNvPicPr>
          <p:nvPr/>
        </p:nvPicPr>
        <p:blipFill>
          <a:blip r:embed="rId16"/>
          <a:stretch>
            <a:fillRect/>
          </a:stretch>
        </p:blipFill>
        <p:spPr>
          <a:xfrm>
            <a:off x="5568696" y="2994660"/>
            <a:ext cx="256032" cy="256032"/>
          </a:xfrm>
          <a:prstGeom prst="rect">
            <a:avLst/>
          </a:prstGeom>
        </p:spPr>
      </p:pic>
      <p:sp>
        <p:nvSpPr>
          <p:cNvPr id="54" name="Text 37"/>
          <p:cNvSpPr txBox="1"/>
          <p:nvPr/>
        </p:nvSpPr>
        <p:spPr>
          <a:xfrm>
            <a:off x="5916168" y="2916936"/>
            <a:ext cx="2551176" cy="41148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Express 5</a:t>
            </a:r>
            <a:endParaRPr lang="en-US" sz="1050" dirty="0"/>
          </a:p>
        </p:txBody>
      </p:sp>
      <p:sp>
        <p:nvSpPr>
          <p:cNvPr id="55" name="Shape 38"/>
          <p:cNvSpPr/>
          <p:nvPr/>
        </p:nvSpPr>
        <p:spPr>
          <a:xfrm>
            <a:off x="5440680" y="3364992"/>
            <a:ext cx="3063240" cy="411480"/>
          </a:xfrm>
          <a:prstGeom prst="roundRect">
            <a:avLst>
              <a:gd name="adj" fmla="val 22222"/>
            </a:avLst>
          </a:prstGeom>
          <a:solidFill>
            <a:srgbClr val="F3F6FA"/>
          </a:solidFill>
          <a:ln w="9525">
            <a:solidFill>
              <a:srgbClr val="E3E9F1"/>
            </a:solidFill>
            <a:prstDash val="solid"/>
          </a:ln>
        </p:spPr>
      </p:sp>
      <p:pic>
        <p:nvPicPr>
          <p:cNvPr id="56" name="Image 15" descr="preencoded.png">    </p:cNvPr>
          <p:cNvPicPr>
            <a:picLocks noChangeAspect="1"/>
          </p:cNvPicPr>
          <p:nvPr/>
        </p:nvPicPr>
        <p:blipFill>
          <a:blip r:embed="rId17"/>
          <a:stretch>
            <a:fillRect/>
          </a:stretch>
        </p:blipFill>
        <p:spPr>
          <a:xfrm>
            <a:off x="5568696" y="3442716"/>
            <a:ext cx="256032" cy="256032"/>
          </a:xfrm>
          <a:prstGeom prst="rect">
            <a:avLst/>
          </a:prstGeom>
        </p:spPr>
      </p:pic>
      <p:sp>
        <p:nvSpPr>
          <p:cNvPr id="57" name="Text 39"/>
          <p:cNvSpPr txBox="1"/>
          <p:nvPr/>
        </p:nvSpPr>
        <p:spPr>
          <a:xfrm>
            <a:off x="5916168" y="3364992"/>
            <a:ext cx="2551176" cy="41148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CORS</a:t>
            </a:r>
            <a:endParaRPr lang="en-US" sz="1050" dirty="0"/>
          </a:p>
        </p:txBody>
      </p:sp>
      <p:sp>
        <p:nvSpPr>
          <p:cNvPr id="58" name="Shape 40"/>
          <p:cNvSpPr/>
          <p:nvPr/>
        </p:nvSpPr>
        <p:spPr>
          <a:xfrm>
            <a:off x="5440680" y="3813048"/>
            <a:ext cx="3063240" cy="411480"/>
          </a:xfrm>
          <a:prstGeom prst="roundRect">
            <a:avLst>
              <a:gd name="adj" fmla="val 22222"/>
            </a:avLst>
          </a:prstGeom>
          <a:solidFill>
            <a:srgbClr val="F3F6FA"/>
          </a:solidFill>
          <a:ln w="9525">
            <a:solidFill>
              <a:srgbClr val="E3E9F1"/>
            </a:solidFill>
            <a:prstDash val="solid"/>
          </a:ln>
        </p:spPr>
      </p:sp>
      <p:pic>
        <p:nvPicPr>
          <p:cNvPr id="59" name="Image 16" descr="preencoded.png">    </p:cNvPr>
          <p:cNvPicPr>
            <a:picLocks noChangeAspect="1"/>
          </p:cNvPicPr>
          <p:nvPr/>
        </p:nvPicPr>
        <p:blipFill>
          <a:blip r:embed="rId18"/>
          <a:stretch>
            <a:fillRect/>
          </a:stretch>
        </p:blipFill>
        <p:spPr>
          <a:xfrm>
            <a:off x="5568696" y="3890772"/>
            <a:ext cx="256032" cy="256032"/>
          </a:xfrm>
          <a:prstGeom prst="rect">
            <a:avLst/>
          </a:prstGeom>
        </p:spPr>
      </p:pic>
      <p:sp>
        <p:nvSpPr>
          <p:cNvPr id="60" name="Text 41"/>
          <p:cNvSpPr txBox="1"/>
          <p:nvPr/>
        </p:nvSpPr>
        <p:spPr>
          <a:xfrm>
            <a:off x="5916168" y="3813048"/>
            <a:ext cx="2551176" cy="41148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JWT</a:t>
            </a:r>
            <a:endParaRPr lang="en-US" sz="1050" dirty="0"/>
          </a:p>
        </p:txBody>
      </p:sp>
      <p:sp>
        <p:nvSpPr>
          <p:cNvPr id="61" name="Shape 42"/>
          <p:cNvSpPr/>
          <p:nvPr/>
        </p:nvSpPr>
        <p:spPr>
          <a:xfrm>
            <a:off x="5440680" y="4261104"/>
            <a:ext cx="3063240" cy="411480"/>
          </a:xfrm>
          <a:prstGeom prst="roundRect">
            <a:avLst>
              <a:gd name="adj" fmla="val 22222"/>
            </a:avLst>
          </a:prstGeom>
          <a:solidFill>
            <a:srgbClr val="F3F6FA"/>
          </a:solidFill>
          <a:ln w="9525">
            <a:solidFill>
              <a:srgbClr val="E3E9F1"/>
            </a:solidFill>
            <a:prstDash val="solid"/>
          </a:ln>
        </p:spPr>
      </p:sp>
      <p:pic>
        <p:nvPicPr>
          <p:cNvPr id="62" name="Image 17" descr="preencoded.png">    </p:cNvPr>
          <p:cNvPicPr>
            <a:picLocks noChangeAspect="1"/>
          </p:cNvPicPr>
          <p:nvPr/>
        </p:nvPicPr>
        <p:blipFill>
          <a:blip r:embed="rId19"/>
          <a:stretch>
            <a:fillRect/>
          </a:stretch>
        </p:blipFill>
        <p:spPr>
          <a:xfrm>
            <a:off x="5568696" y="4338828"/>
            <a:ext cx="256032" cy="256032"/>
          </a:xfrm>
          <a:prstGeom prst="rect">
            <a:avLst/>
          </a:prstGeom>
        </p:spPr>
      </p:pic>
      <p:sp>
        <p:nvSpPr>
          <p:cNvPr id="63" name="Text 43"/>
          <p:cNvSpPr txBox="1"/>
          <p:nvPr/>
        </p:nvSpPr>
        <p:spPr>
          <a:xfrm>
            <a:off x="5916168" y="4261104"/>
            <a:ext cx="2551176" cy="41148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bcryptjs</a:t>
            </a:r>
            <a:endParaRPr lang="en-US" sz="1050" dirty="0"/>
          </a:p>
        </p:txBody>
      </p:sp>
      <p:sp>
        <p:nvSpPr>
          <p:cNvPr id="64" name="Shape 44"/>
          <p:cNvSpPr/>
          <p:nvPr/>
        </p:nvSpPr>
        <p:spPr>
          <a:xfrm>
            <a:off x="5440680" y="4709160"/>
            <a:ext cx="3063240" cy="411480"/>
          </a:xfrm>
          <a:prstGeom prst="roundRect">
            <a:avLst>
              <a:gd name="adj" fmla="val 22222"/>
            </a:avLst>
          </a:prstGeom>
          <a:solidFill>
            <a:srgbClr val="F3F6FA"/>
          </a:solidFill>
          <a:ln w="9525">
            <a:solidFill>
              <a:srgbClr val="E3E9F1"/>
            </a:solidFill>
            <a:prstDash val="solid"/>
          </a:ln>
        </p:spPr>
      </p:sp>
      <p:pic>
        <p:nvPicPr>
          <p:cNvPr id="65" name="Image 18" descr="preencoded.png">    </p:cNvPr>
          <p:cNvPicPr>
            <a:picLocks noChangeAspect="1"/>
          </p:cNvPicPr>
          <p:nvPr/>
        </p:nvPicPr>
        <p:blipFill>
          <a:blip r:embed="rId20"/>
          <a:stretch>
            <a:fillRect/>
          </a:stretch>
        </p:blipFill>
        <p:spPr>
          <a:xfrm>
            <a:off x="5568696" y="4786884"/>
            <a:ext cx="256032" cy="256032"/>
          </a:xfrm>
          <a:prstGeom prst="rect">
            <a:avLst/>
          </a:prstGeom>
        </p:spPr>
      </p:pic>
      <p:sp>
        <p:nvSpPr>
          <p:cNvPr id="66" name="Text 45"/>
          <p:cNvSpPr txBox="1"/>
          <p:nvPr/>
        </p:nvSpPr>
        <p:spPr>
          <a:xfrm>
            <a:off x="5916168" y="4709160"/>
            <a:ext cx="2551176" cy="41148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Nodemailer</a:t>
            </a:r>
            <a:endParaRPr lang="en-US" sz="1050" dirty="0"/>
          </a:p>
        </p:txBody>
      </p:sp>
      <p:sp>
        <p:nvSpPr>
          <p:cNvPr id="67" name="Shape 46"/>
          <p:cNvSpPr/>
          <p:nvPr/>
        </p:nvSpPr>
        <p:spPr>
          <a:xfrm>
            <a:off x="5440680" y="5157216"/>
            <a:ext cx="3063240" cy="411480"/>
          </a:xfrm>
          <a:prstGeom prst="roundRect">
            <a:avLst>
              <a:gd name="adj" fmla="val 22222"/>
            </a:avLst>
          </a:prstGeom>
          <a:solidFill>
            <a:srgbClr val="F3F6FA"/>
          </a:solidFill>
          <a:ln w="9525">
            <a:solidFill>
              <a:srgbClr val="E3E9F1"/>
            </a:solidFill>
            <a:prstDash val="solid"/>
          </a:ln>
        </p:spPr>
      </p:sp>
      <p:pic>
        <p:nvPicPr>
          <p:cNvPr id="68" name="Image 19" descr="preencoded.png">    </p:cNvPr>
          <p:cNvPicPr>
            <a:picLocks noChangeAspect="1"/>
          </p:cNvPicPr>
          <p:nvPr/>
        </p:nvPicPr>
        <p:blipFill>
          <a:blip r:embed="rId21"/>
          <a:stretch>
            <a:fillRect/>
          </a:stretch>
        </p:blipFill>
        <p:spPr>
          <a:xfrm>
            <a:off x="5568696" y="5234940"/>
            <a:ext cx="256032" cy="256032"/>
          </a:xfrm>
          <a:prstGeom prst="rect">
            <a:avLst/>
          </a:prstGeom>
        </p:spPr>
      </p:pic>
      <p:sp>
        <p:nvSpPr>
          <p:cNvPr id="69" name="Text 47"/>
          <p:cNvSpPr txBox="1"/>
          <p:nvPr/>
        </p:nvSpPr>
        <p:spPr>
          <a:xfrm>
            <a:off x="5916168" y="5157216"/>
            <a:ext cx="2551176" cy="41148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Razorpay SDK</a:t>
            </a:r>
            <a:endParaRPr lang="en-US" sz="1050" dirty="0"/>
          </a:p>
        </p:txBody>
      </p:sp>
      <p:sp>
        <p:nvSpPr>
          <p:cNvPr id="70" name="Shape 48"/>
          <p:cNvSpPr/>
          <p:nvPr/>
        </p:nvSpPr>
        <p:spPr>
          <a:xfrm>
            <a:off x="8961120" y="1554480"/>
            <a:ext cx="2770632" cy="4114800"/>
          </a:xfrm>
          <a:prstGeom prst="roundRect">
            <a:avLst>
              <a:gd name="adj" fmla="val 4620"/>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71" name="Shape 49"/>
          <p:cNvSpPr/>
          <p:nvPr/>
        </p:nvSpPr>
        <p:spPr>
          <a:xfrm>
            <a:off x="9189720" y="1691640"/>
            <a:ext cx="512064" cy="512064"/>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72" name="Image 20" descr="preencoded.png">    </p:cNvPr>
          <p:cNvPicPr>
            <a:picLocks noChangeAspect="1"/>
          </p:cNvPicPr>
          <p:nvPr/>
        </p:nvPicPr>
        <p:blipFill>
          <a:blip r:embed="rId22"/>
          <a:stretch>
            <a:fillRect/>
          </a:stretch>
        </p:blipFill>
        <p:spPr>
          <a:xfrm>
            <a:off x="9317736" y="1819656"/>
            <a:ext cx="256032" cy="256032"/>
          </a:xfrm>
          <a:prstGeom prst="rect">
            <a:avLst/>
          </a:prstGeom>
        </p:spPr>
      </p:pic>
      <p:sp>
        <p:nvSpPr>
          <p:cNvPr id="73" name="Text 50"/>
          <p:cNvSpPr txBox="1"/>
          <p:nvPr/>
        </p:nvSpPr>
        <p:spPr>
          <a:xfrm>
            <a:off x="9875520" y="1691640"/>
            <a:ext cx="1764792" cy="274320"/>
          </a:xfrm>
          <a:prstGeom prst="rect">
            <a:avLst/>
          </a:prstGeom>
          <a:noFill/>
          <a:ln/>
        </p:spPr>
        <p:txBody>
          <a:bodyPr wrap="square" lIns="0" tIns="0" rIns="0" bIns="0" rtlCol="0" anchor="ctr"/>
          <a:lstStyle/>
          <a:p>
            <a:pPr indent="0" marL="0">
              <a:buNone/>
            </a:pPr>
            <a:r>
              <a:rPr lang="en-US" sz="1350" b="1" dirty="0">
                <a:solidFill>
                  <a:srgbClr val="0B1930"/>
                </a:solidFill>
                <a:latin typeface="Poppins" pitchFamily="34" charset="0"/>
                <a:ea typeface="Poppins" pitchFamily="34" charset="-122"/>
                <a:cs typeface="Poppins" pitchFamily="34" charset="-120"/>
              </a:rPr>
              <a:t>DATA &amp; TOOLS</a:t>
            </a:r>
            <a:endParaRPr lang="en-US" sz="1350" dirty="0"/>
          </a:p>
        </p:txBody>
      </p:sp>
      <p:sp>
        <p:nvSpPr>
          <p:cNvPr id="74" name="Text 51"/>
          <p:cNvSpPr txBox="1"/>
          <p:nvPr/>
        </p:nvSpPr>
        <p:spPr>
          <a:xfrm>
            <a:off x="9875520" y="1984248"/>
            <a:ext cx="1764792" cy="228600"/>
          </a:xfrm>
          <a:prstGeom prst="rect">
            <a:avLst/>
          </a:prstGeom>
          <a:noFill/>
          <a:ln/>
        </p:spPr>
        <p:txBody>
          <a:bodyPr wrap="square" lIns="0" tIns="0" rIns="0" bIns="0" rtlCol="0" anchor="t"/>
          <a:lstStyle/>
          <a:p>
            <a:pPr indent="0" marL="0">
              <a:buNone/>
            </a:pPr>
            <a:r>
              <a:rPr lang="en-US" sz="900" b="1" dirty="0">
                <a:solidFill>
                  <a:srgbClr val="F79330"/>
                </a:solidFill>
                <a:latin typeface="Poppins" pitchFamily="34" charset="0"/>
                <a:ea typeface="Poppins" pitchFamily="34" charset="-122"/>
                <a:cs typeface="Poppins" pitchFamily="34" charset="-120"/>
              </a:rPr>
              <a:t>Storage &amp; dev tools</a:t>
            </a:r>
            <a:endParaRPr lang="en-US" sz="900" dirty="0"/>
          </a:p>
        </p:txBody>
      </p:sp>
      <p:sp>
        <p:nvSpPr>
          <p:cNvPr id="75" name="Shape 52"/>
          <p:cNvSpPr/>
          <p:nvPr/>
        </p:nvSpPr>
        <p:spPr>
          <a:xfrm>
            <a:off x="9189720" y="2468880"/>
            <a:ext cx="2313432" cy="548640"/>
          </a:xfrm>
          <a:prstGeom prst="roundRect">
            <a:avLst>
              <a:gd name="adj" fmla="val 16667"/>
            </a:avLst>
          </a:prstGeom>
          <a:solidFill>
            <a:srgbClr val="F3F6FA"/>
          </a:solidFill>
          <a:ln w="9525">
            <a:solidFill>
              <a:srgbClr val="E3E9F1"/>
            </a:solidFill>
            <a:prstDash val="solid"/>
          </a:ln>
        </p:spPr>
      </p:sp>
      <p:pic>
        <p:nvPicPr>
          <p:cNvPr id="76" name="Image 21" descr="preencoded.png">    </p:cNvPr>
          <p:cNvPicPr>
            <a:picLocks noChangeAspect="1"/>
          </p:cNvPicPr>
          <p:nvPr/>
        </p:nvPicPr>
        <p:blipFill>
          <a:blip r:embed="rId23"/>
          <a:stretch>
            <a:fillRect/>
          </a:stretch>
        </p:blipFill>
        <p:spPr>
          <a:xfrm>
            <a:off x="9317736" y="2615184"/>
            <a:ext cx="256032" cy="256032"/>
          </a:xfrm>
          <a:prstGeom prst="rect">
            <a:avLst/>
          </a:prstGeom>
        </p:spPr>
      </p:pic>
      <p:sp>
        <p:nvSpPr>
          <p:cNvPr id="77" name="Text 53"/>
          <p:cNvSpPr txBox="1"/>
          <p:nvPr/>
        </p:nvSpPr>
        <p:spPr>
          <a:xfrm>
            <a:off x="9665208" y="2468880"/>
            <a:ext cx="1801368" cy="54864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MongoDB</a:t>
            </a:r>
            <a:endParaRPr lang="en-US" sz="1050" dirty="0"/>
          </a:p>
        </p:txBody>
      </p:sp>
      <p:sp>
        <p:nvSpPr>
          <p:cNvPr id="78" name="Shape 54"/>
          <p:cNvSpPr/>
          <p:nvPr/>
        </p:nvSpPr>
        <p:spPr>
          <a:xfrm>
            <a:off x="9189720" y="3127248"/>
            <a:ext cx="2313432" cy="548640"/>
          </a:xfrm>
          <a:prstGeom prst="roundRect">
            <a:avLst>
              <a:gd name="adj" fmla="val 16667"/>
            </a:avLst>
          </a:prstGeom>
          <a:solidFill>
            <a:srgbClr val="F3F6FA"/>
          </a:solidFill>
          <a:ln w="9525">
            <a:solidFill>
              <a:srgbClr val="E3E9F1"/>
            </a:solidFill>
            <a:prstDash val="solid"/>
          </a:ln>
        </p:spPr>
      </p:sp>
      <p:pic>
        <p:nvPicPr>
          <p:cNvPr id="79" name="Image 22" descr="preencoded.png">    </p:cNvPr>
          <p:cNvPicPr>
            <a:picLocks noChangeAspect="1"/>
          </p:cNvPicPr>
          <p:nvPr/>
        </p:nvPicPr>
        <p:blipFill>
          <a:blip r:embed="rId24"/>
          <a:stretch>
            <a:fillRect/>
          </a:stretch>
        </p:blipFill>
        <p:spPr>
          <a:xfrm>
            <a:off x="9317736" y="3273552"/>
            <a:ext cx="256032" cy="256032"/>
          </a:xfrm>
          <a:prstGeom prst="rect">
            <a:avLst/>
          </a:prstGeom>
        </p:spPr>
      </p:pic>
      <p:sp>
        <p:nvSpPr>
          <p:cNvPr id="80" name="Text 55"/>
          <p:cNvSpPr txBox="1"/>
          <p:nvPr/>
        </p:nvSpPr>
        <p:spPr>
          <a:xfrm>
            <a:off x="9665208" y="3127248"/>
            <a:ext cx="1801368" cy="54864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JSON Database Fallback</a:t>
            </a:r>
            <a:endParaRPr lang="en-US" sz="1050" dirty="0"/>
          </a:p>
        </p:txBody>
      </p:sp>
      <p:sp>
        <p:nvSpPr>
          <p:cNvPr id="81" name="Shape 56"/>
          <p:cNvSpPr/>
          <p:nvPr/>
        </p:nvSpPr>
        <p:spPr>
          <a:xfrm>
            <a:off x="9189720" y="3785616"/>
            <a:ext cx="2313432" cy="548640"/>
          </a:xfrm>
          <a:prstGeom prst="roundRect">
            <a:avLst>
              <a:gd name="adj" fmla="val 16667"/>
            </a:avLst>
          </a:prstGeom>
          <a:solidFill>
            <a:srgbClr val="F3F6FA"/>
          </a:solidFill>
          <a:ln w="9525">
            <a:solidFill>
              <a:srgbClr val="E3E9F1"/>
            </a:solidFill>
            <a:prstDash val="solid"/>
          </a:ln>
        </p:spPr>
      </p:sp>
      <p:pic>
        <p:nvPicPr>
          <p:cNvPr id="82" name="Image 23" descr="preencoded.png">    </p:cNvPr>
          <p:cNvPicPr>
            <a:picLocks noChangeAspect="1"/>
          </p:cNvPicPr>
          <p:nvPr/>
        </p:nvPicPr>
        <p:blipFill>
          <a:blip r:embed="rId25"/>
          <a:stretch>
            <a:fillRect/>
          </a:stretch>
        </p:blipFill>
        <p:spPr>
          <a:xfrm>
            <a:off x="9317736" y="3931920"/>
            <a:ext cx="256032" cy="256032"/>
          </a:xfrm>
          <a:prstGeom prst="rect">
            <a:avLst/>
          </a:prstGeom>
        </p:spPr>
      </p:pic>
      <p:sp>
        <p:nvSpPr>
          <p:cNvPr id="83" name="Text 57"/>
          <p:cNvSpPr txBox="1"/>
          <p:nvPr/>
        </p:nvSpPr>
        <p:spPr>
          <a:xfrm>
            <a:off x="9665208" y="3785616"/>
            <a:ext cx="1801368" cy="54864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ESLint</a:t>
            </a:r>
            <a:endParaRPr lang="en-US" sz="1050" dirty="0"/>
          </a:p>
        </p:txBody>
      </p:sp>
      <p:sp>
        <p:nvSpPr>
          <p:cNvPr id="84" name="Shape 58"/>
          <p:cNvSpPr/>
          <p:nvPr/>
        </p:nvSpPr>
        <p:spPr>
          <a:xfrm>
            <a:off x="9189720" y="4443984"/>
            <a:ext cx="2313432" cy="548640"/>
          </a:xfrm>
          <a:prstGeom prst="roundRect">
            <a:avLst>
              <a:gd name="adj" fmla="val 16667"/>
            </a:avLst>
          </a:prstGeom>
          <a:solidFill>
            <a:srgbClr val="F3F6FA"/>
          </a:solidFill>
          <a:ln w="9525">
            <a:solidFill>
              <a:srgbClr val="E3E9F1"/>
            </a:solidFill>
            <a:prstDash val="solid"/>
          </a:ln>
        </p:spPr>
      </p:sp>
      <p:pic>
        <p:nvPicPr>
          <p:cNvPr id="85" name="Image 24" descr="preencoded.png">    </p:cNvPr>
          <p:cNvPicPr>
            <a:picLocks noChangeAspect="1"/>
          </p:cNvPicPr>
          <p:nvPr/>
        </p:nvPicPr>
        <p:blipFill>
          <a:blip r:embed="rId26"/>
          <a:stretch>
            <a:fillRect/>
          </a:stretch>
        </p:blipFill>
        <p:spPr>
          <a:xfrm>
            <a:off x="9317736" y="4590288"/>
            <a:ext cx="256032" cy="256032"/>
          </a:xfrm>
          <a:prstGeom prst="rect">
            <a:avLst/>
          </a:prstGeom>
        </p:spPr>
      </p:pic>
      <p:sp>
        <p:nvSpPr>
          <p:cNvPr id="86" name="Text 59"/>
          <p:cNvSpPr txBox="1"/>
          <p:nvPr/>
        </p:nvSpPr>
        <p:spPr>
          <a:xfrm>
            <a:off x="9665208" y="4443984"/>
            <a:ext cx="1801368" cy="54864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Concurrently</a:t>
            </a:r>
            <a:endParaRPr lang="en-US" sz="1050" dirty="0"/>
          </a:p>
        </p:txBody>
      </p:sp>
      <p:sp>
        <p:nvSpPr>
          <p:cNvPr id="87" name="Shape 60"/>
          <p:cNvSpPr/>
          <p:nvPr/>
        </p:nvSpPr>
        <p:spPr>
          <a:xfrm>
            <a:off x="9189720" y="5193792"/>
            <a:ext cx="2313432" cy="347472"/>
          </a:xfrm>
          <a:prstGeom prst="roundRect">
            <a:avLst>
              <a:gd name="adj" fmla="val 26316"/>
            </a:avLst>
          </a:prstGeom>
          <a:solidFill>
            <a:srgbClr val="FEF0DF"/>
          </a:solidFill>
          <a:ln w="9525">
            <a:solidFill>
              <a:srgbClr val="F9D9B0"/>
            </a:solidFill>
            <a:prstDash val="solid"/>
          </a:ln>
        </p:spPr>
      </p:sp>
      <p:sp>
        <p:nvSpPr>
          <p:cNvPr id="88" name="Text 61"/>
          <p:cNvSpPr txBox="1"/>
          <p:nvPr/>
        </p:nvSpPr>
        <p:spPr>
          <a:xfrm>
            <a:off x="9189720" y="5193792"/>
            <a:ext cx="2313432" cy="347472"/>
          </a:xfrm>
          <a:prstGeom prst="rect">
            <a:avLst/>
          </a:prstGeom>
          <a:noFill/>
          <a:ln/>
        </p:spPr>
        <p:txBody>
          <a:bodyPr wrap="square" lIns="0" tIns="0" rIns="0" bIns="0" rtlCol="0" anchor="ctr"/>
          <a:lstStyle/>
          <a:p>
            <a:pPr algn="ctr" indent="0" marL="0">
              <a:buNone/>
            </a:pPr>
            <a:r>
              <a:rPr lang="en-US" sz="800" b="1" dirty="0">
                <a:solidFill>
                  <a:srgbClr val="B45F0B"/>
                </a:solidFill>
                <a:latin typeface="Poppins" pitchFamily="34" charset="0"/>
                <a:ea typeface="Poppins" pitchFamily="34" charset="-122"/>
                <a:cs typeface="Poppins" pitchFamily="34" charset="-120"/>
              </a:rPr>
              <a:t>JSON fallback: local development</a:t>
            </a:r>
            <a:endParaRPr lang="en-US" sz="800" dirty="0"/>
          </a:p>
        </p:txBody>
      </p:sp>
      <p:sp>
        <p:nvSpPr>
          <p:cNvPr id="89" name="Shape 62"/>
          <p:cNvSpPr/>
          <p:nvPr/>
        </p:nvSpPr>
        <p:spPr>
          <a:xfrm>
            <a:off x="457200" y="5806440"/>
            <a:ext cx="11274552" cy="530352"/>
          </a:xfrm>
          <a:prstGeom prst="roundRect">
            <a:avLst>
              <a:gd name="adj" fmla="val 24138"/>
            </a:avLst>
          </a:prstGeom>
          <a:solidFill>
            <a:srgbClr val="0B1930"/>
          </a:solidFill>
          <a:ln w="9525">
            <a:solidFill>
              <a:srgbClr val="0B1930"/>
            </a:solidFill>
            <a:prstDash val="solid"/>
          </a:ln>
          <a:effectLst>
            <a:outerShdw sx="100000" sy="100000" kx="0" ky="0" algn="bl" rotWithShape="0" blurRad="152400" dist="38100" dir="5400000">
              <a:srgbClr val="0B1930">
                <a:alpha val="12000"/>
              </a:srgbClr>
            </a:outerShdw>
          </a:effectLst>
        </p:spPr>
      </p:sp>
      <p:sp>
        <p:nvSpPr>
          <p:cNvPr id="90" name="Text 63"/>
          <p:cNvSpPr txBox="1"/>
          <p:nvPr/>
        </p:nvSpPr>
        <p:spPr>
          <a:xfrm>
            <a:off x="731520" y="5806440"/>
            <a:ext cx="1463040" cy="530352"/>
          </a:xfrm>
          <a:prstGeom prst="rect">
            <a:avLst/>
          </a:prstGeom>
          <a:noFill/>
          <a:ln/>
        </p:spPr>
        <p:txBody>
          <a:bodyPr wrap="square" lIns="0" tIns="0" rIns="0" bIns="0" rtlCol="0" anchor="ctr"/>
          <a:lstStyle/>
          <a:p>
            <a:pPr indent="0" marL="0">
              <a:buNone/>
            </a:pPr>
            <a:r>
              <a:rPr lang="en-US" sz="950" b="1" spc="200" kern="0" dirty="0">
                <a:solidFill>
                  <a:srgbClr val="5EEAD4"/>
                </a:solidFill>
                <a:latin typeface="Poppins" pitchFamily="34" charset="0"/>
                <a:ea typeface="Poppins" pitchFamily="34" charset="-122"/>
                <a:cs typeface="Poppins" pitchFamily="34" charset="-120"/>
              </a:rPr>
              <a:t>DATA FLOW</a:t>
            </a:r>
            <a:endParaRPr lang="en-US" sz="950" dirty="0"/>
          </a:p>
        </p:txBody>
      </p:sp>
      <p:sp>
        <p:nvSpPr>
          <p:cNvPr id="91" name="Shape 64"/>
          <p:cNvSpPr/>
          <p:nvPr/>
        </p:nvSpPr>
        <p:spPr>
          <a:xfrm>
            <a:off x="3017520" y="5879592"/>
            <a:ext cx="384048" cy="384048"/>
          </a:xfrm>
          <a:prstGeom prst="ellipse">
            <a:avLst/>
          </a:prstGeom>
          <a:solidFill>
            <a:srgbClr val="12AEA4"/>
          </a:solidFill>
          <a:ln/>
        </p:spPr>
      </p:sp>
      <p:pic>
        <p:nvPicPr>
          <p:cNvPr id="92" name="Image 25" descr="preencoded.png">    </p:cNvPr>
          <p:cNvPicPr>
            <a:picLocks noChangeAspect="1"/>
          </p:cNvPicPr>
          <p:nvPr/>
        </p:nvPicPr>
        <p:blipFill>
          <a:blip r:embed="rId27"/>
          <a:stretch>
            <a:fillRect/>
          </a:stretch>
        </p:blipFill>
        <p:spPr>
          <a:xfrm>
            <a:off x="3113532" y="5975604"/>
            <a:ext cx="192024" cy="192024"/>
          </a:xfrm>
          <a:prstGeom prst="rect">
            <a:avLst/>
          </a:prstGeom>
        </p:spPr>
      </p:pic>
      <p:sp>
        <p:nvSpPr>
          <p:cNvPr id="93" name="Text 65"/>
          <p:cNvSpPr txBox="1"/>
          <p:nvPr/>
        </p:nvSpPr>
        <p:spPr>
          <a:xfrm>
            <a:off x="3520440" y="5806440"/>
            <a:ext cx="1554480" cy="530352"/>
          </a:xfrm>
          <a:prstGeom prst="rect">
            <a:avLst/>
          </a:prstGeom>
          <a:noFill/>
          <a:ln/>
        </p:spPr>
        <p:txBody>
          <a:bodyPr wrap="square" lIns="0" tIns="0" rIns="0" bIns="0" rtlCol="0" anchor="ctr"/>
          <a:lstStyle/>
          <a:p>
            <a:pPr indent="0" marL="0">
              <a:buNone/>
            </a:pPr>
            <a:r>
              <a:rPr lang="en-US" sz="1200" b="1" dirty="0">
                <a:solidFill>
                  <a:srgbClr val="FFFFFF"/>
                </a:solidFill>
                <a:latin typeface="Poppins" pitchFamily="34" charset="0"/>
                <a:ea typeface="Poppins" pitchFamily="34" charset="-122"/>
                <a:cs typeface="Poppins" pitchFamily="34" charset="-120"/>
              </a:rPr>
              <a:t>Frontend</a:t>
            </a:r>
            <a:endParaRPr lang="en-US" sz="1200" dirty="0"/>
          </a:p>
        </p:txBody>
      </p:sp>
      <p:sp>
        <p:nvSpPr>
          <p:cNvPr id="94" name="Shape 66"/>
          <p:cNvSpPr/>
          <p:nvPr/>
        </p:nvSpPr>
        <p:spPr>
          <a:xfrm>
            <a:off x="4846320" y="6071616"/>
            <a:ext cx="685800" cy="0"/>
          </a:xfrm>
          <a:prstGeom prst="line">
            <a:avLst/>
          </a:prstGeom>
          <a:noFill/>
          <a:ln w="28575">
            <a:solidFill>
              <a:srgbClr val="F79330"/>
            </a:solidFill>
            <a:prstDash val="solid"/>
            <a:tailEnd type="triangle"/>
          </a:ln>
        </p:spPr>
      </p:sp>
      <p:sp>
        <p:nvSpPr>
          <p:cNvPr id="95" name="Shape 67"/>
          <p:cNvSpPr/>
          <p:nvPr/>
        </p:nvSpPr>
        <p:spPr>
          <a:xfrm>
            <a:off x="5806440" y="5879592"/>
            <a:ext cx="384048" cy="384048"/>
          </a:xfrm>
          <a:prstGeom prst="ellipse">
            <a:avLst/>
          </a:prstGeom>
          <a:solidFill>
            <a:srgbClr val="EF5B59"/>
          </a:solidFill>
          <a:ln/>
        </p:spPr>
      </p:sp>
      <p:pic>
        <p:nvPicPr>
          <p:cNvPr id="96" name="Image 26" descr="preencoded.png">    </p:cNvPr>
          <p:cNvPicPr>
            <a:picLocks noChangeAspect="1"/>
          </p:cNvPicPr>
          <p:nvPr/>
        </p:nvPicPr>
        <p:blipFill>
          <a:blip r:embed="rId28"/>
          <a:stretch>
            <a:fillRect/>
          </a:stretch>
        </p:blipFill>
        <p:spPr>
          <a:xfrm>
            <a:off x="5902452" y="5975604"/>
            <a:ext cx="192024" cy="192024"/>
          </a:xfrm>
          <a:prstGeom prst="rect">
            <a:avLst/>
          </a:prstGeom>
        </p:spPr>
      </p:pic>
      <p:sp>
        <p:nvSpPr>
          <p:cNvPr id="97" name="Text 68"/>
          <p:cNvSpPr txBox="1"/>
          <p:nvPr/>
        </p:nvSpPr>
        <p:spPr>
          <a:xfrm>
            <a:off x="6309360" y="5806440"/>
            <a:ext cx="1554480" cy="530352"/>
          </a:xfrm>
          <a:prstGeom prst="rect">
            <a:avLst/>
          </a:prstGeom>
          <a:noFill/>
          <a:ln/>
        </p:spPr>
        <p:txBody>
          <a:bodyPr wrap="square" lIns="0" tIns="0" rIns="0" bIns="0" rtlCol="0" anchor="ctr"/>
          <a:lstStyle/>
          <a:p>
            <a:pPr indent="0" marL="0">
              <a:buNone/>
            </a:pPr>
            <a:r>
              <a:rPr lang="en-US" sz="1200" b="1" dirty="0">
                <a:solidFill>
                  <a:srgbClr val="FFFFFF"/>
                </a:solidFill>
                <a:latin typeface="Poppins" pitchFamily="34" charset="0"/>
                <a:ea typeface="Poppins" pitchFamily="34" charset="-122"/>
                <a:cs typeface="Poppins" pitchFamily="34" charset="-120"/>
              </a:rPr>
              <a:t>API</a:t>
            </a:r>
            <a:endParaRPr lang="en-US" sz="1200" dirty="0"/>
          </a:p>
        </p:txBody>
      </p:sp>
      <p:sp>
        <p:nvSpPr>
          <p:cNvPr id="98" name="Shape 69"/>
          <p:cNvSpPr/>
          <p:nvPr/>
        </p:nvSpPr>
        <p:spPr>
          <a:xfrm>
            <a:off x="7635240" y="6071616"/>
            <a:ext cx="685800" cy="0"/>
          </a:xfrm>
          <a:prstGeom prst="line">
            <a:avLst/>
          </a:prstGeom>
          <a:noFill/>
          <a:ln w="28575">
            <a:solidFill>
              <a:srgbClr val="F79330"/>
            </a:solidFill>
            <a:prstDash val="solid"/>
            <a:tailEnd type="triangle"/>
          </a:ln>
        </p:spPr>
      </p:sp>
      <p:sp>
        <p:nvSpPr>
          <p:cNvPr id="99" name="Shape 70"/>
          <p:cNvSpPr/>
          <p:nvPr/>
        </p:nvSpPr>
        <p:spPr>
          <a:xfrm>
            <a:off x="8595360" y="5879592"/>
            <a:ext cx="384048" cy="384048"/>
          </a:xfrm>
          <a:prstGeom prst="ellipse">
            <a:avLst/>
          </a:prstGeom>
          <a:solidFill>
            <a:srgbClr val="F79330"/>
          </a:solidFill>
          <a:ln/>
        </p:spPr>
      </p:sp>
      <p:pic>
        <p:nvPicPr>
          <p:cNvPr id="100" name="Image 27" descr="preencoded.png">    </p:cNvPr>
          <p:cNvPicPr>
            <a:picLocks noChangeAspect="1"/>
          </p:cNvPicPr>
          <p:nvPr/>
        </p:nvPicPr>
        <p:blipFill>
          <a:blip r:embed="rId29"/>
          <a:stretch>
            <a:fillRect/>
          </a:stretch>
        </p:blipFill>
        <p:spPr>
          <a:xfrm>
            <a:off x="8691372" y="5975604"/>
            <a:ext cx="192024" cy="192024"/>
          </a:xfrm>
          <a:prstGeom prst="rect">
            <a:avLst/>
          </a:prstGeom>
        </p:spPr>
      </p:pic>
      <p:sp>
        <p:nvSpPr>
          <p:cNvPr id="101" name="Text 71"/>
          <p:cNvSpPr txBox="1"/>
          <p:nvPr/>
        </p:nvSpPr>
        <p:spPr>
          <a:xfrm>
            <a:off x="9098280" y="5806440"/>
            <a:ext cx="1554480" cy="530352"/>
          </a:xfrm>
          <a:prstGeom prst="rect">
            <a:avLst/>
          </a:prstGeom>
          <a:noFill/>
          <a:ln/>
        </p:spPr>
        <p:txBody>
          <a:bodyPr wrap="square" lIns="0" tIns="0" rIns="0" bIns="0" rtlCol="0" anchor="ctr"/>
          <a:lstStyle/>
          <a:p>
            <a:pPr indent="0" marL="0">
              <a:buNone/>
            </a:pPr>
            <a:r>
              <a:rPr lang="en-US" sz="1200" b="1" dirty="0">
                <a:solidFill>
                  <a:srgbClr val="FFFFFF"/>
                </a:solidFill>
                <a:latin typeface="Poppins" pitchFamily="34" charset="0"/>
                <a:ea typeface="Poppins" pitchFamily="34" charset="-122"/>
                <a:cs typeface="Poppins" pitchFamily="34" charset="-120"/>
              </a:rPr>
              <a:t>Database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SYSTEM ARCHITECTURE</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7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07</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System Architecture</a:t>
            </a:r>
            <a:endParaRPr lang="en-US" sz="3000" dirty="0"/>
          </a:p>
        </p:txBody>
      </p:sp>
      <p:sp>
        <p:nvSpPr>
          <p:cNvPr id="9" name="Shape 6"/>
          <p:cNvSpPr/>
          <p:nvPr/>
        </p:nvSpPr>
        <p:spPr>
          <a:xfrm>
            <a:off x="347472" y="1508760"/>
            <a:ext cx="5705856" cy="2011680"/>
          </a:xfrm>
          <a:prstGeom prst="roundRect">
            <a:avLst>
              <a:gd name="adj" fmla="val 7273"/>
            </a:avLst>
          </a:prstGeom>
          <a:solidFill>
            <a:srgbClr val="DFF5F3">
              <a:alpha val="65000"/>
            </a:srgbClr>
          </a:solidFill>
          <a:ln w="12700">
            <a:solidFill>
              <a:srgbClr val="12AEA4">
                <a:alpha val="40000"/>
              </a:srgbClr>
            </a:solidFill>
            <a:prstDash val="solid"/>
          </a:ln>
        </p:spPr>
      </p:sp>
      <p:sp>
        <p:nvSpPr>
          <p:cNvPr id="10" name="Shape 7"/>
          <p:cNvSpPr/>
          <p:nvPr/>
        </p:nvSpPr>
        <p:spPr>
          <a:xfrm>
            <a:off x="6135624" y="1508760"/>
            <a:ext cx="5705856" cy="2011680"/>
          </a:xfrm>
          <a:prstGeom prst="roundRect">
            <a:avLst>
              <a:gd name="adj" fmla="val 7273"/>
            </a:avLst>
          </a:prstGeom>
          <a:solidFill>
            <a:srgbClr val="FDEAEA">
              <a:alpha val="65000"/>
            </a:srgbClr>
          </a:solidFill>
          <a:ln w="12700">
            <a:solidFill>
              <a:srgbClr val="EF5B59">
                <a:alpha val="40000"/>
              </a:srgbClr>
            </a:solidFill>
            <a:prstDash val="solid"/>
          </a:ln>
        </p:spPr>
      </p:sp>
      <p:sp>
        <p:nvSpPr>
          <p:cNvPr id="11" name="Text 8"/>
          <p:cNvSpPr txBox="1"/>
          <p:nvPr/>
        </p:nvSpPr>
        <p:spPr>
          <a:xfrm>
            <a:off x="548640" y="1563624"/>
            <a:ext cx="2743200" cy="228600"/>
          </a:xfrm>
          <a:prstGeom prst="rect">
            <a:avLst/>
          </a:prstGeom>
          <a:noFill/>
          <a:ln/>
        </p:spPr>
        <p:txBody>
          <a:bodyPr wrap="square" lIns="0" tIns="0" rIns="0" bIns="0" rtlCol="0" anchor="t"/>
          <a:lstStyle/>
          <a:p>
            <a:pPr indent="0" marL="0">
              <a:buNone/>
            </a:pPr>
            <a:r>
              <a:rPr lang="en-US" sz="850" b="1" spc="200" kern="0" dirty="0">
                <a:solidFill>
                  <a:srgbClr val="0B7F77"/>
                </a:solidFill>
                <a:latin typeface="Poppins" pitchFamily="34" charset="0"/>
                <a:ea typeface="Poppins" pitchFamily="34" charset="-122"/>
                <a:cs typeface="Poppins" pitchFamily="34" charset="-120"/>
              </a:rPr>
              <a:t>CLIENT SIDE</a:t>
            </a:r>
            <a:endParaRPr lang="en-US" sz="850" dirty="0"/>
          </a:p>
        </p:txBody>
      </p:sp>
      <p:sp>
        <p:nvSpPr>
          <p:cNvPr id="12" name="Text 9"/>
          <p:cNvSpPr txBox="1"/>
          <p:nvPr/>
        </p:nvSpPr>
        <p:spPr>
          <a:xfrm>
            <a:off x="6336792" y="1563624"/>
            <a:ext cx="2743200" cy="228600"/>
          </a:xfrm>
          <a:prstGeom prst="rect">
            <a:avLst/>
          </a:prstGeom>
          <a:noFill/>
          <a:ln/>
        </p:spPr>
        <p:txBody>
          <a:bodyPr wrap="square" lIns="0" tIns="0" rIns="0" bIns="0" rtlCol="0" anchor="t"/>
          <a:lstStyle/>
          <a:p>
            <a:pPr indent="0" marL="0">
              <a:buNone/>
            </a:pPr>
            <a:r>
              <a:rPr lang="en-US" sz="850" b="1" spc="200" kern="0" dirty="0">
                <a:solidFill>
                  <a:srgbClr val="C2403E"/>
                </a:solidFill>
                <a:latin typeface="Poppins" pitchFamily="34" charset="0"/>
                <a:ea typeface="Poppins" pitchFamily="34" charset="-122"/>
                <a:cs typeface="Poppins" pitchFamily="34" charset="-120"/>
              </a:rPr>
              <a:t>SERVER SIDE</a:t>
            </a:r>
            <a:endParaRPr lang="en-US" sz="850" dirty="0"/>
          </a:p>
        </p:txBody>
      </p:sp>
      <p:sp>
        <p:nvSpPr>
          <p:cNvPr id="13" name="Shape 10"/>
          <p:cNvSpPr/>
          <p:nvPr/>
        </p:nvSpPr>
        <p:spPr>
          <a:xfrm>
            <a:off x="457200" y="1828800"/>
            <a:ext cx="1600200" cy="1554480"/>
          </a:xfrm>
          <a:prstGeom prst="roundRect">
            <a:avLst>
              <a:gd name="adj" fmla="val 8235"/>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4" name="Shape 11"/>
          <p:cNvSpPr/>
          <p:nvPr/>
        </p:nvSpPr>
        <p:spPr>
          <a:xfrm>
            <a:off x="982980" y="1956816"/>
            <a:ext cx="548640" cy="548640"/>
          </a:xfrm>
          <a:prstGeom prst="ellipse">
            <a:avLst/>
          </a:prstGeom>
          <a:solidFill>
            <a:srgbClr val="0B1930"/>
          </a:solidFill>
          <a:ln/>
          <a:effectLst>
            <a:outerShdw sx="100000" sy="100000" kx="0" ky="0" algn="bl" rotWithShape="0" blurRad="152400" dist="38100" dir="5400000">
              <a:srgbClr val="0B1930">
                <a:alpha val="12000"/>
              </a:srgbClr>
            </a:outerShdw>
          </a:effectLst>
        </p:spPr>
      </p:sp>
      <p:pic>
        <p:nvPicPr>
          <p:cNvPr id="15" name="Image 1" descr="preencoded.png">    </p:cNvPr>
          <p:cNvPicPr>
            <a:picLocks noChangeAspect="1"/>
          </p:cNvPicPr>
          <p:nvPr/>
        </p:nvPicPr>
        <p:blipFill>
          <a:blip r:embed="rId3"/>
          <a:stretch>
            <a:fillRect/>
          </a:stretch>
        </p:blipFill>
        <p:spPr>
          <a:xfrm>
            <a:off x="1120140" y="2093976"/>
            <a:ext cx="274320" cy="274320"/>
          </a:xfrm>
          <a:prstGeom prst="rect">
            <a:avLst/>
          </a:prstGeom>
        </p:spPr>
      </p:pic>
      <p:sp>
        <p:nvSpPr>
          <p:cNvPr id="16" name="Text 12"/>
          <p:cNvSpPr txBox="1"/>
          <p:nvPr/>
        </p:nvSpPr>
        <p:spPr>
          <a:xfrm>
            <a:off x="512064" y="2560320"/>
            <a:ext cx="1490472" cy="45720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USER</a:t>
            </a:r>
            <a:endParaRPr lang="en-US" sz="950" dirty="0"/>
          </a:p>
        </p:txBody>
      </p:sp>
      <p:sp>
        <p:nvSpPr>
          <p:cNvPr id="17" name="Text 13"/>
          <p:cNvSpPr txBox="1"/>
          <p:nvPr/>
        </p:nvSpPr>
        <p:spPr>
          <a:xfrm>
            <a:off x="512064" y="3017520"/>
            <a:ext cx="14904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Poppins" pitchFamily="34" charset="0"/>
                <a:ea typeface="Poppins" pitchFamily="34" charset="-122"/>
                <a:cs typeface="Poppins" pitchFamily="34" charset="-120"/>
              </a:rPr>
              <a:t>Three user roles</a:t>
            </a:r>
            <a:endParaRPr lang="en-US" sz="850" dirty="0"/>
          </a:p>
        </p:txBody>
      </p:sp>
      <p:sp>
        <p:nvSpPr>
          <p:cNvPr id="18" name="Shape 14"/>
          <p:cNvSpPr/>
          <p:nvPr/>
        </p:nvSpPr>
        <p:spPr>
          <a:xfrm>
            <a:off x="2084832" y="2606040"/>
            <a:ext cx="279806" cy="0"/>
          </a:xfrm>
          <a:prstGeom prst="line">
            <a:avLst/>
          </a:prstGeom>
          <a:noFill/>
          <a:ln w="28575">
            <a:solidFill>
              <a:srgbClr val="0B1930"/>
            </a:solidFill>
            <a:prstDash val="solid"/>
            <a:tailEnd type="triangle"/>
          </a:ln>
        </p:spPr>
      </p:sp>
      <p:sp>
        <p:nvSpPr>
          <p:cNvPr id="19" name="Shape 15"/>
          <p:cNvSpPr/>
          <p:nvPr/>
        </p:nvSpPr>
        <p:spPr>
          <a:xfrm>
            <a:off x="2392070" y="1828800"/>
            <a:ext cx="1600200" cy="1554480"/>
          </a:xfrm>
          <a:prstGeom prst="roundRect">
            <a:avLst>
              <a:gd name="adj" fmla="val 8235"/>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0" name="Shape 16"/>
          <p:cNvSpPr/>
          <p:nvPr/>
        </p:nvSpPr>
        <p:spPr>
          <a:xfrm>
            <a:off x="2917850" y="1956816"/>
            <a:ext cx="548640" cy="54864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21" name="Image 2" descr="preencoded.png">    </p:cNvPr>
          <p:cNvPicPr>
            <a:picLocks noChangeAspect="1"/>
          </p:cNvPicPr>
          <p:nvPr/>
        </p:nvPicPr>
        <p:blipFill>
          <a:blip r:embed="rId4"/>
          <a:stretch>
            <a:fillRect/>
          </a:stretch>
        </p:blipFill>
        <p:spPr>
          <a:xfrm>
            <a:off x="3055010" y="2093976"/>
            <a:ext cx="274320" cy="274320"/>
          </a:xfrm>
          <a:prstGeom prst="rect">
            <a:avLst/>
          </a:prstGeom>
        </p:spPr>
      </p:pic>
      <p:sp>
        <p:nvSpPr>
          <p:cNvPr id="22" name="Text 17"/>
          <p:cNvSpPr txBox="1"/>
          <p:nvPr/>
        </p:nvSpPr>
        <p:spPr>
          <a:xfrm>
            <a:off x="2446934" y="2560320"/>
            <a:ext cx="1490472" cy="45720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REACT / VITE FRONTEND</a:t>
            </a:r>
            <a:endParaRPr lang="en-US" sz="950" dirty="0"/>
          </a:p>
        </p:txBody>
      </p:sp>
      <p:sp>
        <p:nvSpPr>
          <p:cNvPr id="23" name="Text 18"/>
          <p:cNvSpPr txBox="1"/>
          <p:nvPr/>
        </p:nvSpPr>
        <p:spPr>
          <a:xfrm>
            <a:off x="2446934" y="3017520"/>
            <a:ext cx="14904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Poppins" pitchFamily="34" charset="0"/>
                <a:ea typeface="Poppins" pitchFamily="34" charset="-122"/>
                <a:cs typeface="Poppins" pitchFamily="34" charset="-120"/>
              </a:rPr>
              <a:t>Public + role pages</a:t>
            </a:r>
            <a:endParaRPr lang="en-US" sz="850" dirty="0"/>
          </a:p>
        </p:txBody>
      </p:sp>
      <p:sp>
        <p:nvSpPr>
          <p:cNvPr id="24" name="Shape 19"/>
          <p:cNvSpPr/>
          <p:nvPr/>
        </p:nvSpPr>
        <p:spPr>
          <a:xfrm>
            <a:off x="4019702" y="2606040"/>
            <a:ext cx="279806" cy="0"/>
          </a:xfrm>
          <a:prstGeom prst="line">
            <a:avLst/>
          </a:prstGeom>
          <a:noFill/>
          <a:ln w="28575">
            <a:solidFill>
              <a:srgbClr val="0B1930"/>
            </a:solidFill>
            <a:prstDash val="solid"/>
            <a:tailEnd type="triangle"/>
          </a:ln>
        </p:spPr>
      </p:sp>
      <p:sp>
        <p:nvSpPr>
          <p:cNvPr id="25" name="Shape 20"/>
          <p:cNvSpPr/>
          <p:nvPr/>
        </p:nvSpPr>
        <p:spPr>
          <a:xfrm>
            <a:off x="4326941" y="1828800"/>
            <a:ext cx="1600200" cy="1554480"/>
          </a:xfrm>
          <a:prstGeom prst="roundRect">
            <a:avLst>
              <a:gd name="adj" fmla="val 8235"/>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6" name="Shape 21"/>
          <p:cNvSpPr/>
          <p:nvPr/>
        </p:nvSpPr>
        <p:spPr>
          <a:xfrm>
            <a:off x="4852721" y="1956816"/>
            <a:ext cx="548640" cy="54864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27" name="Image 3" descr="preencoded.png">    </p:cNvPr>
          <p:cNvPicPr>
            <a:picLocks noChangeAspect="1"/>
          </p:cNvPicPr>
          <p:nvPr/>
        </p:nvPicPr>
        <p:blipFill>
          <a:blip r:embed="rId5"/>
          <a:stretch>
            <a:fillRect/>
          </a:stretch>
        </p:blipFill>
        <p:spPr>
          <a:xfrm>
            <a:off x="4989881" y="2093976"/>
            <a:ext cx="274320" cy="274320"/>
          </a:xfrm>
          <a:prstGeom prst="rect">
            <a:avLst/>
          </a:prstGeom>
        </p:spPr>
      </p:pic>
      <p:sp>
        <p:nvSpPr>
          <p:cNvPr id="28" name="Text 22"/>
          <p:cNvSpPr txBox="1"/>
          <p:nvPr/>
        </p:nvSpPr>
        <p:spPr>
          <a:xfrm>
            <a:off x="4381805" y="2560320"/>
            <a:ext cx="1490472" cy="45720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AXIOS</a:t>
            </a:r>
            <a:endParaRPr lang="en-US" sz="950" dirty="0"/>
          </a:p>
        </p:txBody>
      </p:sp>
      <p:sp>
        <p:nvSpPr>
          <p:cNvPr id="29" name="Text 23"/>
          <p:cNvSpPr txBox="1"/>
          <p:nvPr/>
        </p:nvSpPr>
        <p:spPr>
          <a:xfrm>
            <a:off x="4381805" y="3017520"/>
            <a:ext cx="14904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Poppins" pitchFamily="34" charset="0"/>
                <a:ea typeface="Poppins" pitchFamily="34" charset="-122"/>
                <a:cs typeface="Poppins" pitchFamily="34" charset="-120"/>
              </a:rPr>
              <a:t>HTTP requests</a:t>
            </a:r>
            <a:endParaRPr lang="en-US" sz="850" dirty="0"/>
          </a:p>
        </p:txBody>
      </p:sp>
      <p:sp>
        <p:nvSpPr>
          <p:cNvPr id="30" name="Shape 24"/>
          <p:cNvSpPr/>
          <p:nvPr/>
        </p:nvSpPr>
        <p:spPr>
          <a:xfrm>
            <a:off x="5954573" y="2606040"/>
            <a:ext cx="279806" cy="0"/>
          </a:xfrm>
          <a:prstGeom prst="line">
            <a:avLst/>
          </a:prstGeom>
          <a:noFill/>
          <a:ln w="28575">
            <a:solidFill>
              <a:srgbClr val="0B1930"/>
            </a:solidFill>
            <a:prstDash val="solid"/>
            <a:tailEnd type="triangle"/>
          </a:ln>
        </p:spPr>
      </p:sp>
      <p:sp>
        <p:nvSpPr>
          <p:cNvPr id="31" name="Shape 25"/>
          <p:cNvSpPr/>
          <p:nvPr/>
        </p:nvSpPr>
        <p:spPr>
          <a:xfrm>
            <a:off x="6261811" y="1828800"/>
            <a:ext cx="1600200" cy="1554480"/>
          </a:xfrm>
          <a:prstGeom prst="roundRect">
            <a:avLst>
              <a:gd name="adj" fmla="val 8235"/>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2" name="Shape 26"/>
          <p:cNvSpPr/>
          <p:nvPr/>
        </p:nvSpPr>
        <p:spPr>
          <a:xfrm>
            <a:off x="6787591" y="1956816"/>
            <a:ext cx="548640" cy="54864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33" name="Image 4" descr="preencoded.png">    </p:cNvPr>
          <p:cNvPicPr>
            <a:picLocks noChangeAspect="1"/>
          </p:cNvPicPr>
          <p:nvPr/>
        </p:nvPicPr>
        <p:blipFill>
          <a:blip r:embed="rId6"/>
          <a:stretch>
            <a:fillRect/>
          </a:stretch>
        </p:blipFill>
        <p:spPr>
          <a:xfrm>
            <a:off x="6924751" y="2093976"/>
            <a:ext cx="274320" cy="274320"/>
          </a:xfrm>
          <a:prstGeom prst="rect">
            <a:avLst/>
          </a:prstGeom>
        </p:spPr>
      </p:pic>
      <p:sp>
        <p:nvSpPr>
          <p:cNvPr id="34" name="Text 27"/>
          <p:cNvSpPr txBox="1"/>
          <p:nvPr/>
        </p:nvSpPr>
        <p:spPr>
          <a:xfrm>
            <a:off x="6316675" y="2560320"/>
            <a:ext cx="1490472" cy="45720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EXPRESS REST API</a:t>
            </a:r>
            <a:endParaRPr lang="en-US" sz="950" dirty="0"/>
          </a:p>
        </p:txBody>
      </p:sp>
      <p:sp>
        <p:nvSpPr>
          <p:cNvPr id="35" name="Text 28"/>
          <p:cNvSpPr txBox="1"/>
          <p:nvPr/>
        </p:nvSpPr>
        <p:spPr>
          <a:xfrm>
            <a:off x="6316675" y="3017520"/>
            <a:ext cx="14904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Poppins" pitchFamily="34" charset="0"/>
                <a:ea typeface="Poppins" pitchFamily="34" charset="-122"/>
                <a:cs typeface="Poppins" pitchFamily="34" charset="-120"/>
              </a:rPr>
              <a:t>Runs on port 9000</a:t>
            </a:r>
            <a:endParaRPr lang="en-US" sz="850" dirty="0"/>
          </a:p>
        </p:txBody>
      </p:sp>
      <p:sp>
        <p:nvSpPr>
          <p:cNvPr id="36" name="Shape 29"/>
          <p:cNvSpPr/>
          <p:nvPr/>
        </p:nvSpPr>
        <p:spPr>
          <a:xfrm>
            <a:off x="7889443" y="2606040"/>
            <a:ext cx="279806" cy="0"/>
          </a:xfrm>
          <a:prstGeom prst="line">
            <a:avLst/>
          </a:prstGeom>
          <a:noFill/>
          <a:ln w="28575">
            <a:solidFill>
              <a:srgbClr val="0B1930"/>
            </a:solidFill>
            <a:prstDash val="solid"/>
            <a:tailEnd type="triangle"/>
          </a:ln>
        </p:spPr>
      </p:sp>
      <p:sp>
        <p:nvSpPr>
          <p:cNvPr id="37" name="Shape 30"/>
          <p:cNvSpPr/>
          <p:nvPr/>
        </p:nvSpPr>
        <p:spPr>
          <a:xfrm>
            <a:off x="8196682" y="1828800"/>
            <a:ext cx="1600200" cy="1554480"/>
          </a:xfrm>
          <a:prstGeom prst="roundRect">
            <a:avLst>
              <a:gd name="adj" fmla="val 8235"/>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8" name="Shape 31"/>
          <p:cNvSpPr/>
          <p:nvPr/>
        </p:nvSpPr>
        <p:spPr>
          <a:xfrm>
            <a:off x="8722462" y="1956816"/>
            <a:ext cx="548640" cy="548640"/>
          </a:xfrm>
          <a:prstGeom prst="ellipse">
            <a:avLst/>
          </a:prstGeom>
          <a:solidFill>
            <a:srgbClr val="0B1930"/>
          </a:solidFill>
          <a:ln/>
          <a:effectLst>
            <a:outerShdw sx="100000" sy="100000" kx="0" ky="0" algn="bl" rotWithShape="0" blurRad="152400" dist="38100" dir="5400000">
              <a:srgbClr val="0B1930">
                <a:alpha val="12000"/>
              </a:srgbClr>
            </a:outerShdw>
          </a:effectLst>
        </p:spPr>
      </p:sp>
      <p:pic>
        <p:nvPicPr>
          <p:cNvPr id="39" name="Image 5" descr="preencoded.png">    </p:cNvPr>
          <p:cNvPicPr>
            <a:picLocks noChangeAspect="1"/>
          </p:cNvPicPr>
          <p:nvPr/>
        </p:nvPicPr>
        <p:blipFill>
          <a:blip r:embed="rId7"/>
          <a:stretch>
            <a:fillRect/>
          </a:stretch>
        </p:blipFill>
        <p:spPr>
          <a:xfrm>
            <a:off x="8859622" y="2093976"/>
            <a:ext cx="274320" cy="274320"/>
          </a:xfrm>
          <a:prstGeom prst="rect">
            <a:avLst/>
          </a:prstGeom>
        </p:spPr>
      </p:pic>
      <p:sp>
        <p:nvSpPr>
          <p:cNvPr id="40" name="Text 32"/>
          <p:cNvSpPr txBox="1"/>
          <p:nvPr/>
        </p:nvSpPr>
        <p:spPr>
          <a:xfrm>
            <a:off x="8251546" y="2560320"/>
            <a:ext cx="1490472" cy="45720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JWT AUTHENTICATION</a:t>
            </a:r>
            <a:endParaRPr lang="en-US" sz="950" dirty="0"/>
          </a:p>
        </p:txBody>
      </p:sp>
      <p:sp>
        <p:nvSpPr>
          <p:cNvPr id="41" name="Text 33"/>
          <p:cNvSpPr txBox="1"/>
          <p:nvPr/>
        </p:nvSpPr>
        <p:spPr>
          <a:xfrm>
            <a:off x="8251546" y="3017520"/>
            <a:ext cx="14904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Poppins" pitchFamily="34" charset="0"/>
                <a:ea typeface="Poppins" pitchFamily="34" charset="-122"/>
                <a:cs typeface="Poppins" pitchFamily="34" charset="-120"/>
              </a:rPr>
              <a:t>Bearer token check</a:t>
            </a:r>
            <a:endParaRPr lang="en-US" sz="850" dirty="0"/>
          </a:p>
        </p:txBody>
      </p:sp>
      <p:sp>
        <p:nvSpPr>
          <p:cNvPr id="42" name="Shape 34"/>
          <p:cNvSpPr/>
          <p:nvPr/>
        </p:nvSpPr>
        <p:spPr>
          <a:xfrm>
            <a:off x="9824314" y="2606040"/>
            <a:ext cx="279806" cy="0"/>
          </a:xfrm>
          <a:prstGeom prst="line">
            <a:avLst/>
          </a:prstGeom>
          <a:noFill/>
          <a:ln w="28575">
            <a:solidFill>
              <a:srgbClr val="0B1930"/>
            </a:solidFill>
            <a:prstDash val="solid"/>
            <a:tailEnd type="triangle"/>
          </a:ln>
        </p:spPr>
      </p:sp>
      <p:sp>
        <p:nvSpPr>
          <p:cNvPr id="43" name="Shape 35"/>
          <p:cNvSpPr/>
          <p:nvPr/>
        </p:nvSpPr>
        <p:spPr>
          <a:xfrm>
            <a:off x="10131552" y="1828800"/>
            <a:ext cx="1600200" cy="1554480"/>
          </a:xfrm>
          <a:prstGeom prst="roundRect">
            <a:avLst>
              <a:gd name="adj" fmla="val 8235"/>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4" name="Shape 36"/>
          <p:cNvSpPr/>
          <p:nvPr/>
        </p:nvSpPr>
        <p:spPr>
          <a:xfrm>
            <a:off x="10657332" y="1956816"/>
            <a:ext cx="548640" cy="54864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45" name="Image 6" descr="preencoded.png">    </p:cNvPr>
          <p:cNvPicPr>
            <a:picLocks noChangeAspect="1"/>
          </p:cNvPicPr>
          <p:nvPr/>
        </p:nvPicPr>
        <p:blipFill>
          <a:blip r:embed="rId8"/>
          <a:stretch>
            <a:fillRect/>
          </a:stretch>
        </p:blipFill>
        <p:spPr>
          <a:xfrm>
            <a:off x="10794492" y="2093976"/>
            <a:ext cx="274320" cy="274320"/>
          </a:xfrm>
          <a:prstGeom prst="rect">
            <a:avLst/>
          </a:prstGeom>
        </p:spPr>
      </p:pic>
      <p:sp>
        <p:nvSpPr>
          <p:cNvPr id="46" name="Text 37"/>
          <p:cNvSpPr txBox="1"/>
          <p:nvPr/>
        </p:nvSpPr>
        <p:spPr>
          <a:xfrm>
            <a:off x="10186416" y="2560320"/>
            <a:ext cx="1490472" cy="45720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MONGODB / JSON DATABASE</a:t>
            </a:r>
            <a:endParaRPr lang="en-US" sz="950" dirty="0"/>
          </a:p>
        </p:txBody>
      </p:sp>
      <p:sp>
        <p:nvSpPr>
          <p:cNvPr id="47" name="Text 38"/>
          <p:cNvSpPr txBox="1"/>
          <p:nvPr/>
        </p:nvSpPr>
        <p:spPr>
          <a:xfrm>
            <a:off x="10186416" y="3017520"/>
            <a:ext cx="1490472" cy="274320"/>
          </a:xfrm>
          <a:prstGeom prst="rect">
            <a:avLst/>
          </a:prstGeom>
          <a:noFill/>
          <a:ln/>
        </p:spPr>
        <p:txBody>
          <a:bodyPr wrap="square" lIns="0" tIns="0" rIns="0" bIns="0" rtlCol="0" anchor="ctr"/>
          <a:lstStyle/>
          <a:p>
            <a:pPr algn="ctr" indent="0" marL="0">
              <a:buNone/>
            </a:pPr>
            <a:r>
              <a:rPr lang="en-US" sz="850" dirty="0">
                <a:solidFill>
                  <a:srgbClr val="64748B"/>
                </a:solidFill>
                <a:latin typeface="Poppins" pitchFamily="34" charset="0"/>
                <a:ea typeface="Poppins" pitchFamily="34" charset="-122"/>
                <a:cs typeface="Poppins" pitchFamily="34" charset="-120"/>
              </a:rPr>
              <a:t>Data storage</a:t>
            </a:r>
            <a:endParaRPr lang="en-US" sz="850" dirty="0"/>
          </a:p>
        </p:txBody>
      </p:sp>
      <p:sp>
        <p:nvSpPr>
          <p:cNvPr id="48" name="Text 39"/>
          <p:cNvSpPr txBox="1"/>
          <p:nvPr/>
        </p:nvSpPr>
        <p:spPr>
          <a:xfrm>
            <a:off x="457200" y="3703320"/>
            <a:ext cx="2011680" cy="502920"/>
          </a:xfrm>
          <a:prstGeom prst="rect">
            <a:avLst/>
          </a:prstGeom>
          <a:noFill/>
          <a:ln/>
        </p:spPr>
        <p:txBody>
          <a:bodyPr wrap="square" lIns="0" tIns="0" rIns="0" bIns="0" rtlCol="0" anchor="ctr"/>
          <a:lstStyle/>
          <a:p>
            <a:pPr indent="0" marL="0">
              <a:buNone/>
            </a:pPr>
            <a:r>
              <a:rPr lang="en-US" sz="1000" b="1" spc="200" kern="0" dirty="0">
                <a:solidFill>
                  <a:srgbClr val="0B1930"/>
                </a:solidFill>
                <a:latin typeface="Poppins" pitchFamily="34" charset="0"/>
                <a:ea typeface="Poppins" pitchFamily="34" charset="-122"/>
                <a:cs typeface="Poppins" pitchFamily="34" charset="-120"/>
              </a:rPr>
              <a:t>REQUEST FLOW</a:t>
            </a:r>
            <a:endParaRPr lang="en-US" sz="1000" dirty="0"/>
          </a:p>
        </p:txBody>
      </p:sp>
      <p:sp>
        <p:nvSpPr>
          <p:cNvPr id="49" name="Shape 40"/>
          <p:cNvSpPr/>
          <p:nvPr/>
        </p:nvSpPr>
        <p:spPr>
          <a:xfrm>
            <a:off x="2514600" y="3703320"/>
            <a:ext cx="1965960" cy="502920"/>
          </a:xfrm>
          <a:prstGeom prst="roundRect">
            <a:avLst>
              <a:gd name="adj" fmla="val 49091"/>
            </a:avLst>
          </a:prstGeom>
          <a:solidFill>
            <a:srgbClr val="0B1930"/>
          </a:solidFill>
          <a:ln w="9525">
            <a:solidFill>
              <a:srgbClr val="0B1930"/>
            </a:solidFill>
            <a:prstDash val="solid"/>
          </a:ln>
        </p:spPr>
      </p:sp>
      <p:sp>
        <p:nvSpPr>
          <p:cNvPr id="50" name="Shape 41"/>
          <p:cNvSpPr/>
          <p:nvPr/>
        </p:nvSpPr>
        <p:spPr>
          <a:xfrm>
            <a:off x="2606040" y="3794760"/>
            <a:ext cx="320040" cy="320040"/>
          </a:xfrm>
          <a:prstGeom prst="ellipse">
            <a:avLst/>
          </a:prstGeom>
          <a:solidFill>
            <a:srgbClr val="12AEA4"/>
          </a:solidFill>
          <a:ln/>
        </p:spPr>
      </p:sp>
      <p:sp>
        <p:nvSpPr>
          <p:cNvPr id="51" name="Text 42"/>
          <p:cNvSpPr txBox="1"/>
          <p:nvPr/>
        </p:nvSpPr>
        <p:spPr>
          <a:xfrm>
            <a:off x="2606040" y="3794760"/>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a:t>
            </a:r>
            <a:endParaRPr lang="en-US" sz="1000" dirty="0"/>
          </a:p>
        </p:txBody>
      </p:sp>
      <p:sp>
        <p:nvSpPr>
          <p:cNvPr id="52" name="Text 43"/>
          <p:cNvSpPr txBox="1"/>
          <p:nvPr/>
        </p:nvSpPr>
        <p:spPr>
          <a:xfrm>
            <a:off x="3017520" y="3703320"/>
            <a:ext cx="1417320" cy="5029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Request</a:t>
            </a:r>
            <a:endParaRPr lang="en-US" sz="1000" dirty="0"/>
          </a:p>
        </p:txBody>
      </p:sp>
      <p:sp>
        <p:nvSpPr>
          <p:cNvPr id="53" name="Shape 44"/>
          <p:cNvSpPr/>
          <p:nvPr/>
        </p:nvSpPr>
        <p:spPr>
          <a:xfrm>
            <a:off x="4507992" y="3954780"/>
            <a:ext cx="310896" cy="0"/>
          </a:xfrm>
          <a:prstGeom prst="line">
            <a:avLst/>
          </a:prstGeom>
          <a:noFill/>
          <a:ln w="28575">
            <a:solidFill>
              <a:srgbClr val="F79330"/>
            </a:solidFill>
            <a:prstDash val="solid"/>
            <a:tailEnd type="triangle"/>
          </a:ln>
        </p:spPr>
      </p:sp>
      <p:sp>
        <p:nvSpPr>
          <p:cNvPr id="54" name="Shape 45"/>
          <p:cNvSpPr/>
          <p:nvPr/>
        </p:nvSpPr>
        <p:spPr>
          <a:xfrm>
            <a:off x="4846320" y="3703320"/>
            <a:ext cx="1965960" cy="502920"/>
          </a:xfrm>
          <a:prstGeom prst="roundRect">
            <a:avLst>
              <a:gd name="adj" fmla="val 49091"/>
            </a:avLst>
          </a:prstGeom>
          <a:solidFill>
            <a:srgbClr val="0B1930"/>
          </a:solidFill>
          <a:ln w="9525">
            <a:solidFill>
              <a:srgbClr val="0B1930"/>
            </a:solidFill>
            <a:prstDash val="solid"/>
          </a:ln>
        </p:spPr>
      </p:sp>
      <p:sp>
        <p:nvSpPr>
          <p:cNvPr id="55" name="Shape 46"/>
          <p:cNvSpPr/>
          <p:nvPr/>
        </p:nvSpPr>
        <p:spPr>
          <a:xfrm>
            <a:off x="4937760" y="3794760"/>
            <a:ext cx="320040" cy="320040"/>
          </a:xfrm>
          <a:prstGeom prst="ellipse">
            <a:avLst/>
          </a:prstGeom>
          <a:solidFill>
            <a:srgbClr val="F79330"/>
          </a:solidFill>
          <a:ln/>
        </p:spPr>
      </p:sp>
      <p:sp>
        <p:nvSpPr>
          <p:cNvPr id="56" name="Text 47"/>
          <p:cNvSpPr txBox="1"/>
          <p:nvPr/>
        </p:nvSpPr>
        <p:spPr>
          <a:xfrm>
            <a:off x="4937760" y="3794760"/>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2</a:t>
            </a:r>
            <a:endParaRPr lang="en-US" sz="1000" dirty="0"/>
          </a:p>
        </p:txBody>
      </p:sp>
      <p:sp>
        <p:nvSpPr>
          <p:cNvPr id="57" name="Text 48"/>
          <p:cNvSpPr txBox="1"/>
          <p:nvPr/>
        </p:nvSpPr>
        <p:spPr>
          <a:xfrm>
            <a:off x="5349240" y="3703320"/>
            <a:ext cx="1417320" cy="5029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Authentication</a:t>
            </a:r>
            <a:endParaRPr lang="en-US" sz="1000" dirty="0"/>
          </a:p>
        </p:txBody>
      </p:sp>
      <p:sp>
        <p:nvSpPr>
          <p:cNvPr id="58" name="Shape 49"/>
          <p:cNvSpPr/>
          <p:nvPr/>
        </p:nvSpPr>
        <p:spPr>
          <a:xfrm>
            <a:off x="6839712" y="3954780"/>
            <a:ext cx="310896" cy="0"/>
          </a:xfrm>
          <a:prstGeom prst="line">
            <a:avLst/>
          </a:prstGeom>
          <a:noFill/>
          <a:ln w="28575">
            <a:solidFill>
              <a:srgbClr val="F79330"/>
            </a:solidFill>
            <a:prstDash val="solid"/>
            <a:tailEnd type="triangle"/>
          </a:ln>
        </p:spPr>
      </p:sp>
      <p:sp>
        <p:nvSpPr>
          <p:cNvPr id="59" name="Shape 50"/>
          <p:cNvSpPr/>
          <p:nvPr/>
        </p:nvSpPr>
        <p:spPr>
          <a:xfrm>
            <a:off x="7178040" y="3703320"/>
            <a:ext cx="1965960" cy="502920"/>
          </a:xfrm>
          <a:prstGeom prst="roundRect">
            <a:avLst>
              <a:gd name="adj" fmla="val 49091"/>
            </a:avLst>
          </a:prstGeom>
          <a:solidFill>
            <a:srgbClr val="0B1930"/>
          </a:solidFill>
          <a:ln w="9525">
            <a:solidFill>
              <a:srgbClr val="0B1930"/>
            </a:solidFill>
            <a:prstDash val="solid"/>
          </a:ln>
        </p:spPr>
      </p:sp>
      <p:sp>
        <p:nvSpPr>
          <p:cNvPr id="60" name="Shape 51"/>
          <p:cNvSpPr/>
          <p:nvPr/>
        </p:nvSpPr>
        <p:spPr>
          <a:xfrm>
            <a:off x="7269480" y="3794760"/>
            <a:ext cx="320040" cy="320040"/>
          </a:xfrm>
          <a:prstGeom prst="ellipse">
            <a:avLst/>
          </a:prstGeom>
          <a:solidFill>
            <a:srgbClr val="EF5B59"/>
          </a:solidFill>
          <a:ln/>
        </p:spPr>
      </p:sp>
      <p:sp>
        <p:nvSpPr>
          <p:cNvPr id="61" name="Text 52"/>
          <p:cNvSpPr txBox="1"/>
          <p:nvPr/>
        </p:nvSpPr>
        <p:spPr>
          <a:xfrm>
            <a:off x="7269480" y="3794760"/>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3</a:t>
            </a:r>
            <a:endParaRPr lang="en-US" sz="1000" dirty="0"/>
          </a:p>
        </p:txBody>
      </p:sp>
      <p:sp>
        <p:nvSpPr>
          <p:cNvPr id="62" name="Text 53"/>
          <p:cNvSpPr txBox="1"/>
          <p:nvPr/>
        </p:nvSpPr>
        <p:spPr>
          <a:xfrm>
            <a:off x="7680960" y="3703320"/>
            <a:ext cx="1417320" cy="5029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Database</a:t>
            </a:r>
            <a:endParaRPr lang="en-US" sz="1000" dirty="0"/>
          </a:p>
        </p:txBody>
      </p:sp>
      <p:sp>
        <p:nvSpPr>
          <p:cNvPr id="63" name="Shape 54"/>
          <p:cNvSpPr/>
          <p:nvPr/>
        </p:nvSpPr>
        <p:spPr>
          <a:xfrm>
            <a:off x="9171432" y="3954780"/>
            <a:ext cx="310896" cy="0"/>
          </a:xfrm>
          <a:prstGeom prst="line">
            <a:avLst/>
          </a:prstGeom>
          <a:noFill/>
          <a:ln w="28575">
            <a:solidFill>
              <a:srgbClr val="F79330"/>
            </a:solidFill>
            <a:prstDash val="solid"/>
            <a:tailEnd type="triangle"/>
          </a:ln>
        </p:spPr>
      </p:sp>
      <p:sp>
        <p:nvSpPr>
          <p:cNvPr id="64" name="Shape 55"/>
          <p:cNvSpPr/>
          <p:nvPr/>
        </p:nvSpPr>
        <p:spPr>
          <a:xfrm>
            <a:off x="9509760" y="3703320"/>
            <a:ext cx="1965960" cy="502920"/>
          </a:xfrm>
          <a:prstGeom prst="roundRect">
            <a:avLst>
              <a:gd name="adj" fmla="val 49091"/>
            </a:avLst>
          </a:prstGeom>
          <a:solidFill>
            <a:srgbClr val="0B1930"/>
          </a:solidFill>
          <a:ln w="9525">
            <a:solidFill>
              <a:srgbClr val="0B1930"/>
            </a:solidFill>
            <a:prstDash val="solid"/>
          </a:ln>
        </p:spPr>
      </p:sp>
      <p:sp>
        <p:nvSpPr>
          <p:cNvPr id="65" name="Shape 56"/>
          <p:cNvSpPr/>
          <p:nvPr/>
        </p:nvSpPr>
        <p:spPr>
          <a:xfrm>
            <a:off x="9601200" y="3794760"/>
            <a:ext cx="320040" cy="320040"/>
          </a:xfrm>
          <a:prstGeom prst="ellipse">
            <a:avLst/>
          </a:prstGeom>
          <a:solidFill>
            <a:srgbClr val="5EEAD4"/>
          </a:solidFill>
          <a:ln/>
        </p:spPr>
      </p:sp>
      <p:sp>
        <p:nvSpPr>
          <p:cNvPr id="66" name="Text 57"/>
          <p:cNvSpPr txBox="1"/>
          <p:nvPr/>
        </p:nvSpPr>
        <p:spPr>
          <a:xfrm>
            <a:off x="9601200" y="3794760"/>
            <a:ext cx="320040" cy="320040"/>
          </a:xfrm>
          <a:prstGeom prst="rect">
            <a:avLst/>
          </a:prstGeom>
          <a:noFill/>
          <a:ln/>
        </p:spPr>
        <p:txBody>
          <a:bodyPr wrap="square" lIns="0" tIns="0" rIns="0" bIns="0" rtlCol="0" anchor="ctr"/>
          <a:lstStyle/>
          <a:p>
            <a:pPr algn="ctr" indent="0" marL="0">
              <a:buNone/>
            </a:pPr>
            <a:r>
              <a:rPr lang="en-US" sz="1000" b="1" dirty="0">
                <a:solidFill>
                  <a:srgbClr val="0B1930"/>
                </a:solidFill>
                <a:latin typeface="Poppins" pitchFamily="34" charset="0"/>
                <a:ea typeface="Poppins" pitchFamily="34" charset="-122"/>
                <a:cs typeface="Poppins" pitchFamily="34" charset="-120"/>
              </a:rPr>
              <a:t>4</a:t>
            </a:r>
            <a:endParaRPr lang="en-US" sz="1000" dirty="0"/>
          </a:p>
        </p:txBody>
      </p:sp>
      <p:sp>
        <p:nvSpPr>
          <p:cNvPr id="67" name="Text 58"/>
          <p:cNvSpPr txBox="1"/>
          <p:nvPr/>
        </p:nvSpPr>
        <p:spPr>
          <a:xfrm>
            <a:off x="10012680" y="3703320"/>
            <a:ext cx="1417320" cy="5029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Response</a:t>
            </a:r>
            <a:endParaRPr lang="en-US" sz="1000" dirty="0"/>
          </a:p>
        </p:txBody>
      </p:sp>
      <p:sp>
        <p:nvSpPr>
          <p:cNvPr id="68" name="Shape 59"/>
          <p:cNvSpPr/>
          <p:nvPr/>
        </p:nvSpPr>
        <p:spPr>
          <a:xfrm>
            <a:off x="457200" y="4480560"/>
            <a:ext cx="3575304" cy="1810512"/>
          </a:xfrm>
          <a:prstGeom prst="roundRect">
            <a:avLst>
              <a:gd name="adj" fmla="val 7071"/>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69" name="Shape 60"/>
          <p:cNvSpPr/>
          <p:nvPr/>
        </p:nvSpPr>
        <p:spPr>
          <a:xfrm>
            <a:off x="685800" y="4681728"/>
            <a:ext cx="548640" cy="54864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70" name="Image 7" descr="preencoded.png">    </p:cNvPr>
          <p:cNvPicPr>
            <a:picLocks noChangeAspect="1"/>
          </p:cNvPicPr>
          <p:nvPr/>
        </p:nvPicPr>
        <p:blipFill>
          <a:blip r:embed="rId9"/>
          <a:stretch>
            <a:fillRect/>
          </a:stretch>
        </p:blipFill>
        <p:spPr>
          <a:xfrm>
            <a:off x="822960" y="4818888"/>
            <a:ext cx="274320" cy="274320"/>
          </a:xfrm>
          <a:prstGeom prst="rect">
            <a:avLst/>
          </a:prstGeom>
        </p:spPr>
      </p:pic>
      <p:sp>
        <p:nvSpPr>
          <p:cNvPr id="71" name="Text 61"/>
          <p:cNvSpPr txBox="1"/>
          <p:nvPr/>
        </p:nvSpPr>
        <p:spPr>
          <a:xfrm>
            <a:off x="1417320" y="4681728"/>
            <a:ext cx="2478024" cy="548640"/>
          </a:xfrm>
          <a:prstGeom prst="rect">
            <a:avLst/>
          </a:prstGeom>
          <a:noFill/>
          <a:ln/>
        </p:spPr>
        <p:txBody>
          <a:bodyPr wrap="square" lIns="0" tIns="0" rIns="0" bIns="0" rtlCol="0" anchor="ctr"/>
          <a:lstStyle/>
          <a:p>
            <a:pPr indent="0" marL="0">
              <a:buNone/>
            </a:pPr>
            <a:r>
              <a:rPr lang="en-US" sz="1300" b="1" dirty="0">
                <a:solidFill>
                  <a:srgbClr val="0B1930"/>
                </a:solidFill>
                <a:latin typeface="Poppins" pitchFamily="34" charset="0"/>
                <a:ea typeface="Poppins" pitchFamily="34" charset="-122"/>
                <a:cs typeface="Poppins" pitchFamily="34" charset="-120"/>
              </a:rPr>
              <a:t>FRONTEND</a:t>
            </a:r>
            <a:endParaRPr lang="en-US" sz="1300" dirty="0"/>
          </a:p>
        </p:txBody>
      </p:sp>
      <p:sp>
        <p:nvSpPr>
          <p:cNvPr id="72" name="Text 62"/>
          <p:cNvSpPr txBox="1"/>
          <p:nvPr/>
        </p:nvSpPr>
        <p:spPr>
          <a:xfrm>
            <a:off x="685800" y="5321808"/>
            <a:ext cx="3163824" cy="54864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React Router handles public and role-specific pages.</a:t>
            </a:r>
            <a:endParaRPr lang="en-US" sz="1050" dirty="0"/>
          </a:p>
        </p:txBody>
      </p:sp>
      <p:sp>
        <p:nvSpPr>
          <p:cNvPr id="73" name="Text 63"/>
          <p:cNvSpPr txBox="1"/>
          <p:nvPr/>
        </p:nvSpPr>
        <p:spPr>
          <a:xfrm>
            <a:off x="685800" y="5925312"/>
            <a:ext cx="1554480" cy="274320"/>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dirty="0">
                <a:solidFill>
                  <a:srgbClr val="0B7F77"/>
                </a:solidFill>
                <a:latin typeface="Poppins" pitchFamily="34" charset="0"/>
                <a:ea typeface="Poppins" pitchFamily="34" charset="-122"/>
                <a:cs typeface="Poppins" pitchFamily="34" charset="-120"/>
              </a:rPr>
              <a:t>React Router</a:t>
            </a:r>
            <a:endParaRPr lang="en-US" sz="900" dirty="0"/>
          </a:p>
        </p:txBody>
      </p:sp>
      <p:sp>
        <p:nvSpPr>
          <p:cNvPr id="74" name="Shape 64"/>
          <p:cNvSpPr/>
          <p:nvPr/>
        </p:nvSpPr>
        <p:spPr>
          <a:xfrm>
            <a:off x="4306824" y="4480560"/>
            <a:ext cx="3575304" cy="1810512"/>
          </a:xfrm>
          <a:prstGeom prst="roundRect">
            <a:avLst>
              <a:gd name="adj" fmla="val 7071"/>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75" name="Shape 65"/>
          <p:cNvSpPr/>
          <p:nvPr/>
        </p:nvSpPr>
        <p:spPr>
          <a:xfrm>
            <a:off x="4535424" y="4681728"/>
            <a:ext cx="548640" cy="54864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76" name="Image 8" descr="preencoded.png">    </p:cNvPr>
          <p:cNvPicPr>
            <a:picLocks noChangeAspect="1"/>
          </p:cNvPicPr>
          <p:nvPr/>
        </p:nvPicPr>
        <p:blipFill>
          <a:blip r:embed="rId10"/>
          <a:stretch>
            <a:fillRect/>
          </a:stretch>
        </p:blipFill>
        <p:spPr>
          <a:xfrm>
            <a:off x="4672584" y="4818888"/>
            <a:ext cx="274320" cy="274320"/>
          </a:xfrm>
          <a:prstGeom prst="rect">
            <a:avLst/>
          </a:prstGeom>
        </p:spPr>
      </p:pic>
      <p:sp>
        <p:nvSpPr>
          <p:cNvPr id="77" name="Text 66"/>
          <p:cNvSpPr txBox="1"/>
          <p:nvPr/>
        </p:nvSpPr>
        <p:spPr>
          <a:xfrm>
            <a:off x="5266944" y="4681728"/>
            <a:ext cx="2478024" cy="548640"/>
          </a:xfrm>
          <a:prstGeom prst="rect">
            <a:avLst/>
          </a:prstGeom>
          <a:noFill/>
          <a:ln/>
        </p:spPr>
        <p:txBody>
          <a:bodyPr wrap="square" lIns="0" tIns="0" rIns="0" bIns="0" rtlCol="0" anchor="ctr"/>
          <a:lstStyle/>
          <a:p>
            <a:pPr indent="0" marL="0">
              <a:buNone/>
            </a:pPr>
            <a:r>
              <a:rPr lang="en-US" sz="1300" b="1" dirty="0">
                <a:solidFill>
                  <a:srgbClr val="0B1930"/>
                </a:solidFill>
                <a:latin typeface="Poppins" pitchFamily="34" charset="0"/>
                <a:ea typeface="Poppins" pitchFamily="34" charset="-122"/>
                <a:cs typeface="Poppins" pitchFamily="34" charset="-120"/>
              </a:rPr>
              <a:t>API</a:t>
            </a:r>
            <a:endParaRPr lang="en-US" sz="1300" dirty="0"/>
          </a:p>
        </p:txBody>
      </p:sp>
      <p:sp>
        <p:nvSpPr>
          <p:cNvPr id="78" name="Text 67"/>
          <p:cNvSpPr txBox="1"/>
          <p:nvPr/>
        </p:nvSpPr>
        <p:spPr>
          <a:xfrm>
            <a:off x="4535424" y="5321808"/>
            <a:ext cx="3163824" cy="54864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Express REST API runs on port 9000.</a:t>
            </a:r>
            <a:endParaRPr lang="en-US" sz="1050" dirty="0"/>
          </a:p>
        </p:txBody>
      </p:sp>
      <p:sp>
        <p:nvSpPr>
          <p:cNvPr id="79" name="Text 68"/>
          <p:cNvSpPr txBox="1"/>
          <p:nvPr/>
        </p:nvSpPr>
        <p:spPr>
          <a:xfrm>
            <a:off x="4535424" y="5925312"/>
            <a:ext cx="1554480" cy="274320"/>
          </a:xfrm>
          <a:prstGeom prst="roundRect">
            <a:avLst>
              <a:gd name="adj" fmla="val 50000"/>
            </a:avLst>
          </a:prstGeom>
          <a:solidFill>
            <a:srgbClr val="FDEAEA"/>
          </a:solidFill>
          <a:ln/>
        </p:spPr>
        <p:txBody>
          <a:bodyPr wrap="square" lIns="0" tIns="0" rIns="0" bIns="0" rtlCol="0" anchor="ctr"/>
          <a:lstStyle/>
          <a:p>
            <a:pPr algn="ctr" indent="0" marL="0">
              <a:buNone/>
            </a:pPr>
            <a:r>
              <a:rPr lang="en-US" sz="900" b="1" dirty="0">
                <a:solidFill>
                  <a:srgbClr val="C2403E"/>
                </a:solidFill>
                <a:latin typeface="Poppins" pitchFamily="34" charset="0"/>
                <a:ea typeface="Poppins" pitchFamily="34" charset="-122"/>
                <a:cs typeface="Poppins" pitchFamily="34" charset="-120"/>
              </a:rPr>
              <a:t>Port 9000</a:t>
            </a:r>
            <a:endParaRPr lang="en-US" sz="900" dirty="0"/>
          </a:p>
        </p:txBody>
      </p:sp>
      <p:sp>
        <p:nvSpPr>
          <p:cNvPr id="80" name="Shape 69"/>
          <p:cNvSpPr/>
          <p:nvPr/>
        </p:nvSpPr>
        <p:spPr>
          <a:xfrm>
            <a:off x="8156448" y="4480560"/>
            <a:ext cx="3575304" cy="1810512"/>
          </a:xfrm>
          <a:prstGeom prst="roundRect">
            <a:avLst>
              <a:gd name="adj" fmla="val 7071"/>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81" name="Shape 70"/>
          <p:cNvSpPr/>
          <p:nvPr/>
        </p:nvSpPr>
        <p:spPr>
          <a:xfrm>
            <a:off x="8385048" y="4681728"/>
            <a:ext cx="548640" cy="54864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82" name="Image 9" descr="preencoded.png">    </p:cNvPr>
          <p:cNvPicPr>
            <a:picLocks noChangeAspect="1"/>
          </p:cNvPicPr>
          <p:nvPr/>
        </p:nvPicPr>
        <p:blipFill>
          <a:blip r:embed="rId11"/>
          <a:stretch>
            <a:fillRect/>
          </a:stretch>
        </p:blipFill>
        <p:spPr>
          <a:xfrm>
            <a:off x="8522208" y="4818888"/>
            <a:ext cx="274320" cy="274320"/>
          </a:xfrm>
          <a:prstGeom prst="rect">
            <a:avLst/>
          </a:prstGeom>
        </p:spPr>
      </p:pic>
      <p:sp>
        <p:nvSpPr>
          <p:cNvPr id="83" name="Text 71"/>
          <p:cNvSpPr txBox="1"/>
          <p:nvPr/>
        </p:nvSpPr>
        <p:spPr>
          <a:xfrm>
            <a:off x="9116568" y="4681728"/>
            <a:ext cx="2478024" cy="548640"/>
          </a:xfrm>
          <a:prstGeom prst="rect">
            <a:avLst/>
          </a:prstGeom>
          <a:noFill/>
          <a:ln/>
        </p:spPr>
        <p:txBody>
          <a:bodyPr wrap="square" lIns="0" tIns="0" rIns="0" bIns="0" rtlCol="0" anchor="ctr"/>
          <a:lstStyle/>
          <a:p>
            <a:pPr indent="0" marL="0">
              <a:buNone/>
            </a:pPr>
            <a:r>
              <a:rPr lang="en-US" sz="1300" b="1" dirty="0">
                <a:solidFill>
                  <a:srgbClr val="0B1930"/>
                </a:solidFill>
                <a:latin typeface="Poppins" pitchFamily="34" charset="0"/>
                <a:ea typeface="Poppins" pitchFamily="34" charset="-122"/>
                <a:cs typeface="Poppins" pitchFamily="34" charset="-120"/>
              </a:rPr>
              <a:t>DATABASE</a:t>
            </a:r>
            <a:endParaRPr lang="en-US" sz="1300" dirty="0"/>
          </a:p>
        </p:txBody>
      </p:sp>
      <p:sp>
        <p:nvSpPr>
          <p:cNvPr id="84" name="Text 72"/>
          <p:cNvSpPr txBox="1"/>
          <p:nvPr/>
        </p:nvSpPr>
        <p:spPr>
          <a:xfrm>
            <a:off x="8385048" y="5321808"/>
            <a:ext cx="3163824" cy="54864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MongoDB is supported, while JSON can be used as a local development fallback.</a:t>
            </a:r>
            <a:endParaRPr lang="en-US" sz="1050" dirty="0"/>
          </a:p>
        </p:txBody>
      </p:sp>
      <p:sp>
        <p:nvSpPr>
          <p:cNvPr id="85" name="Text 73"/>
          <p:cNvSpPr txBox="1"/>
          <p:nvPr/>
        </p:nvSpPr>
        <p:spPr>
          <a:xfrm>
            <a:off x="8385048" y="5925312"/>
            <a:ext cx="2194560" cy="274320"/>
          </a:xfrm>
          <a:prstGeom prst="roundRect">
            <a:avLst>
              <a:gd name="adj" fmla="val 50000"/>
            </a:avLst>
          </a:prstGeom>
          <a:solidFill>
            <a:srgbClr val="FEF0DF"/>
          </a:solidFill>
          <a:ln/>
        </p:spPr>
        <p:txBody>
          <a:bodyPr wrap="square" lIns="0" tIns="0" rIns="0" bIns="0" rtlCol="0" anchor="ctr"/>
          <a:lstStyle/>
          <a:p>
            <a:pPr algn="ctr" indent="0" marL="0">
              <a:buNone/>
            </a:pPr>
            <a:r>
              <a:rPr lang="en-US" sz="900" b="1" dirty="0">
                <a:solidFill>
                  <a:srgbClr val="B45F0B"/>
                </a:solidFill>
                <a:latin typeface="Poppins" pitchFamily="34" charset="0"/>
                <a:ea typeface="Poppins" pitchFamily="34" charset="-122"/>
                <a:cs typeface="Poppins" pitchFamily="34" charset="-120"/>
              </a:rPr>
              <a:t>MongoDB  +  JSON fallback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CLIENT WORKFLOW</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8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08</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Client Workflow</a:t>
            </a:r>
            <a:endParaRPr lang="en-US" sz="3000" dirty="0"/>
          </a:p>
        </p:txBody>
      </p:sp>
      <p:sp>
        <p:nvSpPr>
          <p:cNvPr id="9" name="Shape 6"/>
          <p:cNvSpPr/>
          <p:nvPr/>
        </p:nvSpPr>
        <p:spPr>
          <a:xfrm>
            <a:off x="457200" y="1600200"/>
            <a:ext cx="1417320" cy="1691640"/>
          </a:xfrm>
          <a:prstGeom prst="roundRect">
            <a:avLst>
              <a:gd name="adj" fmla="val 903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Shape 7"/>
          <p:cNvSpPr/>
          <p:nvPr/>
        </p:nvSpPr>
        <p:spPr>
          <a:xfrm>
            <a:off x="548640" y="1691640"/>
            <a:ext cx="329184" cy="329184"/>
          </a:xfrm>
          <a:prstGeom prst="ellipse">
            <a:avLst/>
          </a:prstGeom>
          <a:solidFill>
            <a:srgbClr val="12AEA4"/>
          </a:solidFill>
          <a:ln/>
        </p:spPr>
      </p:sp>
      <p:sp>
        <p:nvSpPr>
          <p:cNvPr id="11" name="Text 8"/>
          <p:cNvSpPr txBox="1"/>
          <p:nvPr/>
        </p:nvSpPr>
        <p:spPr>
          <a:xfrm>
            <a:off x="548640" y="16916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a:t>
            </a:r>
            <a:endParaRPr lang="en-US" sz="1000" dirty="0"/>
          </a:p>
        </p:txBody>
      </p:sp>
      <p:sp>
        <p:nvSpPr>
          <p:cNvPr id="12" name="Shape 9"/>
          <p:cNvSpPr/>
          <p:nvPr/>
        </p:nvSpPr>
        <p:spPr>
          <a:xfrm>
            <a:off x="854964" y="1920240"/>
            <a:ext cx="621792" cy="621792"/>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13" name="Image 1" descr="preencoded.png">    </p:cNvPr>
          <p:cNvPicPr>
            <a:picLocks noChangeAspect="1"/>
          </p:cNvPicPr>
          <p:nvPr/>
        </p:nvPicPr>
        <p:blipFill>
          <a:blip r:embed="rId3"/>
          <a:stretch>
            <a:fillRect/>
          </a:stretch>
        </p:blipFill>
        <p:spPr>
          <a:xfrm>
            <a:off x="1016630" y="2081906"/>
            <a:ext cx="298460" cy="298460"/>
          </a:xfrm>
          <a:prstGeom prst="rect">
            <a:avLst/>
          </a:prstGeom>
        </p:spPr>
      </p:pic>
      <p:sp>
        <p:nvSpPr>
          <p:cNvPr id="14" name="Text 10"/>
          <p:cNvSpPr txBox="1"/>
          <p:nvPr/>
        </p:nvSpPr>
        <p:spPr>
          <a:xfrm>
            <a:off x="512064" y="2651760"/>
            <a:ext cx="1307592"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Register / Login</a:t>
            </a:r>
            <a:endParaRPr lang="en-US" sz="950" dirty="0"/>
          </a:p>
        </p:txBody>
      </p:sp>
      <p:pic>
        <p:nvPicPr>
          <p:cNvPr id="15" name="Image 2" descr="preencoded.png">    </p:cNvPr>
          <p:cNvPicPr>
            <a:picLocks noChangeAspect="1"/>
          </p:cNvPicPr>
          <p:nvPr/>
        </p:nvPicPr>
        <p:blipFill>
          <a:blip r:embed="rId4"/>
          <a:stretch>
            <a:fillRect/>
          </a:stretch>
        </p:blipFill>
        <p:spPr>
          <a:xfrm>
            <a:off x="1895551" y="2350008"/>
            <a:ext cx="182880" cy="182880"/>
          </a:xfrm>
          <a:prstGeom prst="rect">
            <a:avLst/>
          </a:prstGeom>
        </p:spPr>
      </p:pic>
      <p:sp>
        <p:nvSpPr>
          <p:cNvPr id="16" name="Shape 11"/>
          <p:cNvSpPr/>
          <p:nvPr/>
        </p:nvSpPr>
        <p:spPr>
          <a:xfrm>
            <a:off x="2099462" y="1600200"/>
            <a:ext cx="1417320" cy="1691640"/>
          </a:xfrm>
          <a:prstGeom prst="roundRect">
            <a:avLst>
              <a:gd name="adj" fmla="val 903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7" name="Shape 12"/>
          <p:cNvSpPr/>
          <p:nvPr/>
        </p:nvSpPr>
        <p:spPr>
          <a:xfrm>
            <a:off x="2190902" y="1691640"/>
            <a:ext cx="329184" cy="329184"/>
          </a:xfrm>
          <a:prstGeom prst="ellipse">
            <a:avLst/>
          </a:prstGeom>
          <a:solidFill>
            <a:srgbClr val="EF5B59"/>
          </a:solidFill>
          <a:ln/>
        </p:spPr>
      </p:sp>
      <p:sp>
        <p:nvSpPr>
          <p:cNvPr id="18" name="Text 13"/>
          <p:cNvSpPr txBox="1"/>
          <p:nvPr/>
        </p:nvSpPr>
        <p:spPr>
          <a:xfrm>
            <a:off x="2190902" y="16916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2</a:t>
            </a:r>
            <a:endParaRPr lang="en-US" sz="1000" dirty="0"/>
          </a:p>
        </p:txBody>
      </p:sp>
      <p:sp>
        <p:nvSpPr>
          <p:cNvPr id="19" name="Shape 14"/>
          <p:cNvSpPr/>
          <p:nvPr/>
        </p:nvSpPr>
        <p:spPr>
          <a:xfrm>
            <a:off x="2497226" y="1920240"/>
            <a:ext cx="621792" cy="621792"/>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20" name="Image 3" descr="preencoded.png">    </p:cNvPr>
          <p:cNvPicPr>
            <a:picLocks noChangeAspect="1"/>
          </p:cNvPicPr>
          <p:nvPr/>
        </p:nvPicPr>
        <p:blipFill>
          <a:blip r:embed="rId5"/>
          <a:stretch>
            <a:fillRect/>
          </a:stretch>
        </p:blipFill>
        <p:spPr>
          <a:xfrm>
            <a:off x="2658892" y="2081906"/>
            <a:ext cx="298460" cy="298460"/>
          </a:xfrm>
          <a:prstGeom prst="rect">
            <a:avLst/>
          </a:prstGeom>
        </p:spPr>
      </p:pic>
      <p:sp>
        <p:nvSpPr>
          <p:cNvPr id="21" name="Text 15"/>
          <p:cNvSpPr txBox="1"/>
          <p:nvPr/>
        </p:nvSpPr>
        <p:spPr>
          <a:xfrm>
            <a:off x="2154326" y="2651760"/>
            <a:ext cx="1307592"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Open Dashboard</a:t>
            </a:r>
            <a:endParaRPr lang="en-US" sz="950" dirty="0"/>
          </a:p>
        </p:txBody>
      </p:sp>
      <p:pic>
        <p:nvPicPr>
          <p:cNvPr id="22" name="Image 4" descr="preencoded.png">    </p:cNvPr>
          <p:cNvPicPr>
            <a:picLocks noChangeAspect="1"/>
          </p:cNvPicPr>
          <p:nvPr/>
        </p:nvPicPr>
        <p:blipFill>
          <a:blip r:embed="rId6"/>
          <a:stretch>
            <a:fillRect/>
          </a:stretch>
        </p:blipFill>
        <p:spPr>
          <a:xfrm>
            <a:off x="3537814" y="2350008"/>
            <a:ext cx="182880" cy="182880"/>
          </a:xfrm>
          <a:prstGeom prst="rect">
            <a:avLst/>
          </a:prstGeom>
        </p:spPr>
      </p:pic>
      <p:sp>
        <p:nvSpPr>
          <p:cNvPr id="23" name="Shape 16"/>
          <p:cNvSpPr/>
          <p:nvPr/>
        </p:nvSpPr>
        <p:spPr>
          <a:xfrm>
            <a:off x="3741725" y="1600200"/>
            <a:ext cx="1417320" cy="1691640"/>
          </a:xfrm>
          <a:prstGeom prst="roundRect">
            <a:avLst>
              <a:gd name="adj" fmla="val 903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4" name="Shape 17"/>
          <p:cNvSpPr/>
          <p:nvPr/>
        </p:nvSpPr>
        <p:spPr>
          <a:xfrm>
            <a:off x="3833165" y="1691640"/>
            <a:ext cx="329184" cy="329184"/>
          </a:xfrm>
          <a:prstGeom prst="ellipse">
            <a:avLst/>
          </a:prstGeom>
          <a:solidFill>
            <a:srgbClr val="F79330"/>
          </a:solidFill>
          <a:ln/>
        </p:spPr>
      </p:sp>
      <p:sp>
        <p:nvSpPr>
          <p:cNvPr id="25" name="Text 18"/>
          <p:cNvSpPr txBox="1"/>
          <p:nvPr/>
        </p:nvSpPr>
        <p:spPr>
          <a:xfrm>
            <a:off x="3833165" y="16916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3</a:t>
            </a:r>
            <a:endParaRPr lang="en-US" sz="1000" dirty="0"/>
          </a:p>
        </p:txBody>
      </p:sp>
      <p:sp>
        <p:nvSpPr>
          <p:cNvPr id="26" name="Shape 19"/>
          <p:cNvSpPr/>
          <p:nvPr/>
        </p:nvSpPr>
        <p:spPr>
          <a:xfrm>
            <a:off x="4139489" y="1920240"/>
            <a:ext cx="621792" cy="621792"/>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27" name="Image 5" descr="preencoded.png">    </p:cNvPr>
          <p:cNvPicPr>
            <a:picLocks noChangeAspect="1"/>
          </p:cNvPicPr>
          <p:nvPr/>
        </p:nvPicPr>
        <p:blipFill>
          <a:blip r:embed="rId7"/>
          <a:stretch>
            <a:fillRect/>
          </a:stretch>
        </p:blipFill>
        <p:spPr>
          <a:xfrm>
            <a:off x="4301155" y="2081906"/>
            <a:ext cx="298460" cy="298460"/>
          </a:xfrm>
          <a:prstGeom prst="rect">
            <a:avLst/>
          </a:prstGeom>
        </p:spPr>
      </p:pic>
      <p:sp>
        <p:nvSpPr>
          <p:cNvPr id="28" name="Text 20"/>
          <p:cNvSpPr txBox="1"/>
          <p:nvPr/>
        </p:nvSpPr>
        <p:spPr>
          <a:xfrm>
            <a:off x="3796589" y="2651760"/>
            <a:ext cx="1307592"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Post Project</a:t>
            </a:r>
            <a:endParaRPr lang="en-US" sz="950" dirty="0"/>
          </a:p>
        </p:txBody>
      </p:sp>
      <p:pic>
        <p:nvPicPr>
          <p:cNvPr id="29" name="Image 6" descr="preencoded.png">    </p:cNvPr>
          <p:cNvPicPr>
            <a:picLocks noChangeAspect="1"/>
          </p:cNvPicPr>
          <p:nvPr/>
        </p:nvPicPr>
        <p:blipFill>
          <a:blip r:embed="rId8"/>
          <a:stretch>
            <a:fillRect/>
          </a:stretch>
        </p:blipFill>
        <p:spPr>
          <a:xfrm>
            <a:off x="5180076" y="2350008"/>
            <a:ext cx="182880" cy="182880"/>
          </a:xfrm>
          <a:prstGeom prst="rect">
            <a:avLst/>
          </a:prstGeom>
        </p:spPr>
      </p:pic>
      <p:sp>
        <p:nvSpPr>
          <p:cNvPr id="30" name="Shape 21"/>
          <p:cNvSpPr/>
          <p:nvPr/>
        </p:nvSpPr>
        <p:spPr>
          <a:xfrm>
            <a:off x="5383987" y="1600200"/>
            <a:ext cx="1417320" cy="1691640"/>
          </a:xfrm>
          <a:prstGeom prst="roundRect">
            <a:avLst>
              <a:gd name="adj" fmla="val 903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1" name="Shape 22"/>
          <p:cNvSpPr/>
          <p:nvPr/>
        </p:nvSpPr>
        <p:spPr>
          <a:xfrm>
            <a:off x="5475427" y="1691640"/>
            <a:ext cx="329184" cy="329184"/>
          </a:xfrm>
          <a:prstGeom prst="ellipse">
            <a:avLst/>
          </a:prstGeom>
          <a:solidFill>
            <a:srgbClr val="12AEA4"/>
          </a:solidFill>
          <a:ln/>
        </p:spPr>
      </p:sp>
      <p:sp>
        <p:nvSpPr>
          <p:cNvPr id="32" name="Text 23"/>
          <p:cNvSpPr txBox="1"/>
          <p:nvPr/>
        </p:nvSpPr>
        <p:spPr>
          <a:xfrm>
            <a:off x="5475427" y="16916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4</a:t>
            </a:r>
            <a:endParaRPr lang="en-US" sz="1000" dirty="0"/>
          </a:p>
        </p:txBody>
      </p:sp>
      <p:sp>
        <p:nvSpPr>
          <p:cNvPr id="33" name="Shape 24"/>
          <p:cNvSpPr/>
          <p:nvPr/>
        </p:nvSpPr>
        <p:spPr>
          <a:xfrm>
            <a:off x="5781751" y="1920240"/>
            <a:ext cx="621792" cy="621792"/>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34" name="Image 7" descr="preencoded.png">    </p:cNvPr>
          <p:cNvPicPr>
            <a:picLocks noChangeAspect="1"/>
          </p:cNvPicPr>
          <p:nvPr/>
        </p:nvPicPr>
        <p:blipFill>
          <a:blip r:embed="rId9"/>
          <a:stretch>
            <a:fillRect/>
          </a:stretch>
        </p:blipFill>
        <p:spPr>
          <a:xfrm>
            <a:off x="5943417" y="2081906"/>
            <a:ext cx="298460" cy="298460"/>
          </a:xfrm>
          <a:prstGeom prst="rect">
            <a:avLst/>
          </a:prstGeom>
        </p:spPr>
      </p:pic>
      <p:sp>
        <p:nvSpPr>
          <p:cNvPr id="35" name="Text 25"/>
          <p:cNvSpPr txBox="1"/>
          <p:nvPr/>
        </p:nvSpPr>
        <p:spPr>
          <a:xfrm>
            <a:off x="5438851" y="2651760"/>
            <a:ext cx="1307592"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Receive Bids</a:t>
            </a:r>
            <a:endParaRPr lang="en-US" sz="950" dirty="0"/>
          </a:p>
        </p:txBody>
      </p:sp>
      <p:pic>
        <p:nvPicPr>
          <p:cNvPr id="36" name="Image 8" descr="preencoded.png">    </p:cNvPr>
          <p:cNvPicPr>
            <a:picLocks noChangeAspect="1"/>
          </p:cNvPicPr>
          <p:nvPr/>
        </p:nvPicPr>
        <p:blipFill>
          <a:blip r:embed="rId10"/>
          <a:stretch>
            <a:fillRect/>
          </a:stretch>
        </p:blipFill>
        <p:spPr>
          <a:xfrm>
            <a:off x="6822338" y="2350008"/>
            <a:ext cx="182880" cy="182880"/>
          </a:xfrm>
          <a:prstGeom prst="rect">
            <a:avLst/>
          </a:prstGeom>
        </p:spPr>
      </p:pic>
      <p:sp>
        <p:nvSpPr>
          <p:cNvPr id="37" name="Shape 26"/>
          <p:cNvSpPr/>
          <p:nvPr/>
        </p:nvSpPr>
        <p:spPr>
          <a:xfrm>
            <a:off x="7026250" y="1600200"/>
            <a:ext cx="1417320" cy="1691640"/>
          </a:xfrm>
          <a:prstGeom prst="roundRect">
            <a:avLst>
              <a:gd name="adj" fmla="val 903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8" name="Shape 27"/>
          <p:cNvSpPr/>
          <p:nvPr/>
        </p:nvSpPr>
        <p:spPr>
          <a:xfrm>
            <a:off x="7117690" y="1691640"/>
            <a:ext cx="329184" cy="329184"/>
          </a:xfrm>
          <a:prstGeom prst="ellipse">
            <a:avLst/>
          </a:prstGeom>
          <a:solidFill>
            <a:srgbClr val="EF5B59"/>
          </a:solidFill>
          <a:ln/>
        </p:spPr>
      </p:sp>
      <p:sp>
        <p:nvSpPr>
          <p:cNvPr id="39" name="Text 28"/>
          <p:cNvSpPr txBox="1"/>
          <p:nvPr/>
        </p:nvSpPr>
        <p:spPr>
          <a:xfrm>
            <a:off x="7117690" y="16916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5</a:t>
            </a:r>
            <a:endParaRPr lang="en-US" sz="1000" dirty="0"/>
          </a:p>
        </p:txBody>
      </p:sp>
      <p:sp>
        <p:nvSpPr>
          <p:cNvPr id="40" name="Shape 29"/>
          <p:cNvSpPr/>
          <p:nvPr/>
        </p:nvSpPr>
        <p:spPr>
          <a:xfrm>
            <a:off x="7424014" y="1920240"/>
            <a:ext cx="621792" cy="621792"/>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41" name="Image 9" descr="preencoded.png">    </p:cNvPr>
          <p:cNvPicPr>
            <a:picLocks noChangeAspect="1"/>
          </p:cNvPicPr>
          <p:nvPr/>
        </p:nvPicPr>
        <p:blipFill>
          <a:blip r:embed="rId11"/>
          <a:stretch>
            <a:fillRect/>
          </a:stretch>
        </p:blipFill>
        <p:spPr>
          <a:xfrm>
            <a:off x="7585680" y="2081906"/>
            <a:ext cx="298460" cy="298460"/>
          </a:xfrm>
          <a:prstGeom prst="rect">
            <a:avLst/>
          </a:prstGeom>
        </p:spPr>
      </p:pic>
      <p:sp>
        <p:nvSpPr>
          <p:cNvPr id="42" name="Text 30"/>
          <p:cNvSpPr txBox="1"/>
          <p:nvPr/>
        </p:nvSpPr>
        <p:spPr>
          <a:xfrm>
            <a:off x="7081114" y="2651760"/>
            <a:ext cx="1307592"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Review Bids</a:t>
            </a:r>
            <a:endParaRPr lang="en-US" sz="950" dirty="0"/>
          </a:p>
        </p:txBody>
      </p:sp>
      <p:pic>
        <p:nvPicPr>
          <p:cNvPr id="43" name="Image 10" descr="preencoded.png">    </p:cNvPr>
          <p:cNvPicPr>
            <a:picLocks noChangeAspect="1"/>
          </p:cNvPicPr>
          <p:nvPr/>
        </p:nvPicPr>
        <p:blipFill>
          <a:blip r:embed="rId12"/>
          <a:stretch>
            <a:fillRect/>
          </a:stretch>
        </p:blipFill>
        <p:spPr>
          <a:xfrm>
            <a:off x="8464601" y="2350008"/>
            <a:ext cx="182880" cy="182880"/>
          </a:xfrm>
          <a:prstGeom prst="rect">
            <a:avLst/>
          </a:prstGeom>
        </p:spPr>
      </p:pic>
      <p:sp>
        <p:nvSpPr>
          <p:cNvPr id="44" name="Shape 31"/>
          <p:cNvSpPr/>
          <p:nvPr/>
        </p:nvSpPr>
        <p:spPr>
          <a:xfrm>
            <a:off x="8668512" y="1600200"/>
            <a:ext cx="1417320" cy="1691640"/>
          </a:xfrm>
          <a:prstGeom prst="roundRect">
            <a:avLst>
              <a:gd name="adj" fmla="val 903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5" name="Shape 32"/>
          <p:cNvSpPr/>
          <p:nvPr/>
        </p:nvSpPr>
        <p:spPr>
          <a:xfrm>
            <a:off x="8759952" y="1691640"/>
            <a:ext cx="329184" cy="329184"/>
          </a:xfrm>
          <a:prstGeom prst="ellipse">
            <a:avLst/>
          </a:prstGeom>
          <a:solidFill>
            <a:srgbClr val="F79330"/>
          </a:solidFill>
          <a:ln/>
        </p:spPr>
      </p:sp>
      <p:sp>
        <p:nvSpPr>
          <p:cNvPr id="46" name="Text 33"/>
          <p:cNvSpPr txBox="1"/>
          <p:nvPr/>
        </p:nvSpPr>
        <p:spPr>
          <a:xfrm>
            <a:off x="8759952" y="16916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6</a:t>
            </a:r>
            <a:endParaRPr lang="en-US" sz="1000" dirty="0"/>
          </a:p>
        </p:txBody>
      </p:sp>
      <p:sp>
        <p:nvSpPr>
          <p:cNvPr id="47" name="Shape 34"/>
          <p:cNvSpPr/>
          <p:nvPr/>
        </p:nvSpPr>
        <p:spPr>
          <a:xfrm>
            <a:off x="9066276" y="1920240"/>
            <a:ext cx="621792" cy="621792"/>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48" name="Image 11" descr="preencoded.png">    </p:cNvPr>
          <p:cNvPicPr>
            <a:picLocks noChangeAspect="1"/>
          </p:cNvPicPr>
          <p:nvPr/>
        </p:nvPicPr>
        <p:blipFill>
          <a:blip r:embed="rId13"/>
          <a:stretch>
            <a:fillRect/>
          </a:stretch>
        </p:blipFill>
        <p:spPr>
          <a:xfrm>
            <a:off x="9227942" y="2081906"/>
            <a:ext cx="298460" cy="298460"/>
          </a:xfrm>
          <a:prstGeom prst="rect">
            <a:avLst/>
          </a:prstGeom>
        </p:spPr>
      </p:pic>
      <p:sp>
        <p:nvSpPr>
          <p:cNvPr id="49" name="Text 35"/>
          <p:cNvSpPr txBox="1"/>
          <p:nvPr/>
        </p:nvSpPr>
        <p:spPr>
          <a:xfrm>
            <a:off x="8723376" y="2651760"/>
            <a:ext cx="1307592"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Accept / Reject</a:t>
            </a:r>
            <a:endParaRPr lang="en-US" sz="950" dirty="0"/>
          </a:p>
        </p:txBody>
      </p:sp>
      <p:pic>
        <p:nvPicPr>
          <p:cNvPr id="50" name="Image 12" descr="preencoded.png">    </p:cNvPr>
          <p:cNvPicPr>
            <a:picLocks noChangeAspect="1"/>
          </p:cNvPicPr>
          <p:nvPr/>
        </p:nvPicPr>
        <p:blipFill>
          <a:blip r:embed="rId14"/>
          <a:stretch>
            <a:fillRect/>
          </a:stretch>
        </p:blipFill>
        <p:spPr>
          <a:xfrm>
            <a:off x="10106863" y="2350008"/>
            <a:ext cx="182880" cy="182880"/>
          </a:xfrm>
          <a:prstGeom prst="rect">
            <a:avLst/>
          </a:prstGeom>
        </p:spPr>
      </p:pic>
      <p:sp>
        <p:nvSpPr>
          <p:cNvPr id="51" name="Shape 36"/>
          <p:cNvSpPr/>
          <p:nvPr/>
        </p:nvSpPr>
        <p:spPr>
          <a:xfrm>
            <a:off x="10310774" y="1600200"/>
            <a:ext cx="1417320" cy="1691640"/>
          </a:xfrm>
          <a:prstGeom prst="roundRect">
            <a:avLst>
              <a:gd name="adj" fmla="val 9032"/>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52" name="Shape 37"/>
          <p:cNvSpPr/>
          <p:nvPr/>
        </p:nvSpPr>
        <p:spPr>
          <a:xfrm>
            <a:off x="10402214" y="1691640"/>
            <a:ext cx="329184" cy="329184"/>
          </a:xfrm>
          <a:prstGeom prst="ellipse">
            <a:avLst/>
          </a:prstGeom>
          <a:solidFill>
            <a:srgbClr val="12AEA4"/>
          </a:solidFill>
          <a:ln/>
        </p:spPr>
      </p:sp>
      <p:sp>
        <p:nvSpPr>
          <p:cNvPr id="53" name="Text 38"/>
          <p:cNvSpPr txBox="1"/>
          <p:nvPr/>
        </p:nvSpPr>
        <p:spPr>
          <a:xfrm>
            <a:off x="10402214" y="16916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7</a:t>
            </a:r>
            <a:endParaRPr lang="en-US" sz="1000" dirty="0"/>
          </a:p>
        </p:txBody>
      </p:sp>
      <p:sp>
        <p:nvSpPr>
          <p:cNvPr id="54" name="Shape 39"/>
          <p:cNvSpPr/>
          <p:nvPr/>
        </p:nvSpPr>
        <p:spPr>
          <a:xfrm>
            <a:off x="10708538" y="1920240"/>
            <a:ext cx="621792" cy="621792"/>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55" name="Image 13" descr="preencoded.png">    </p:cNvPr>
          <p:cNvPicPr>
            <a:picLocks noChangeAspect="1"/>
          </p:cNvPicPr>
          <p:nvPr/>
        </p:nvPicPr>
        <p:blipFill>
          <a:blip r:embed="rId15"/>
          <a:stretch>
            <a:fillRect/>
          </a:stretch>
        </p:blipFill>
        <p:spPr>
          <a:xfrm>
            <a:off x="10870204" y="2081906"/>
            <a:ext cx="298460" cy="298460"/>
          </a:xfrm>
          <a:prstGeom prst="rect">
            <a:avLst/>
          </a:prstGeom>
        </p:spPr>
      </p:pic>
      <p:sp>
        <p:nvSpPr>
          <p:cNvPr id="56" name="Text 40"/>
          <p:cNvSpPr txBox="1"/>
          <p:nvPr/>
        </p:nvSpPr>
        <p:spPr>
          <a:xfrm>
            <a:off x="10365638" y="2651760"/>
            <a:ext cx="1307592"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Update Profile</a:t>
            </a:r>
            <a:endParaRPr lang="en-US" sz="950" dirty="0"/>
          </a:p>
        </p:txBody>
      </p:sp>
      <p:sp>
        <p:nvSpPr>
          <p:cNvPr id="57" name="Shape 41"/>
          <p:cNvSpPr/>
          <p:nvPr/>
        </p:nvSpPr>
        <p:spPr>
          <a:xfrm>
            <a:off x="457200" y="3566160"/>
            <a:ext cx="3575304" cy="2724912"/>
          </a:xfrm>
          <a:prstGeom prst="roundRect">
            <a:avLst>
              <a:gd name="adj" fmla="val 4698"/>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58" name="Shape 42"/>
          <p:cNvSpPr/>
          <p:nvPr/>
        </p:nvSpPr>
        <p:spPr>
          <a:xfrm>
            <a:off x="685800" y="3749040"/>
            <a:ext cx="457200" cy="45720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59" name="Image 14" descr="preencoded.png">    </p:cNvPr>
          <p:cNvPicPr>
            <a:picLocks noChangeAspect="1"/>
          </p:cNvPicPr>
          <p:nvPr/>
        </p:nvPicPr>
        <p:blipFill>
          <a:blip r:embed="rId16"/>
          <a:stretch>
            <a:fillRect/>
          </a:stretch>
        </p:blipFill>
        <p:spPr>
          <a:xfrm>
            <a:off x="800100" y="3863340"/>
            <a:ext cx="228600" cy="228600"/>
          </a:xfrm>
          <a:prstGeom prst="rect">
            <a:avLst/>
          </a:prstGeom>
        </p:spPr>
      </p:pic>
      <p:sp>
        <p:nvSpPr>
          <p:cNvPr id="60" name="Text 43"/>
          <p:cNvSpPr txBox="1"/>
          <p:nvPr/>
        </p:nvSpPr>
        <p:spPr>
          <a:xfrm>
            <a:off x="1280160" y="3749040"/>
            <a:ext cx="2286000" cy="256032"/>
          </a:xfrm>
          <a:prstGeom prst="rect">
            <a:avLst/>
          </a:prstGeom>
          <a:noFill/>
          <a:ln/>
        </p:spPr>
        <p:txBody>
          <a:bodyPr wrap="square" lIns="0" tIns="0" rIns="0" bIns="0" rtlCol="0" anchor="ctr"/>
          <a:lstStyle/>
          <a:p>
            <a:pPr indent="0" marL="0">
              <a:buNone/>
            </a:pPr>
            <a:r>
              <a:rPr lang="en-US" sz="1250" b="1" dirty="0">
                <a:solidFill>
                  <a:srgbClr val="0B1930"/>
                </a:solidFill>
                <a:latin typeface="Poppins" pitchFamily="34" charset="0"/>
                <a:ea typeface="Poppins" pitchFamily="34" charset="-122"/>
                <a:cs typeface="Poppins" pitchFamily="34" charset="-120"/>
              </a:rPr>
              <a:t>PROJECT</a:t>
            </a:r>
            <a:endParaRPr lang="en-US" sz="1250" dirty="0"/>
          </a:p>
        </p:txBody>
      </p:sp>
      <p:sp>
        <p:nvSpPr>
          <p:cNvPr id="61" name="Text 44"/>
          <p:cNvSpPr txBox="1"/>
          <p:nvPr/>
        </p:nvSpPr>
        <p:spPr>
          <a:xfrm>
            <a:off x="1280160" y="4023360"/>
            <a:ext cx="2615184" cy="228600"/>
          </a:xfrm>
          <a:prstGeom prst="rect">
            <a:avLst/>
          </a:prstGeom>
          <a:noFill/>
          <a:ln/>
        </p:spPr>
        <p:txBody>
          <a:bodyPr wrap="square" lIns="0" tIns="0" rIns="0" bIns="0" rtlCol="0" anchor="t"/>
          <a:lstStyle/>
          <a:p>
            <a:pPr indent="0" marL="0">
              <a:buNone/>
            </a:pPr>
            <a:r>
              <a:rPr lang="en-US" sz="850" dirty="0">
                <a:solidFill>
                  <a:srgbClr val="64748B"/>
                </a:solidFill>
                <a:latin typeface="Poppins" pitchFamily="34" charset="0"/>
                <a:ea typeface="Poppins" pitchFamily="34" charset="-122"/>
                <a:cs typeface="Poppins" pitchFamily="34" charset="-120"/>
              </a:rPr>
              <a:t>Title, description, budget and duration.</a:t>
            </a:r>
            <a:endParaRPr lang="en-US" sz="850" dirty="0"/>
          </a:p>
        </p:txBody>
      </p:sp>
      <p:sp>
        <p:nvSpPr>
          <p:cNvPr id="62" name="Shape 45"/>
          <p:cNvSpPr/>
          <p:nvPr/>
        </p:nvSpPr>
        <p:spPr>
          <a:xfrm>
            <a:off x="685800" y="4480560"/>
            <a:ext cx="3118104" cy="1645920"/>
          </a:xfrm>
          <a:prstGeom prst="roundRect">
            <a:avLst>
              <a:gd name="adj" fmla="val 5556"/>
            </a:avLst>
          </a:prstGeom>
          <a:solidFill>
            <a:srgbClr val="F3F6FA"/>
          </a:solidFill>
          <a:ln w="9525">
            <a:solidFill>
              <a:srgbClr val="E3E9F1"/>
            </a:solidFill>
            <a:prstDash val="solid"/>
          </a:ln>
        </p:spPr>
      </p:sp>
      <p:sp>
        <p:nvSpPr>
          <p:cNvPr id="63" name="Text 46"/>
          <p:cNvSpPr txBox="1"/>
          <p:nvPr/>
        </p:nvSpPr>
        <p:spPr>
          <a:xfrm>
            <a:off x="822960" y="4544568"/>
            <a:ext cx="2743200" cy="201168"/>
          </a:xfrm>
          <a:prstGeom prst="rect">
            <a:avLst/>
          </a:prstGeom>
          <a:noFill/>
          <a:ln/>
        </p:spPr>
        <p:txBody>
          <a:bodyPr wrap="square" lIns="0" tIns="0" rIns="0" bIns="0" rtlCol="0" anchor="t"/>
          <a:lstStyle/>
          <a:p>
            <a:pPr indent="0" marL="0">
              <a:buNone/>
            </a:pPr>
            <a:r>
              <a:rPr lang="en-US" sz="750" b="1" dirty="0">
                <a:solidFill>
                  <a:srgbClr val="64748B"/>
                </a:solidFill>
                <a:latin typeface="Poppins" pitchFamily="34" charset="0"/>
                <a:ea typeface="Poppins" pitchFamily="34" charset="-122"/>
                <a:cs typeface="Poppins" pitchFamily="34" charset="-120"/>
              </a:rPr>
              <a:t>New Project (form preview)</a:t>
            </a:r>
            <a:endParaRPr lang="en-US" sz="750" dirty="0"/>
          </a:p>
        </p:txBody>
      </p:sp>
      <p:sp>
        <p:nvSpPr>
          <p:cNvPr id="64" name="Text 47"/>
          <p:cNvSpPr txBox="1"/>
          <p:nvPr/>
        </p:nvSpPr>
        <p:spPr>
          <a:xfrm>
            <a:off x="822960" y="4782312"/>
            <a:ext cx="2843784" cy="256032"/>
          </a:xfrm>
          <a:prstGeom prst="roundRect">
            <a:avLst>
              <a:gd name="adj" fmla="val 50000"/>
            </a:avLst>
          </a:prstGeom>
          <a:solidFill>
            <a:srgbClr val="FFFFFF"/>
          </a:solidFill>
          <a:ln w="9525">
            <a:solidFill>
              <a:srgbClr val="E3E9F1"/>
            </a:solidFill>
          </a:ln>
        </p:spPr>
        <p:txBody>
          <a:bodyPr wrap="square" lIns="1524" tIns="1524" rIns="1524" bIns="1524" rtlCol="0" anchor="ctr"/>
          <a:lstStyle/>
          <a:p>
            <a:pPr algn="l" indent="0" marL="0">
              <a:buNone/>
            </a:pPr>
            <a:r>
              <a:rPr lang="en-US" sz="800" dirty="0">
                <a:solidFill>
                  <a:srgbClr val="64748B"/>
                </a:solidFill>
                <a:latin typeface="Poppins" pitchFamily="34" charset="0"/>
                <a:ea typeface="Poppins" pitchFamily="34" charset="-122"/>
                <a:cs typeface="Poppins" pitchFamily="34" charset="-120"/>
              </a:rPr>
              <a:t>Project title</a:t>
            </a:r>
            <a:endParaRPr lang="en-US" sz="800" dirty="0"/>
          </a:p>
        </p:txBody>
      </p:sp>
      <p:sp>
        <p:nvSpPr>
          <p:cNvPr id="65" name="Text 48"/>
          <p:cNvSpPr txBox="1"/>
          <p:nvPr/>
        </p:nvSpPr>
        <p:spPr>
          <a:xfrm>
            <a:off x="822960" y="5093208"/>
            <a:ext cx="1376172" cy="256032"/>
          </a:xfrm>
          <a:prstGeom prst="roundRect">
            <a:avLst>
              <a:gd name="adj" fmla="val 50000"/>
            </a:avLst>
          </a:prstGeom>
          <a:solidFill>
            <a:srgbClr val="FFFFFF"/>
          </a:solidFill>
          <a:ln w="9525">
            <a:solidFill>
              <a:srgbClr val="E3E9F1"/>
            </a:solidFill>
          </a:ln>
        </p:spPr>
        <p:txBody>
          <a:bodyPr wrap="square" lIns="1524" tIns="1524" rIns="1524" bIns="1524" rtlCol="0" anchor="ctr"/>
          <a:lstStyle/>
          <a:p>
            <a:pPr algn="l" indent="0" marL="0">
              <a:buNone/>
            </a:pPr>
            <a:r>
              <a:rPr lang="en-US" sz="800" dirty="0">
                <a:solidFill>
                  <a:srgbClr val="64748B"/>
                </a:solidFill>
                <a:latin typeface="Poppins" pitchFamily="34" charset="0"/>
                <a:ea typeface="Poppins" pitchFamily="34" charset="-122"/>
                <a:cs typeface="Poppins" pitchFamily="34" charset="-120"/>
              </a:rPr>
              <a:t>Budget</a:t>
            </a:r>
            <a:endParaRPr lang="en-US" sz="800" dirty="0"/>
          </a:p>
        </p:txBody>
      </p:sp>
      <p:sp>
        <p:nvSpPr>
          <p:cNvPr id="66" name="Text 49"/>
          <p:cNvSpPr txBox="1"/>
          <p:nvPr/>
        </p:nvSpPr>
        <p:spPr>
          <a:xfrm>
            <a:off x="2290572" y="5093208"/>
            <a:ext cx="1376172" cy="256032"/>
          </a:xfrm>
          <a:prstGeom prst="roundRect">
            <a:avLst>
              <a:gd name="adj" fmla="val 50000"/>
            </a:avLst>
          </a:prstGeom>
          <a:solidFill>
            <a:srgbClr val="FFFFFF"/>
          </a:solidFill>
          <a:ln w="9525">
            <a:solidFill>
              <a:srgbClr val="E3E9F1"/>
            </a:solidFill>
          </a:ln>
        </p:spPr>
        <p:txBody>
          <a:bodyPr wrap="square" lIns="1524" tIns="1524" rIns="1524" bIns="1524" rtlCol="0" anchor="ctr"/>
          <a:lstStyle/>
          <a:p>
            <a:pPr algn="l" indent="0" marL="0">
              <a:buNone/>
            </a:pPr>
            <a:r>
              <a:rPr lang="en-US" sz="800" dirty="0">
                <a:solidFill>
                  <a:srgbClr val="64748B"/>
                </a:solidFill>
                <a:latin typeface="Poppins" pitchFamily="34" charset="0"/>
                <a:ea typeface="Poppins" pitchFamily="34" charset="-122"/>
                <a:cs typeface="Poppins" pitchFamily="34" charset="-120"/>
              </a:rPr>
              <a:t>Duration</a:t>
            </a:r>
            <a:endParaRPr lang="en-US" sz="800" dirty="0"/>
          </a:p>
        </p:txBody>
      </p:sp>
      <p:sp>
        <p:nvSpPr>
          <p:cNvPr id="67" name="Text 50"/>
          <p:cNvSpPr txBox="1"/>
          <p:nvPr/>
        </p:nvSpPr>
        <p:spPr>
          <a:xfrm>
            <a:off x="822960" y="5532120"/>
            <a:ext cx="2843784" cy="365760"/>
          </a:xfrm>
          <a:prstGeom prst="roundRect">
            <a:avLst>
              <a:gd name="adj" fmla="val 50000"/>
            </a:avLst>
          </a:prstGeom>
          <a:solidFill>
            <a:srgbClr val="12AEA4"/>
          </a:solidFill>
          <a:ln/>
        </p:spPr>
        <p:txBody>
          <a:bodyPr wrap="square" lIns="0" tIns="0" rIns="0" bIns="0" rtlCol="0" anchor="ctr"/>
          <a:lstStyle/>
          <a:p>
            <a:pPr algn="ctr" indent="0" marL="0">
              <a:buNone/>
            </a:pPr>
            <a:r>
              <a:rPr lang="en-US" sz="950" b="1" dirty="0">
                <a:solidFill>
                  <a:srgbClr val="FFFFFF"/>
                </a:solidFill>
                <a:latin typeface="Poppins" pitchFamily="34" charset="0"/>
                <a:ea typeface="Poppins" pitchFamily="34" charset="-122"/>
                <a:cs typeface="Poppins" pitchFamily="34" charset="-120"/>
              </a:rPr>
              <a:t>Post Project</a:t>
            </a:r>
            <a:endParaRPr lang="en-US" sz="950" dirty="0"/>
          </a:p>
        </p:txBody>
      </p:sp>
      <p:sp>
        <p:nvSpPr>
          <p:cNvPr id="68" name="Shape 51"/>
          <p:cNvSpPr/>
          <p:nvPr/>
        </p:nvSpPr>
        <p:spPr>
          <a:xfrm>
            <a:off x="4306824" y="3566160"/>
            <a:ext cx="3575304" cy="2724912"/>
          </a:xfrm>
          <a:prstGeom prst="roundRect">
            <a:avLst>
              <a:gd name="adj" fmla="val 4698"/>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69" name="Shape 52"/>
          <p:cNvSpPr/>
          <p:nvPr/>
        </p:nvSpPr>
        <p:spPr>
          <a:xfrm>
            <a:off x="4535424" y="3749040"/>
            <a:ext cx="457200" cy="45720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70" name="Image 15" descr="preencoded.png">    </p:cNvPr>
          <p:cNvPicPr>
            <a:picLocks noChangeAspect="1"/>
          </p:cNvPicPr>
          <p:nvPr/>
        </p:nvPicPr>
        <p:blipFill>
          <a:blip r:embed="rId17"/>
          <a:stretch>
            <a:fillRect/>
          </a:stretch>
        </p:blipFill>
        <p:spPr>
          <a:xfrm>
            <a:off x="4649724" y="3863340"/>
            <a:ext cx="228600" cy="228600"/>
          </a:xfrm>
          <a:prstGeom prst="rect">
            <a:avLst/>
          </a:prstGeom>
        </p:spPr>
      </p:pic>
      <p:sp>
        <p:nvSpPr>
          <p:cNvPr id="71" name="Text 53"/>
          <p:cNvSpPr txBox="1"/>
          <p:nvPr/>
        </p:nvSpPr>
        <p:spPr>
          <a:xfrm>
            <a:off x="5129784" y="3749040"/>
            <a:ext cx="2286000" cy="256032"/>
          </a:xfrm>
          <a:prstGeom prst="rect">
            <a:avLst/>
          </a:prstGeom>
          <a:noFill/>
          <a:ln/>
        </p:spPr>
        <p:txBody>
          <a:bodyPr wrap="square" lIns="0" tIns="0" rIns="0" bIns="0" rtlCol="0" anchor="ctr"/>
          <a:lstStyle/>
          <a:p>
            <a:pPr indent="0" marL="0">
              <a:buNone/>
            </a:pPr>
            <a:r>
              <a:rPr lang="en-US" sz="1250" b="1" dirty="0">
                <a:solidFill>
                  <a:srgbClr val="0B1930"/>
                </a:solidFill>
                <a:latin typeface="Poppins" pitchFamily="34" charset="0"/>
                <a:ea typeface="Poppins" pitchFamily="34" charset="-122"/>
                <a:cs typeface="Poppins" pitchFamily="34" charset="-120"/>
              </a:rPr>
              <a:t>BIDS</a:t>
            </a:r>
            <a:endParaRPr lang="en-US" sz="1250" dirty="0"/>
          </a:p>
        </p:txBody>
      </p:sp>
      <p:sp>
        <p:nvSpPr>
          <p:cNvPr id="72" name="Text 54"/>
          <p:cNvSpPr txBox="1"/>
          <p:nvPr/>
        </p:nvSpPr>
        <p:spPr>
          <a:xfrm>
            <a:off x="5129784" y="4023360"/>
            <a:ext cx="2615184" cy="228600"/>
          </a:xfrm>
          <a:prstGeom prst="rect">
            <a:avLst/>
          </a:prstGeom>
          <a:noFill/>
          <a:ln/>
        </p:spPr>
        <p:txBody>
          <a:bodyPr wrap="square" lIns="0" tIns="0" rIns="0" bIns="0" rtlCol="0" anchor="t"/>
          <a:lstStyle/>
          <a:p>
            <a:pPr indent="0" marL="0">
              <a:buNone/>
            </a:pPr>
            <a:r>
              <a:rPr lang="en-US" sz="850" dirty="0">
                <a:solidFill>
                  <a:srgbClr val="64748B"/>
                </a:solidFill>
                <a:latin typeface="Poppins" pitchFamily="34" charset="0"/>
                <a:ea typeface="Poppins" pitchFamily="34" charset="-122"/>
                <a:cs typeface="Poppins" pitchFamily="34" charset="-120"/>
              </a:rPr>
              <a:t>View freelancer bid details.</a:t>
            </a:r>
            <a:endParaRPr lang="en-US" sz="850" dirty="0"/>
          </a:p>
        </p:txBody>
      </p:sp>
      <p:sp>
        <p:nvSpPr>
          <p:cNvPr id="73" name="Shape 55"/>
          <p:cNvSpPr/>
          <p:nvPr/>
        </p:nvSpPr>
        <p:spPr>
          <a:xfrm>
            <a:off x="4535424" y="4480560"/>
            <a:ext cx="3118104" cy="1645920"/>
          </a:xfrm>
          <a:prstGeom prst="roundRect">
            <a:avLst>
              <a:gd name="adj" fmla="val 5556"/>
            </a:avLst>
          </a:prstGeom>
          <a:solidFill>
            <a:srgbClr val="F3F6FA"/>
          </a:solidFill>
          <a:ln w="9525">
            <a:solidFill>
              <a:srgbClr val="E3E9F1"/>
            </a:solidFill>
            <a:prstDash val="solid"/>
          </a:ln>
        </p:spPr>
      </p:sp>
      <p:sp>
        <p:nvSpPr>
          <p:cNvPr id="74" name="Shape 56"/>
          <p:cNvSpPr/>
          <p:nvPr/>
        </p:nvSpPr>
        <p:spPr>
          <a:xfrm>
            <a:off x="4626864" y="4590288"/>
            <a:ext cx="2935224" cy="438912"/>
          </a:xfrm>
          <a:prstGeom prst="roundRect">
            <a:avLst>
              <a:gd name="adj" fmla="val 16667"/>
            </a:avLst>
          </a:prstGeom>
          <a:solidFill>
            <a:srgbClr val="FFFFFF"/>
          </a:solidFill>
          <a:ln w="9525">
            <a:solidFill>
              <a:srgbClr val="E3E9F1"/>
            </a:solidFill>
            <a:prstDash val="solid"/>
          </a:ln>
        </p:spPr>
      </p:sp>
      <p:sp>
        <p:nvSpPr>
          <p:cNvPr id="75" name="Shape 57"/>
          <p:cNvSpPr/>
          <p:nvPr/>
        </p:nvSpPr>
        <p:spPr>
          <a:xfrm>
            <a:off x="4718304" y="4672584"/>
            <a:ext cx="274320" cy="274320"/>
          </a:xfrm>
          <a:prstGeom prst="ellipse">
            <a:avLst/>
          </a:prstGeom>
          <a:solidFill>
            <a:srgbClr val="12AEA4"/>
          </a:solidFill>
          <a:ln/>
        </p:spPr>
      </p:sp>
      <p:pic>
        <p:nvPicPr>
          <p:cNvPr id="76" name="Image 16" descr="preencoded.png">    </p:cNvPr>
          <p:cNvPicPr>
            <a:picLocks noChangeAspect="1"/>
          </p:cNvPicPr>
          <p:nvPr/>
        </p:nvPicPr>
        <p:blipFill>
          <a:blip r:embed="rId18"/>
          <a:stretch>
            <a:fillRect/>
          </a:stretch>
        </p:blipFill>
        <p:spPr>
          <a:xfrm>
            <a:off x="4786884" y="4741164"/>
            <a:ext cx="137160" cy="137160"/>
          </a:xfrm>
          <a:prstGeom prst="rect">
            <a:avLst/>
          </a:prstGeom>
        </p:spPr>
      </p:pic>
      <p:sp>
        <p:nvSpPr>
          <p:cNvPr id="77" name="Text 58"/>
          <p:cNvSpPr txBox="1"/>
          <p:nvPr/>
        </p:nvSpPr>
        <p:spPr>
          <a:xfrm>
            <a:off x="5084064" y="4590288"/>
            <a:ext cx="1371600" cy="438912"/>
          </a:xfrm>
          <a:prstGeom prst="rect">
            <a:avLst/>
          </a:prstGeom>
          <a:noFill/>
          <a:ln/>
        </p:spPr>
        <p:txBody>
          <a:bodyPr wrap="square" lIns="0" tIns="0" rIns="0" bIns="0" rtlCol="0" anchor="ctr"/>
          <a:lstStyle/>
          <a:p>
            <a:pPr indent="0" marL="0">
              <a:buNone/>
            </a:pPr>
            <a:r>
              <a:rPr lang="en-US" sz="850" b="1" dirty="0">
                <a:solidFill>
                  <a:srgbClr val="0B1930"/>
                </a:solidFill>
                <a:latin typeface="Poppins" pitchFamily="34" charset="0"/>
                <a:ea typeface="Poppins" pitchFamily="34" charset="-122"/>
                <a:cs typeface="Poppins" pitchFamily="34" charset="-120"/>
              </a:rPr>
              <a:t>Freelancer A</a:t>
            </a:r>
            <a:endParaRPr lang="en-US" sz="850" dirty="0"/>
          </a:p>
        </p:txBody>
      </p:sp>
      <p:sp>
        <p:nvSpPr>
          <p:cNvPr id="78" name="Text 59"/>
          <p:cNvSpPr txBox="1"/>
          <p:nvPr/>
        </p:nvSpPr>
        <p:spPr>
          <a:xfrm>
            <a:off x="6693408" y="4690872"/>
            <a:ext cx="640080" cy="237744"/>
          </a:xfrm>
          <a:prstGeom prst="roundRect">
            <a:avLst>
              <a:gd name="adj" fmla="val 50000"/>
            </a:avLst>
          </a:prstGeom>
          <a:solidFill>
            <a:srgbClr val="FEF0DF"/>
          </a:solidFill>
          <a:ln/>
        </p:spPr>
        <p:txBody>
          <a:bodyPr wrap="square" lIns="0" tIns="0" rIns="0" bIns="0" rtlCol="0" anchor="ctr"/>
          <a:lstStyle/>
          <a:p>
            <a:pPr algn="ctr" indent="0" marL="0">
              <a:buNone/>
            </a:pPr>
            <a:r>
              <a:rPr lang="en-US" sz="800" b="1" dirty="0">
                <a:solidFill>
                  <a:srgbClr val="B45F0B"/>
                </a:solidFill>
                <a:latin typeface="Poppins" pitchFamily="34" charset="0"/>
                <a:ea typeface="Poppins" pitchFamily="34" charset="-122"/>
                <a:cs typeface="Poppins" pitchFamily="34" charset="-120"/>
              </a:rPr>
              <a:t>Bid</a:t>
            </a:r>
            <a:endParaRPr lang="en-US" sz="800" dirty="0"/>
          </a:p>
        </p:txBody>
      </p:sp>
      <p:sp>
        <p:nvSpPr>
          <p:cNvPr id="79" name="Shape 60"/>
          <p:cNvSpPr/>
          <p:nvPr/>
        </p:nvSpPr>
        <p:spPr>
          <a:xfrm>
            <a:off x="4626864" y="5102352"/>
            <a:ext cx="2935224" cy="438912"/>
          </a:xfrm>
          <a:prstGeom prst="roundRect">
            <a:avLst>
              <a:gd name="adj" fmla="val 16667"/>
            </a:avLst>
          </a:prstGeom>
          <a:solidFill>
            <a:srgbClr val="FFFFFF"/>
          </a:solidFill>
          <a:ln w="9525">
            <a:solidFill>
              <a:srgbClr val="E3E9F1"/>
            </a:solidFill>
            <a:prstDash val="solid"/>
          </a:ln>
        </p:spPr>
      </p:sp>
      <p:sp>
        <p:nvSpPr>
          <p:cNvPr id="80" name="Shape 61"/>
          <p:cNvSpPr/>
          <p:nvPr/>
        </p:nvSpPr>
        <p:spPr>
          <a:xfrm>
            <a:off x="4718304" y="5184648"/>
            <a:ext cx="274320" cy="274320"/>
          </a:xfrm>
          <a:prstGeom prst="ellipse">
            <a:avLst/>
          </a:prstGeom>
          <a:solidFill>
            <a:srgbClr val="EF5B59"/>
          </a:solidFill>
          <a:ln/>
        </p:spPr>
      </p:sp>
      <p:pic>
        <p:nvPicPr>
          <p:cNvPr id="81" name="Image 17" descr="preencoded.png">    </p:cNvPr>
          <p:cNvPicPr>
            <a:picLocks noChangeAspect="1"/>
          </p:cNvPicPr>
          <p:nvPr/>
        </p:nvPicPr>
        <p:blipFill>
          <a:blip r:embed="rId19"/>
          <a:stretch>
            <a:fillRect/>
          </a:stretch>
        </p:blipFill>
        <p:spPr>
          <a:xfrm>
            <a:off x="4786884" y="5253228"/>
            <a:ext cx="137160" cy="137160"/>
          </a:xfrm>
          <a:prstGeom prst="rect">
            <a:avLst/>
          </a:prstGeom>
        </p:spPr>
      </p:pic>
      <p:sp>
        <p:nvSpPr>
          <p:cNvPr id="82" name="Text 62"/>
          <p:cNvSpPr txBox="1"/>
          <p:nvPr/>
        </p:nvSpPr>
        <p:spPr>
          <a:xfrm>
            <a:off x="5084064" y="5102352"/>
            <a:ext cx="1371600" cy="438912"/>
          </a:xfrm>
          <a:prstGeom prst="rect">
            <a:avLst/>
          </a:prstGeom>
          <a:noFill/>
          <a:ln/>
        </p:spPr>
        <p:txBody>
          <a:bodyPr wrap="square" lIns="0" tIns="0" rIns="0" bIns="0" rtlCol="0" anchor="ctr"/>
          <a:lstStyle/>
          <a:p>
            <a:pPr indent="0" marL="0">
              <a:buNone/>
            </a:pPr>
            <a:r>
              <a:rPr lang="en-US" sz="850" b="1" dirty="0">
                <a:solidFill>
                  <a:srgbClr val="0B1930"/>
                </a:solidFill>
                <a:latin typeface="Poppins" pitchFamily="34" charset="0"/>
                <a:ea typeface="Poppins" pitchFamily="34" charset="-122"/>
                <a:cs typeface="Poppins" pitchFamily="34" charset="-120"/>
              </a:rPr>
              <a:t>Freelancer B</a:t>
            </a:r>
            <a:endParaRPr lang="en-US" sz="850" dirty="0"/>
          </a:p>
        </p:txBody>
      </p:sp>
      <p:sp>
        <p:nvSpPr>
          <p:cNvPr id="83" name="Text 63"/>
          <p:cNvSpPr txBox="1"/>
          <p:nvPr/>
        </p:nvSpPr>
        <p:spPr>
          <a:xfrm>
            <a:off x="6693408" y="5202936"/>
            <a:ext cx="640080" cy="237744"/>
          </a:xfrm>
          <a:prstGeom prst="roundRect">
            <a:avLst>
              <a:gd name="adj" fmla="val 50000"/>
            </a:avLst>
          </a:prstGeom>
          <a:solidFill>
            <a:srgbClr val="FEF0DF"/>
          </a:solidFill>
          <a:ln/>
        </p:spPr>
        <p:txBody>
          <a:bodyPr wrap="square" lIns="0" tIns="0" rIns="0" bIns="0" rtlCol="0" anchor="ctr"/>
          <a:lstStyle/>
          <a:p>
            <a:pPr algn="ctr" indent="0" marL="0">
              <a:buNone/>
            </a:pPr>
            <a:r>
              <a:rPr lang="en-US" sz="800" b="1" dirty="0">
                <a:solidFill>
                  <a:srgbClr val="B45F0B"/>
                </a:solidFill>
                <a:latin typeface="Poppins" pitchFamily="34" charset="0"/>
                <a:ea typeface="Poppins" pitchFamily="34" charset="-122"/>
                <a:cs typeface="Poppins" pitchFamily="34" charset="-120"/>
              </a:rPr>
              <a:t>Bid</a:t>
            </a:r>
            <a:endParaRPr lang="en-US" sz="800" dirty="0"/>
          </a:p>
        </p:txBody>
      </p:sp>
      <p:sp>
        <p:nvSpPr>
          <p:cNvPr id="84" name="Shape 64"/>
          <p:cNvSpPr/>
          <p:nvPr/>
        </p:nvSpPr>
        <p:spPr>
          <a:xfrm>
            <a:off x="4626864" y="5614416"/>
            <a:ext cx="2935224" cy="438912"/>
          </a:xfrm>
          <a:prstGeom prst="roundRect">
            <a:avLst>
              <a:gd name="adj" fmla="val 16667"/>
            </a:avLst>
          </a:prstGeom>
          <a:solidFill>
            <a:srgbClr val="FFFFFF"/>
          </a:solidFill>
          <a:ln w="9525">
            <a:solidFill>
              <a:srgbClr val="E3E9F1"/>
            </a:solidFill>
            <a:prstDash val="solid"/>
          </a:ln>
        </p:spPr>
      </p:sp>
      <p:sp>
        <p:nvSpPr>
          <p:cNvPr id="85" name="Shape 65"/>
          <p:cNvSpPr/>
          <p:nvPr/>
        </p:nvSpPr>
        <p:spPr>
          <a:xfrm>
            <a:off x="4718304" y="5696712"/>
            <a:ext cx="274320" cy="274320"/>
          </a:xfrm>
          <a:prstGeom prst="ellipse">
            <a:avLst/>
          </a:prstGeom>
          <a:solidFill>
            <a:srgbClr val="F79330"/>
          </a:solidFill>
          <a:ln/>
        </p:spPr>
      </p:sp>
      <p:pic>
        <p:nvPicPr>
          <p:cNvPr id="86" name="Image 18" descr="preencoded.png">    </p:cNvPr>
          <p:cNvPicPr>
            <a:picLocks noChangeAspect="1"/>
          </p:cNvPicPr>
          <p:nvPr/>
        </p:nvPicPr>
        <p:blipFill>
          <a:blip r:embed="rId20"/>
          <a:stretch>
            <a:fillRect/>
          </a:stretch>
        </p:blipFill>
        <p:spPr>
          <a:xfrm>
            <a:off x="4786884" y="5765292"/>
            <a:ext cx="137160" cy="137160"/>
          </a:xfrm>
          <a:prstGeom prst="rect">
            <a:avLst/>
          </a:prstGeom>
        </p:spPr>
      </p:pic>
      <p:sp>
        <p:nvSpPr>
          <p:cNvPr id="87" name="Text 66"/>
          <p:cNvSpPr txBox="1"/>
          <p:nvPr/>
        </p:nvSpPr>
        <p:spPr>
          <a:xfrm>
            <a:off x="5084064" y="5614416"/>
            <a:ext cx="1371600" cy="438912"/>
          </a:xfrm>
          <a:prstGeom prst="rect">
            <a:avLst/>
          </a:prstGeom>
          <a:noFill/>
          <a:ln/>
        </p:spPr>
        <p:txBody>
          <a:bodyPr wrap="square" lIns="0" tIns="0" rIns="0" bIns="0" rtlCol="0" anchor="ctr"/>
          <a:lstStyle/>
          <a:p>
            <a:pPr indent="0" marL="0">
              <a:buNone/>
            </a:pPr>
            <a:r>
              <a:rPr lang="en-US" sz="850" b="1" dirty="0">
                <a:solidFill>
                  <a:srgbClr val="0B1930"/>
                </a:solidFill>
                <a:latin typeface="Poppins" pitchFamily="34" charset="0"/>
                <a:ea typeface="Poppins" pitchFamily="34" charset="-122"/>
                <a:cs typeface="Poppins" pitchFamily="34" charset="-120"/>
              </a:rPr>
              <a:t>Freelancer C</a:t>
            </a:r>
            <a:endParaRPr lang="en-US" sz="850" dirty="0"/>
          </a:p>
        </p:txBody>
      </p:sp>
      <p:sp>
        <p:nvSpPr>
          <p:cNvPr id="88" name="Text 67"/>
          <p:cNvSpPr txBox="1"/>
          <p:nvPr/>
        </p:nvSpPr>
        <p:spPr>
          <a:xfrm>
            <a:off x="6693408" y="5715000"/>
            <a:ext cx="640080" cy="237744"/>
          </a:xfrm>
          <a:prstGeom prst="roundRect">
            <a:avLst>
              <a:gd name="adj" fmla="val 50000"/>
            </a:avLst>
          </a:prstGeom>
          <a:solidFill>
            <a:srgbClr val="FEF0DF"/>
          </a:solidFill>
          <a:ln/>
        </p:spPr>
        <p:txBody>
          <a:bodyPr wrap="square" lIns="0" tIns="0" rIns="0" bIns="0" rtlCol="0" anchor="ctr"/>
          <a:lstStyle/>
          <a:p>
            <a:pPr algn="ctr" indent="0" marL="0">
              <a:buNone/>
            </a:pPr>
            <a:r>
              <a:rPr lang="en-US" sz="800" b="1" dirty="0">
                <a:solidFill>
                  <a:srgbClr val="B45F0B"/>
                </a:solidFill>
                <a:latin typeface="Poppins" pitchFamily="34" charset="0"/>
                <a:ea typeface="Poppins" pitchFamily="34" charset="-122"/>
                <a:cs typeface="Poppins" pitchFamily="34" charset="-120"/>
              </a:rPr>
              <a:t>Bid</a:t>
            </a:r>
            <a:endParaRPr lang="en-US" sz="800" dirty="0"/>
          </a:p>
        </p:txBody>
      </p:sp>
      <p:sp>
        <p:nvSpPr>
          <p:cNvPr id="89" name="Shape 68"/>
          <p:cNvSpPr/>
          <p:nvPr/>
        </p:nvSpPr>
        <p:spPr>
          <a:xfrm>
            <a:off x="8156448" y="3566160"/>
            <a:ext cx="3575304" cy="2724912"/>
          </a:xfrm>
          <a:prstGeom prst="roundRect">
            <a:avLst>
              <a:gd name="adj" fmla="val 4698"/>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90" name="Shape 69"/>
          <p:cNvSpPr/>
          <p:nvPr/>
        </p:nvSpPr>
        <p:spPr>
          <a:xfrm>
            <a:off x="8385048" y="3749040"/>
            <a:ext cx="457200" cy="45720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91" name="Image 19" descr="preencoded.png">    </p:cNvPr>
          <p:cNvPicPr>
            <a:picLocks noChangeAspect="1"/>
          </p:cNvPicPr>
          <p:nvPr/>
        </p:nvPicPr>
        <p:blipFill>
          <a:blip r:embed="rId21"/>
          <a:stretch>
            <a:fillRect/>
          </a:stretch>
        </p:blipFill>
        <p:spPr>
          <a:xfrm>
            <a:off x="8499348" y="3863340"/>
            <a:ext cx="228600" cy="228600"/>
          </a:xfrm>
          <a:prstGeom prst="rect">
            <a:avLst/>
          </a:prstGeom>
        </p:spPr>
      </p:pic>
      <p:sp>
        <p:nvSpPr>
          <p:cNvPr id="92" name="Text 70"/>
          <p:cNvSpPr txBox="1"/>
          <p:nvPr/>
        </p:nvSpPr>
        <p:spPr>
          <a:xfrm>
            <a:off x="8979408" y="3749040"/>
            <a:ext cx="2286000" cy="256032"/>
          </a:xfrm>
          <a:prstGeom prst="rect">
            <a:avLst/>
          </a:prstGeom>
          <a:noFill/>
          <a:ln/>
        </p:spPr>
        <p:txBody>
          <a:bodyPr wrap="square" lIns="0" tIns="0" rIns="0" bIns="0" rtlCol="0" anchor="ctr"/>
          <a:lstStyle/>
          <a:p>
            <a:pPr indent="0" marL="0">
              <a:buNone/>
            </a:pPr>
            <a:r>
              <a:rPr lang="en-US" sz="1250" b="1" dirty="0">
                <a:solidFill>
                  <a:srgbClr val="0B1930"/>
                </a:solidFill>
                <a:latin typeface="Poppins" pitchFamily="34" charset="0"/>
                <a:ea typeface="Poppins" pitchFamily="34" charset="-122"/>
                <a:cs typeface="Poppins" pitchFamily="34" charset="-120"/>
              </a:rPr>
              <a:t>DECISION</a:t>
            </a:r>
            <a:endParaRPr lang="en-US" sz="1250" dirty="0"/>
          </a:p>
        </p:txBody>
      </p:sp>
      <p:sp>
        <p:nvSpPr>
          <p:cNvPr id="93" name="Text 71"/>
          <p:cNvSpPr txBox="1"/>
          <p:nvPr/>
        </p:nvSpPr>
        <p:spPr>
          <a:xfrm>
            <a:off x="8979408" y="4023360"/>
            <a:ext cx="2615184" cy="228600"/>
          </a:xfrm>
          <a:prstGeom prst="rect">
            <a:avLst/>
          </a:prstGeom>
          <a:noFill/>
          <a:ln/>
        </p:spPr>
        <p:txBody>
          <a:bodyPr wrap="square" lIns="0" tIns="0" rIns="0" bIns="0" rtlCol="0" anchor="t"/>
          <a:lstStyle/>
          <a:p>
            <a:pPr indent="0" marL="0">
              <a:buNone/>
            </a:pPr>
            <a:r>
              <a:rPr lang="en-US" sz="850" dirty="0">
                <a:solidFill>
                  <a:srgbClr val="64748B"/>
                </a:solidFill>
                <a:latin typeface="Poppins" pitchFamily="34" charset="0"/>
                <a:ea typeface="Poppins" pitchFamily="34" charset="-122"/>
                <a:cs typeface="Poppins" pitchFamily="34" charset="-120"/>
              </a:rPr>
              <a:t>Accept a suitable bid or reject it.</a:t>
            </a:r>
            <a:endParaRPr lang="en-US" sz="850" dirty="0"/>
          </a:p>
        </p:txBody>
      </p:sp>
      <p:sp>
        <p:nvSpPr>
          <p:cNvPr id="94" name="Shape 72"/>
          <p:cNvSpPr/>
          <p:nvPr/>
        </p:nvSpPr>
        <p:spPr>
          <a:xfrm>
            <a:off x="8385048" y="4480560"/>
            <a:ext cx="3118104" cy="1645920"/>
          </a:xfrm>
          <a:prstGeom prst="roundRect">
            <a:avLst>
              <a:gd name="adj" fmla="val 5556"/>
            </a:avLst>
          </a:prstGeom>
          <a:solidFill>
            <a:srgbClr val="F3F6FA"/>
          </a:solidFill>
          <a:ln w="9525">
            <a:solidFill>
              <a:srgbClr val="E3E9F1"/>
            </a:solidFill>
            <a:prstDash val="solid"/>
          </a:ln>
        </p:spPr>
      </p:sp>
      <p:sp>
        <p:nvSpPr>
          <p:cNvPr id="95" name="Shape 73"/>
          <p:cNvSpPr/>
          <p:nvPr/>
        </p:nvSpPr>
        <p:spPr>
          <a:xfrm>
            <a:off x="8476488" y="4590288"/>
            <a:ext cx="2935224" cy="502920"/>
          </a:xfrm>
          <a:prstGeom prst="roundRect">
            <a:avLst>
              <a:gd name="adj" fmla="val 14545"/>
            </a:avLst>
          </a:prstGeom>
          <a:solidFill>
            <a:srgbClr val="FFFFFF"/>
          </a:solidFill>
          <a:ln w="9525">
            <a:solidFill>
              <a:srgbClr val="E3E9F1"/>
            </a:solidFill>
            <a:prstDash val="solid"/>
          </a:ln>
        </p:spPr>
      </p:sp>
      <p:sp>
        <p:nvSpPr>
          <p:cNvPr id="96" name="Shape 74"/>
          <p:cNvSpPr/>
          <p:nvPr/>
        </p:nvSpPr>
        <p:spPr>
          <a:xfrm>
            <a:off x="8567928" y="4700016"/>
            <a:ext cx="292608" cy="292608"/>
          </a:xfrm>
          <a:prstGeom prst="ellipse">
            <a:avLst/>
          </a:prstGeom>
          <a:solidFill>
            <a:srgbClr val="12AEA4"/>
          </a:solidFill>
          <a:ln/>
        </p:spPr>
      </p:sp>
      <p:pic>
        <p:nvPicPr>
          <p:cNvPr id="97" name="Image 20" descr="preencoded.png">    </p:cNvPr>
          <p:cNvPicPr>
            <a:picLocks noChangeAspect="1"/>
          </p:cNvPicPr>
          <p:nvPr/>
        </p:nvPicPr>
        <p:blipFill>
          <a:blip r:embed="rId22"/>
          <a:stretch>
            <a:fillRect/>
          </a:stretch>
        </p:blipFill>
        <p:spPr>
          <a:xfrm>
            <a:off x="8641080" y="4773168"/>
            <a:ext cx="146304" cy="146304"/>
          </a:xfrm>
          <a:prstGeom prst="rect">
            <a:avLst/>
          </a:prstGeom>
        </p:spPr>
      </p:pic>
      <p:sp>
        <p:nvSpPr>
          <p:cNvPr id="98" name="Text 75"/>
          <p:cNvSpPr txBox="1"/>
          <p:nvPr/>
        </p:nvSpPr>
        <p:spPr>
          <a:xfrm>
            <a:off x="8979408" y="4590288"/>
            <a:ext cx="1828800" cy="502920"/>
          </a:xfrm>
          <a:prstGeom prst="rect">
            <a:avLst/>
          </a:prstGeom>
          <a:noFill/>
          <a:ln/>
        </p:spPr>
        <p:txBody>
          <a:bodyPr wrap="square" lIns="0" tIns="0" rIns="0" bIns="0" rtlCol="0" anchor="ctr"/>
          <a:lstStyle/>
          <a:p>
            <a:pPr indent="0" marL="0">
              <a:buNone/>
            </a:pPr>
            <a:r>
              <a:rPr lang="en-US" sz="850" b="1" dirty="0">
                <a:solidFill>
                  <a:srgbClr val="0B1930"/>
                </a:solidFill>
                <a:latin typeface="Poppins" pitchFamily="34" charset="0"/>
                <a:ea typeface="Poppins" pitchFamily="34" charset="-122"/>
                <a:cs typeface="Poppins" pitchFamily="34" charset="-120"/>
              </a:rPr>
              <a:t>Selected bid</a:t>
            </a:r>
            <a:endParaRPr lang="en-US" sz="850" dirty="0"/>
          </a:p>
        </p:txBody>
      </p:sp>
      <p:sp>
        <p:nvSpPr>
          <p:cNvPr id="99" name="Text 76"/>
          <p:cNvSpPr txBox="1"/>
          <p:nvPr/>
        </p:nvSpPr>
        <p:spPr>
          <a:xfrm>
            <a:off x="8476488" y="5303520"/>
            <a:ext cx="1376172" cy="457200"/>
          </a:xfrm>
          <a:prstGeom prst="roundRect">
            <a:avLst>
              <a:gd name="adj" fmla="val 50000"/>
            </a:avLst>
          </a:prstGeom>
          <a:solidFill>
            <a:srgbClr val="12AEA4"/>
          </a:solid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Accept</a:t>
            </a:r>
            <a:endParaRPr lang="en-US" sz="1000" dirty="0"/>
          </a:p>
        </p:txBody>
      </p:sp>
      <p:sp>
        <p:nvSpPr>
          <p:cNvPr id="100" name="Text 77"/>
          <p:cNvSpPr txBox="1"/>
          <p:nvPr/>
        </p:nvSpPr>
        <p:spPr>
          <a:xfrm>
            <a:off x="9944100" y="5303520"/>
            <a:ext cx="1376172" cy="457200"/>
          </a:xfrm>
          <a:prstGeom prst="roundRect">
            <a:avLst>
              <a:gd name="adj" fmla="val 50000"/>
            </a:avLst>
          </a:prstGeom>
          <a:solidFill>
            <a:srgbClr val="EF5B59"/>
          </a:solid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Reject</a:t>
            </a:r>
            <a:endParaRPr lang="en-US" sz="1000" dirty="0"/>
          </a:p>
        </p:txBody>
      </p:sp>
      <p:pic>
        <p:nvPicPr>
          <p:cNvPr id="101" name="Image 21" descr="preencoded.png">    </p:cNvPr>
          <p:cNvPicPr>
            <a:picLocks noChangeAspect="1"/>
          </p:cNvPicPr>
          <p:nvPr/>
        </p:nvPicPr>
        <p:blipFill>
          <a:blip r:embed="rId23"/>
          <a:stretch>
            <a:fillRect/>
          </a:stretch>
        </p:blipFill>
        <p:spPr>
          <a:xfrm>
            <a:off x="8613648" y="5394960"/>
            <a:ext cx="256032" cy="256032"/>
          </a:xfrm>
          <a:prstGeom prst="rect">
            <a:avLst/>
          </a:prstGeom>
        </p:spPr>
      </p:pic>
      <p:pic>
        <p:nvPicPr>
          <p:cNvPr id="102" name="Image 22" descr="preencoded.png">    </p:cNvPr>
          <p:cNvPicPr>
            <a:picLocks noChangeAspect="1"/>
          </p:cNvPicPr>
          <p:nvPr/>
        </p:nvPicPr>
        <p:blipFill>
          <a:blip r:embed="rId24"/>
          <a:stretch>
            <a:fillRect/>
          </a:stretch>
        </p:blipFill>
        <p:spPr>
          <a:xfrm>
            <a:off x="10081260" y="5394960"/>
            <a:ext cx="256032" cy="2560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FREELANCER WORKFLOW</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9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09</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Freelancer Workflow</a:t>
            </a:r>
            <a:endParaRPr lang="en-US" sz="3000" dirty="0"/>
          </a:p>
        </p:txBody>
      </p:sp>
      <p:sp>
        <p:nvSpPr>
          <p:cNvPr id="9" name="Shape 6"/>
          <p:cNvSpPr/>
          <p:nvPr/>
        </p:nvSpPr>
        <p:spPr>
          <a:xfrm>
            <a:off x="457200" y="1554480"/>
            <a:ext cx="11274552" cy="1783080"/>
          </a:xfrm>
          <a:prstGeom prst="roundRect">
            <a:avLst>
              <a:gd name="adj" fmla="val 7179"/>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Shape 7"/>
          <p:cNvSpPr/>
          <p:nvPr/>
        </p:nvSpPr>
        <p:spPr>
          <a:xfrm>
            <a:off x="1692293" y="2121408"/>
            <a:ext cx="751114" cy="0"/>
          </a:xfrm>
          <a:prstGeom prst="line">
            <a:avLst/>
          </a:prstGeom>
          <a:noFill/>
          <a:ln w="22225">
            <a:solidFill>
              <a:srgbClr val="0B1930"/>
            </a:solidFill>
            <a:prstDash val="solid"/>
            <a:tailEnd type="triangle"/>
          </a:ln>
        </p:spPr>
      </p:sp>
      <p:sp>
        <p:nvSpPr>
          <p:cNvPr id="11" name="Shape 8"/>
          <p:cNvSpPr/>
          <p:nvPr/>
        </p:nvSpPr>
        <p:spPr>
          <a:xfrm>
            <a:off x="915053" y="1773936"/>
            <a:ext cx="694944" cy="694944"/>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12" name="Image 1" descr="preencoded.png">    </p:cNvPr>
          <p:cNvPicPr>
            <a:picLocks noChangeAspect="1"/>
          </p:cNvPicPr>
          <p:nvPr/>
        </p:nvPicPr>
        <p:blipFill>
          <a:blip r:embed="rId3"/>
          <a:stretch>
            <a:fillRect/>
          </a:stretch>
        </p:blipFill>
        <p:spPr>
          <a:xfrm>
            <a:off x="1095739" y="1954621"/>
            <a:ext cx="333573" cy="333573"/>
          </a:xfrm>
          <a:prstGeom prst="rect">
            <a:avLst/>
          </a:prstGeom>
        </p:spPr>
      </p:pic>
      <p:sp>
        <p:nvSpPr>
          <p:cNvPr id="13" name="Shape 9"/>
          <p:cNvSpPr/>
          <p:nvPr/>
        </p:nvSpPr>
        <p:spPr>
          <a:xfrm>
            <a:off x="1408829" y="1700784"/>
            <a:ext cx="274320" cy="274320"/>
          </a:xfrm>
          <a:prstGeom prst="ellipse">
            <a:avLst/>
          </a:prstGeom>
          <a:solidFill>
            <a:srgbClr val="0B1930"/>
          </a:solidFill>
          <a:ln w="19050">
            <a:solidFill>
              <a:srgbClr val="FFFFFF"/>
            </a:solidFill>
            <a:prstDash val="solid"/>
          </a:ln>
        </p:spPr>
      </p:sp>
      <p:sp>
        <p:nvSpPr>
          <p:cNvPr id="14" name="Text 10"/>
          <p:cNvSpPr txBox="1"/>
          <p:nvPr/>
        </p:nvSpPr>
        <p:spPr>
          <a:xfrm>
            <a:off x="1408829" y="1700784"/>
            <a:ext cx="2743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a:t>
            </a:r>
            <a:endParaRPr lang="en-US" sz="850" dirty="0"/>
          </a:p>
        </p:txBody>
      </p:sp>
      <p:sp>
        <p:nvSpPr>
          <p:cNvPr id="15" name="Text 11"/>
          <p:cNvSpPr txBox="1"/>
          <p:nvPr/>
        </p:nvSpPr>
        <p:spPr>
          <a:xfrm>
            <a:off x="530352" y="2606040"/>
            <a:ext cx="1464346"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Register / Login</a:t>
            </a:r>
            <a:endParaRPr lang="en-US" sz="950" dirty="0"/>
          </a:p>
        </p:txBody>
      </p:sp>
      <p:sp>
        <p:nvSpPr>
          <p:cNvPr id="16" name="Shape 12"/>
          <p:cNvSpPr/>
          <p:nvPr/>
        </p:nvSpPr>
        <p:spPr>
          <a:xfrm>
            <a:off x="3302943" y="2121408"/>
            <a:ext cx="751114" cy="0"/>
          </a:xfrm>
          <a:prstGeom prst="line">
            <a:avLst/>
          </a:prstGeom>
          <a:noFill/>
          <a:ln w="22225">
            <a:solidFill>
              <a:srgbClr val="0B1930"/>
            </a:solidFill>
            <a:prstDash val="solid"/>
            <a:tailEnd type="triangle"/>
          </a:ln>
        </p:spPr>
      </p:sp>
      <p:sp>
        <p:nvSpPr>
          <p:cNvPr id="17" name="Shape 13"/>
          <p:cNvSpPr/>
          <p:nvPr/>
        </p:nvSpPr>
        <p:spPr>
          <a:xfrm>
            <a:off x="2525703" y="1773936"/>
            <a:ext cx="694944" cy="694944"/>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18" name="Image 2" descr="preencoded.png">    </p:cNvPr>
          <p:cNvPicPr>
            <a:picLocks noChangeAspect="1"/>
          </p:cNvPicPr>
          <p:nvPr/>
        </p:nvPicPr>
        <p:blipFill>
          <a:blip r:embed="rId4"/>
          <a:stretch>
            <a:fillRect/>
          </a:stretch>
        </p:blipFill>
        <p:spPr>
          <a:xfrm>
            <a:off x="2706389" y="1954621"/>
            <a:ext cx="333573" cy="333573"/>
          </a:xfrm>
          <a:prstGeom prst="rect">
            <a:avLst/>
          </a:prstGeom>
        </p:spPr>
      </p:pic>
      <p:sp>
        <p:nvSpPr>
          <p:cNvPr id="19" name="Shape 14"/>
          <p:cNvSpPr/>
          <p:nvPr/>
        </p:nvSpPr>
        <p:spPr>
          <a:xfrm>
            <a:off x="3019479" y="1700784"/>
            <a:ext cx="274320" cy="274320"/>
          </a:xfrm>
          <a:prstGeom prst="ellipse">
            <a:avLst/>
          </a:prstGeom>
          <a:solidFill>
            <a:srgbClr val="0B1930"/>
          </a:solidFill>
          <a:ln w="19050">
            <a:solidFill>
              <a:srgbClr val="FFFFFF"/>
            </a:solidFill>
            <a:prstDash val="solid"/>
          </a:ln>
        </p:spPr>
      </p:sp>
      <p:sp>
        <p:nvSpPr>
          <p:cNvPr id="20" name="Text 15"/>
          <p:cNvSpPr txBox="1"/>
          <p:nvPr/>
        </p:nvSpPr>
        <p:spPr>
          <a:xfrm>
            <a:off x="3019479" y="1700784"/>
            <a:ext cx="2743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a:t>
            </a:r>
            <a:endParaRPr lang="en-US" sz="850" dirty="0"/>
          </a:p>
        </p:txBody>
      </p:sp>
      <p:sp>
        <p:nvSpPr>
          <p:cNvPr id="21" name="Text 16"/>
          <p:cNvSpPr txBox="1"/>
          <p:nvPr/>
        </p:nvSpPr>
        <p:spPr>
          <a:xfrm>
            <a:off x="2141002" y="2606040"/>
            <a:ext cx="1464346"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Browse Open Projects</a:t>
            </a:r>
            <a:endParaRPr lang="en-US" sz="950" dirty="0"/>
          </a:p>
        </p:txBody>
      </p:sp>
      <p:sp>
        <p:nvSpPr>
          <p:cNvPr id="22" name="Shape 17"/>
          <p:cNvSpPr/>
          <p:nvPr/>
        </p:nvSpPr>
        <p:spPr>
          <a:xfrm>
            <a:off x="4913594" y="2121408"/>
            <a:ext cx="751114" cy="0"/>
          </a:xfrm>
          <a:prstGeom prst="line">
            <a:avLst/>
          </a:prstGeom>
          <a:noFill/>
          <a:ln w="22225">
            <a:solidFill>
              <a:srgbClr val="0B1930"/>
            </a:solidFill>
            <a:prstDash val="solid"/>
            <a:tailEnd type="triangle"/>
          </a:ln>
        </p:spPr>
      </p:sp>
      <p:sp>
        <p:nvSpPr>
          <p:cNvPr id="23" name="Shape 18"/>
          <p:cNvSpPr/>
          <p:nvPr/>
        </p:nvSpPr>
        <p:spPr>
          <a:xfrm>
            <a:off x="4136354" y="1773936"/>
            <a:ext cx="694944" cy="694944"/>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24" name="Image 3" descr="preencoded.png">    </p:cNvPr>
          <p:cNvPicPr>
            <a:picLocks noChangeAspect="1"/>
          </p:cNvPicPr>
          <p:nvPr/>
        </p:nvPicPr>
        <p:blipFill>
          <a:blip r:embed="rId5"/>
          <a:stretch>
            <a:fillRect/>
          </a:stretch>
        </p:blipFill>
        <p:spPr>
          <a:xfrm>
            <a:off x="4317039" y="1954621"/>
            <a:ext cx="333573" cy="333573"/>
          </a:xfrm>
          <a:prstGeom prst="rect">
            <a:avLst/>
          </a:prstGeom>
        </p:spPr>
      </p:pic>
      <p:sp>
        <p:nvSpPr>
          <p:cNvPr id="25" name="Shape 19"/>
          <p:cNvSpPr/>
          <p:nvPr/>
        </p:nvSpPr>
        <p:spPr>
          <a:xfrm>
            <a:off x="4630130" y="1700784"/>
            <a:ext cx="274320" cy="274320"/>
          </a:xfrm>
          <a:prstGeom prst="ellipse">
            <a:avLst/>
          </a:prstGeom>
          <a:solidFill>
            <a:srgbClr val="0B1930"/>
          </a:solidFill>
          <a:ln w="19050">
            <a:solidFill>
              <a:srgbClr val="FFFFFF"/>
            </a:solidFill>
            <a:prstDash val="solid"/>
          </a:ln>
        </p:spPr>
      </p:sp>
      <p:sp>
        <p:nvSpPr>
          <p:cNvPr id="26" name="Text 20"/>
          <p:cNvSpPr txBox="1"/>
          <p:nvPr/>
        </p:nvSpPr>
        <p:spPr>
          <a:xfrm>
            <a:off x="4630130" y="1700784"/>
            <a:ext cx="2743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3</a:t>
            </a:r>
            <a:endParaRPr lang="en-US" sz="850" dirty="0"/>
          </a:p>
        </p:txBody>
      </p:sp>
      <p:sp>
        <p:nvSpPr>
          <p:cNvPr id="27" name="Text 21"/>
          <p:cNvSpPr txBox="1"/>
          <p:nvPr/>
        </p:nvSpPr>
        <p:spPr>
          <a:xfrm>
            <a:off x="3751653" y="2606040"/>
            <a:ext cx="1464346"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Select Project</a:t>
            </a:r>
            <a:endParaRPr lang="en-US" sz="950" dirty="0"/>
          </a:p>
        </p:txBody>
      </p:sp>
      <p:sp>
        <p:nvSpPr>
          <p:cNvPr id="28" name="Shape 22"/>
          <p:cNvSpPr/>
          <p:nvPr/>
        </p:nvSpPr>
        <p:spPr>
          <a:xfrm>
            <a:off x="6524244" y="2121408"/>
            <a:ext cx="751114" cy="0"/>
          </a:xfrm>
          <a:prstGeom prst="line">
            <a:avLst/>
          </a:prstGeom>
          <a:noFill/>
          <a:ln w="22225">
            <a:solidFill>
              <a:srgbClr val="0B1930"/>
            </a:solidFill>
            <a:prstDash val="solid"/>
            <a:tailEnd type="triangle"/>
          </a:ln>
        </p:spPr>
      </p:sp>
      <p:sp>
        <p:nvSpPr>
          <p:cNvPr id="29" name="Shape 23"/>
          <p:cNvSpPr/>
          <p:nvPr/>
        </p:nvSpPr>
        <p:spPr>
          <a:xfrm>
            <a:off x="5747004" y="1773936"/>
            <a:ext cx="694944" cy="694944"/>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30" name="Image 4" descr="preencoded.png">    </p:cNvPr>
          <p:cNvPicPr>
            <a:picLocks noChangeAspect="1"/>
          </p:cNvPicPr>
          <p:nvPr/>
        </p:nvPicPr>
        <p:blipFill>
          <a:blip r:embed="rId6"/>
          <a:stretch>
            <a:fillRect/>
          </a:stretch>
        </p:blipFill>
        <p:spPr>
          <a:xfrm>
            <a:off x="5927689" y="1954621"/>
            <a:ext cx="333573" cy="333573"/>
          </a:xfrm>
          <a:prstGeom prst="rect">
            <a:avLst/>
          </a:prstGeom>
        </p:spPr>
      </p:pic>
      <p:sp>
        <p:nvSpPr>
          <p:cNvPr id="31" name="Shape 24"/>
          <p:cNvSpPr/>
          <p:nvPr/>
        </p:nvSpPr>
        <p:spPr>
          <a:xfrm>
            <a:off x="6240780" y="1700784"/>
            <a:ext cx="274320" cy="274320"/>
          </a:xfrm>
          <a:prstGeom prst="ellipse">
            <a:avLst/>
          </a:prstGeom>
          <a:solidFill>
            <a:srgbClr val="0B1930"/>
          </a:solidFill>
          <a:ln w="19050">
            <a:solidFill>
              <a:srgbClr val="FFFFFF"/>
            </a:solidFill>
            <a:prstDash val="solid"/>
          </a:ln>
        </p:spPr>
      </p:sp>
      <p:sp>
        <p:nvSpPr>
          <p:cNvPr id="32" name="Text 25"/>
          <p:cNvSpPr txBox="1"/>
          <p:nvPr/>
        </p:nvSpPr>
        <p:spPr>
          <a:xfrm>
            <a:off x="6240780" y="1700784"/>
            <a:ext cx="2743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a:t>
            </a:r>
            <a:endParaRPr lang="en-US" sz="850" dirty="0"/>
          </a:p>
        </p:txBody>
      </p:sp>
      <p:sp>
        <p:nvSpPr>
          <p:cNvPr id="33" name="Text 26"/>
          <p:cNvSpPr txBox="1"/>
          <p:nvPr/>
        </p:nvSpPr>
        <p:spPr>
          <a:xfrm>
            <a:off x="5362303" y="2606040"/>
            <a:ext cx="1464346"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Check Credits</a:t>
            </a:r>
            <a:endParaRPr lang="en-US" sz="950" dirty="0"/>
          </a:p>
        </p:txBody>
      </p:sp>
      <p:sp>
        <p:nvSpPr>
          <p:cNvPr id="34" name="Shape 27"/>
          <p:cNvSpPr/>
          <p:nvPr/>
        </p:nvSpPr>
        <p:spPr>
          <a:xfrm>
            <a:off x="8134894" y="2121408"/>
            <a:ext cx="751114" cy="0"/>
          </a:xfrm>
          <a:prstGeom prst="line">
            <a:avLst/>
          </a:prstGeom>
          <a:noFill/>
          <a:ln w="22225">
            <a:solidFill>
              <a:srgbClr val="0B1930"/>
            </a:solidFill>
            <a:prstDash val="solid"/>
            <a:tailEnd type="triangle"/>
          </a:ln>
        </p:spPr>
      </p:sp>
      <p:sp>
        <p:nvSpPr>
          <p:cNvPr id="35" name="Shape 28"/>
          <p:cNvSpPr/>
          <p:nvPr/>
        </p:nvSpPr>
        <p:spPr>
          <a:xfrm>
            <a:off x="7357654" y="1773936"/>
            <a:ext cx="694944" cy="694944"/>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36" name="Image 5" descr="preencoded.png">    </p:cNvPr>
          <p:cNvPicPr>
            <a:picLocks noChangeAspect="1"/>
          </p:cNvPicPr>
          <p:nvPr/>
        </p:nvPicPr>
        <p:blipFill>
          <a:blip r:embed="rId7"/>
          <a:stretch>
            <a:fillRect/>
          </a:stretch>
        </p:blipFill>
        <p:spPr>
          <a:xfrm>
            <a:off x="7538340" y="1954621"/>
            <a:ext cx="333573" cy="333573"/>
          </a:xfrm>
          <a:prstGeom prst="rect">
            <a:avLst/>
          </a:prstGeom>
        </p:spPr>
      </p:pic>
      <p:sp>
        <p:nvSpPr>
          <p:cNvPr id="37" name="Shape 29"/>
          <p:cNvSpPr/>
          <p:nvPr/>
        </p:nvSpPr>
        <p:spPr>
          <a:xfrm>
            <a:off x="7851430" y="1700784"/>
            <a:ext cx="274320" cy="274320"/>
          </a:xfrm>
          <a:prstGeom prst="ellipse">
            <a:avLst/>
          </a:prstGeom>
          <a:solidFill>
            <a:srgbClr val="0B1930"/>
          </a:solidFill>
          <a:ln w="19050">
            <a:solidFill>
              <a:srgbClr val="FFFFFF"/>
            </a:solidFill>
            <a:prstDash val="solid"/>
          </a:ln>
        </p:spPr>
      </p:sp>
      <p:sp>
        <p:nvSpPr>
          <p:cNvPr id="38" name="Text 30"/>
          <p:cNvSpPr txBox="1"/>
          <p:nvPr/>
        </p:nvSpPr>
        <p:spPr>
          <a:xfrm>
            <a:off x="7851430" y="1700784"/>
            <a:ext cx="2743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5</a:t>
            </a:r>
            <a:endParaRPr lang="en-US" sz="850" dirty="0"/>
          </a:p>
        </p:txBody>
      </p:sp>
      <p:sp>
        <p:nvSpPr>
          <p:cNvPr id="39" name="Text 31"/>
          <p:cNvSpPr txBox="1"/>
          <p:nvPr/>
        </p:nvSpPr>
        <p:spPr>
          <a:xfrm>
            <a:off x="6972953" y="2606040"/>
            <a:ext cx="1464346"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Place Bid</a:t>
            </a:r>
            <a:endParaRPr lang="en-US" sz="950" dirty="0"/>
          </a:p>
        </p:txBody>
      </p:sp>
      <p:sp>
        <p:nvSpPr>
          <p:cNvPr id="40" name="Shape 32"/>
          <p:cNvSpPr/>
          <p:nvPr/>
        </p:nvSpPr>
        <p:spPr>
          <a:xfrm>
            <a:off x="9745545" y="2121408"/>
            <a:ext cx="751114" cy="0"/>
          </a:xfrm>
          <a:prstGeom prst="line">
            <a:avLst/>
          </a:prstGeom>
          <a:noFill/>
          <a:ln w="22225">
            <a:solidFill>
              <a:srgbClr val="0B1930"/>
            </a:solidFill>
            <a:prstDash val="solid"/>
            <a:tailEnd type="triangle"/>
          </a:ln>
        </p:spPr>
      </p:sp>
      <p:sp>
        <p:nvSpPr>
          <p:cNvPr id="41" name="Shape 33"/>
          <p:cNvSpPr/>
          <p:nvPr/>
        </p:nvSpPr>
        <p:spPr>
          <a:xfrm>
            <a:off x="8968305" y="1773936"/>
            <a:ext cx="694944" cy="694944"/>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42" name="Image 6" descr="preencoded.png">    </p:cNvPr>
          <p:cNvPicPr>
            <a:picLocks noChangeAspect="1"/>
          </p:cNvPicPr>
          <p:nvPr/>
        </p:nvPicPr>
        <p:blipFill>
          <a:blip r:embed="rId8"/>
          <a:stretch>
            <a:fillRect/>
          </a:stretch>
        </p:blipFill>
        <p:spPr>
          <a:xfrm>
            <a:off x="9148990" y="1954621"/>
            <a:ext cx="333573" cy="333573"/>
          </a:xfrm>
          <a:prstGeom prst="rect">
            <a:avLst/>
          </a:prstGeom>
        </p:spPr>
      </p:pic>
      <p:sp>
        <p:nvSpPr>
          <p:cNvPr id="43" name="Shape 34"/>
          <p:cNvSpPr/>
          <p:nvPr/>
        </p:nvSpPr>
        <p:spPr>
          <a:xfrm>
            <a:off x="9462081" y="1700784"/>
            <a:ext cx="274320" cy="274320"/>
          </a:xfrm>
          <a:prstGeom prst="ellipse">
            <a:avLst/>
          </a:prstGeom>
          <a:solidFill>
            <a:srgbClr val="0B1930"/>
          </a:solidFill>
          <a:ln w="19050">
            <a:solidFill>
              <a:srgbClr val="FFFFFF"/>
            </a:solidFill>
            <a:prstDash val="solid"/>
          </a:ln>
        </p:spPr>
      </p:sp>
      <p:sp>
        <p:nvSpPr>
          <p:cNvPr id="44" name="Text 35"/>
          <p:cNvSpPr txBox="1"/>
          <p:nvPr/>
        </p:nvSpPr>
        <p:spPr>
          <a:xfrm>
            <a:off x="9462081" y="1700784"/>
            <a:ext cx="2743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6</a:t>
            </a:r>
            <a:endParaRPr lang="en-US" sz="850" dirty="0"/>
          </a:p>
        </p:txBody>
      </p:sp>
      <p:sp>
        <p:nvSpPr>
          <p:cNvPr id="45" name="Text 36"/>
          <p:cNvSpPr txBox="1"/>
          <p:nvPr/>
        </p:nvSpPr>
        <p:spPr>
          <a:xfrm>
            <a:off x="8583603" y="2606040"/>
            <a:ext cx="1464346"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Track Bid Status</a:t>
            </a:r>
            <a:endParaRPr lang="en-US" sz="950" dirty="0"/>
          </a:p>
        </p:txBody>
      </p:sp>
      <p:sp>
        <p:nvSpPr>
          <p:cNvPr id="46" name="Shape 37"/>
          <p:cNvSpPr/>
          <p:nvPr/>
        </p:nvSpPr>
        <p:spPr>
          <a:xfrm>
            <a:off x="10578955" y="1773936"/>
            <a:ext cx="694944" cy="694944"/>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47" name="Image 7" descr="preencoded.png">    </p:cNvPr>
          <p:cNvPicPr>
            <a:picLocks noChangeAspect="1"/>
          </p:cNvPicPr>
          <p:nvPr/>
        </p:nvPicPr>
        <p:blipFill>
          <a:blip r:embed="rId9"/>
          <a:stretch>
            <a:fillRect/>
          </a:stretch>
        </p:blipFill>
        <p:spPr>
          <a:xfrm>
            <a:off x="10759640" y="1954621"/>
            <a:ext cx="333573" cy="333573"/>
          </a:xfrm>
          <a:prstGeom prst="rect">
            <a:avLst/>
          </a:prstGeom>
        </p:spPr>
      </p:pic>
      <p:sp>
        <p:nvSpPr>
          <p:cNvPr id="48" name="Shape 38"/>
          <p:cNvSpPr/>
          <p:nvPr/>
        </p:nvSpPr>
        <p:spPr>
          <a:xfrm>
            <a:off x="11072731" y="1700784"/>
            <a:ext cx="274320" cy="274320"/>
          </a:xfrm>
          <a:prstGeom prst="ellipse">
            <a:avLst/>
          </a:prstGeom>
          <a:solidFill>
            <a:srgbClr val="0B1930"/>
          </a:solidFill>
          <a:ln w="19050">
            <a:solidFill>
              <a:srgbClr val="FFFFFF"/>
            </a:solidFill>
            <a:prstDash val="solid"/>
          </a:ln>
        </p:spPr>
      </p:sp>
      <p:sp>
        <p:nvSpPr>
          <p:cNvPr id="49" name="Text 39"/>
          <p:cNvSpPr txBox="1"/>
          <p:nvPr/>
        </p:nvSpPr>
        <p:spPr>
          <a:xfrm>
            <a:off x="11072731" y="1700784"/>
            <a:ext cx="2743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7</a:t>
            </a:r>
            <a:endParaRPr lang="en-US" sz="850" dirty="0"/>
          </a:p>
        </p:txBody>
      </p:sp>
      <p:sp>
        <p:nvSpPr>
          <p:cNvPr id="50" name="Text 40"/>
          <p:cNvSpPr txBox="1"/>
          <p:nvPr/>
        </p:nvSpPr>
        <p:spPr>
          <a:xfrm>
            <a:off x="10194254" y="2606040"/>
            <a:ext cx="1464346" cy="548640"/>
          </a:xfrm>
          <a:prstGeom prst="rect">
            <a:avLst/>
          </a:prstGeom>
          <a:noFill/>
          <a:ln/>
        </p:spPr>
        <p:txBody>
          <a:bodyPr wrap="square" lIns="0" tIns="0" rIns="0" bIns="0" rtlCol="0" anchor="ctr"/>
          <a:lstStyle/>
          <a:p>
            <a:pPr algn="ctr" indent="0" marL="0">
              <a:buNone/>
            </a:pPr>
            <a:r>
              <a:rPr lang="en-US" sz="950" b="1" dirty="0">
                <a:solidFill>
                  <a:srgbClr val="0B1930"/>
                </a:solidFill>
                <a:latin typeface="Poppins" pitchFamily="34" charset="0"/>
                <a:ea typeface="Poppins" pitchFamily="34" charset="-122"/>
                <a:cs typeface="Poppins" pitchFamily="34" charset="-120"/>
              </a:rPr>
              <a:t>Buy Plan</a:t>
            </a:r>
            <a:endParaRPr lang="en-US" sz="950" dirty="0"/>
          </a:p>
        </p:txBody>
      </p:sp>
      <p:pic>
        <p:nvPicPr>
          <p:cNvPr id="51" name="Image 8" descr="preencoded.png">    </p:cNvPr>
          <p:cNvPicPr>
            <a:picLocks noChangeAspect="1"/>
          </p:cNvPicPr>
          <p:nvPr/>
        </p:nvPicPr>
        <p:blipFill>
          <a:blip r:embed="rId10"/>
          <a:stretch>
            <a:fillRect/>
          </a:stretch>
        </p:blipFill>
        <p:spPr>
          <a:xfrm>
            <a:off x="457200" y="3611880"/>
            <a:ext cx="3931920" cy="2679192"/>
          </a:xfrm>
          <a:prstGeom prst="rect">
            <a:avLst/>
          </a:prstGeom>
        </p:spPr>
      </p:pic>
      <p:sp>
        <p:nvSpPr>
          <p:cNvPr id="52" name="Text 41"/>
          <p:cNvSpPr txBox="1"/>
          <p:nvPr/>
        </p:nvSpPr>
        <p:spPr>
          <a:xfrm>
            <a:off x="457200" y="3840480"/>
            <a:ext cx="393192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1 CREDIT = 1 BID</a:t>
            </a:r>
            <a:endParaRPr lang="en-US" sz="1900" dirty="0"/>
          </a:p>
        </p:txBody>
      </p:sp>
      <p:sp>
        <p:nvSpPr>
          <p:cNvPr id="53" name="Shape 42"/>
          <p:cNvSpPr/>
          <p:nvPr/>
        </p:nvSpPr>
        <p:spPr>
          <a:xfrm>
            <a:off x="1097280" y="4507992"/>
            <a:ext cx="822960" cy="82296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54" name="Image 9" descr="preencoded.png">    </p:cNvPr>
          <p:cNvPicPr>
            <a:picLocks noChangeAspect="1"/>
          </p:cNvPicPr>
          <p:nvPr/>
        </p:nvPicPr>
        <p:blipFill>
          <a:blip r:embed="rId11"/>
          <a:stretch>
            <a:fillRect/>
          </a:stretch>
        </p:blipFill>
        <p:spPr>
          <a:xfrm>
            <a:off x="1303020" y="4713732"/>
            <a:ext cx="411480" cy="411480"/>
          </a:xfrm>
          <a:prstGeom prst="rect">
            <a:avLst/>
          </a:prstGeom>
        </p:spPr>
      </p:pic>
      <p:sp>
        <p:nvSpPr>
          <p:cNvPr id="55" name="Text 43"/>
          <p:cNvSpPr txBox="1"/>
          <p:nvPr/>
        </p:nvSpPr>
        <p:spPr>
          <a:xfrm>
            <a:off x="1965960" y="4507992"/>
            <a:ext cx="91440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Poppins" pitchFamily="34" charset="0"/>
                <a:ea typeface="Poppins" pitchFamily="34" charset="-122"/>
                <a:cs typeface="Poppins" pitchFamily="34" charset="-120"/>
              </a:rPr>
              <a:t>=</a:t>
            </a:r>
            <a:endParaRPr lang="en-US" sz="3200" dirty="0"/>
          </a:p>
        </p:txBody>
      </p:sp>
      <p:sp>
        <p:nvSpPr>
          <p:cNvPr id="56" name="Shape 44"/>
          <p:cNvSpPr/>
          <p:nvPr/>
        </p:nvSpPr>
        <p:spPr>
          <a:xfrm>
            <a:off x="2926080" y="4507992"/>
            <a:ext cx="822960" cy="82296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57" name="Image 10" descr="preencoded.png">    </p:cNvPr>
          <p:cNvPicPr>
            <a:picLocks noChangeAspect="1"/>
          </p:cNvPicPr>
          <p:nvPr/>
        </p:nvPicPr>
        <p:blipFill>
          <a:blip r:embed="rId12"/>
          <a:stretch>
            <a:fillRect/>
          </a:stretch>
        </p:blipFill>
        <p:spPr>
          <a:xfrm>
            <a:off x="3131820" y="4713732"/>
            <a:ext cx="411480" cy="411480"/>
          </a:xfrm>
          <a:prstGeom prst="rect">
            <a:avLst/>
          </a:prstGeom>
        </p:spPr>
      </p:pic>
      <p:sp>
        <p:nvSpPr>
          <p:cNvPr id="58" name="Text 45"/>
          <p:cNvSpPr txBox="1"/>
          <p:nvPr/>
        </p:nvSpPr>
        <p:spPr>
          <a:xfrm>
            <a:off x="731520" y="5486400"/>
            <a:ext cx="3383280" cy="548640"/>
          </a:xfrm>
          <a:prstGeom prst="rect">
            <a:avLst/>
          </a:prstGeom>
          <a:noFill/>
          <a:ln/>
        </p:spPr>
        <p:txBody>
          <a:bodyPr wrap="square" lIns="0" tIns="0" rIns="0" bIns="0" rtlCol="0" anchor="ctr"/>
          <a:lstStyle/>
          <a:p>
            <a:pPr algn="ctr" indent="0" marL="0">
              <a:buNone/>
            </a:pPr>
            <a:r>
              <a:rPr lang="en-US" sz="1050" dirty="0">
                <a:solidFill>
                  <a:srgbClr val="E2E8F0"/>
                </a:solidFill>
                <a:latin typeface="Poppins" pitchFamily="34" charset="0"/>
                <a:ea typeface="Poppins" pitchFamily="34" charset="-122"/>
                <a:cs typeface="Poppins" pitchFamily="34" charset="-120"/>
              </a:rPr>
              <a:t>One credit is spent when one bid is created.</a:t>
            </a:r>
            <a:endParaRPr lang="en-US" sz="1050" dirty="0"/>
          </a:p>
        </p:txBody>
      </p:sp>
      <p:sp>
        <p:nvSpPr>
          <p:cNvPr id="59" name="Shape 46"/>
          <p:cNvSpPr/>
          <p:nvPr/>
        </p:nvSpPr>
        <p:spPr>
          <a:xfrm>
            <a:off x="4663440" y="3611880"/>
            <a:ext cx="3401568" cy="2679192"/>
          </a:xfrm>
          <a:prstGeom prst="roundRect">
            <a:avLst>
              <a:gd name="adj" fmla="val 4778"/>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60" name="Shape 47"/>
          <p:cNvSpPr/>
          <p:nvPr/>
        </p:nvSpPr>
        <p:spPr>
          <a:xfrm>
            <a:off x="4892040" y="3794760"/>
            <a:ext cx="457200" cy="45720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61" name="Image 11" descr="preencoded.png">    </p:cNvPr>
          <p:cNvPicPr>
            <a:picLocks noChangeAspect="1"/>
          </p:cNvPicPr>
          <p:nvPr/>
        </p:nvPicPr>
        <p:blipFill>
          <a:blip r:embed="rId13"/>
          <a:stretch>
            <a:fillRect/>
          </a:stretch>
        </p:blipFill>
        <p:spPr>
          <a:xfrm>
            <a:off x="5006340" y="3909060"/>
            <a:ext cx="228600" cy="228600"/>
          </a:xfrm>
          <a:prstGeom prst="rect">
            <a:avLst/>
          </a:prstGeom>
        </p:spPr>
      </p:pic>
      <p:sp>
        <p:nvSpPr>
          <p:cNvPr id="62" name="Text 48"/>
          <p:cNvSpPr txBox="1"/>
          <p:nvPr/>
        </p:nvSpPr>
        <p:spPr>
          <a:xfrm>
            <a:off x="5486400" y="3794760"/>
            <a:ext cx="2377440" cy="457200"/>
          </a:xfrm>
          <a:prstGeom prst="rect">
            <a:avLst/>
          </a:prstGeom>
          <a:noFill/>
          <a:ln/>
        </p:spPr>
        <p:txBody>
          <a:bodyPr wrap="square" lIns="0" tIns="0" rIns="0" bIns="0" rtlCol="0" anchor="ctr"/>
          <a:lstStyle/>
          <a:p>
            <a:pPr indent="0" marL="0">
              <a:buNone/>
            </a:pPr>
            <a:r>
              <a:rPr lang="en-US" sz="1250" b="1" dirty="0">
                <a:solidFill>
                  <a:srgbClr val="0B1930"/>
                </a:solidFill>
                <a:latin typeface="Poppins" pitchFamily="34" charset="0"/>
                <a:ea typeface="Poppins" pitchFamily="34" charset="-122"/>
                <a:cs typeface="Poppins" pitchFamily="34" charset="-120"/>
              </a:rPr>
              <a:t>TRACK BIDS</a:t>
            </a:r>
            <a:endParaRPr lang="en-US" sz="1250" dirty="0"/>
          </a:p>
        </p:txBody>
      </p:sp>
      <p:sp>
        <p:nvSpPr>
          <p:cNvPr id="63" name="Text 49"/>
          <p:cNvSpPr txBox="1"/>
          <p:nvPr/>
        </p:nvSpPr>
        <p:spPr>
          <a:xfrm>
            <a:off x="4892040" y="4343400"/>
            <a:ext cx="2944368" cy="365760"/>
          </a:xfrm>
          <a:prstGeom prst="rect">
            <a:avLst/>
          </a:prstGeom>
          <a:noFill/>
          <a:ln/>
        </p:spPr>
        <p:txBody>
          <a:bodyPr wrap="square" lIns="0" tIns="0" rIns="0" bIns="0" rtlCol="0" anchor="t"/>
          <a:lstStyle/>
          <a:p>
            <a:pPr indent="0" marL="0">
              <a:buNone/>
            </a:pPr>
            <a:r>
              <a:rPr lang="en-US" sz="900" dirty="0">
                <a:solidFill>
                  <a:srgbClr val="64748B"/>
                </a:solidFill>
                <a:latin typeface="Poppins" pitchFamily="34" charset="0"/>
                <a:ea typeface="Poppins" pitchFamily="34" charset="-122"/>
                <a:cs typeface="Poppins" pitchFamily="34" charset="-120"/>
              </a:rPr>
              <a:t>Freelancers can see submitted bids and status.</a:t>
            </a:r>
            <a:endParaRPr lang="en-US" sz="900" dirty="0"/>
          </a:p>
        </p:txBody>
      </p:sp>
      <p:sp>
        <p:nvSpPr>
          <p:cNvPr id="64" name="Shape 50"/>
          <p:cNvSpPr/>
          <p:nvPr/>
        </p:nvSpPr>
        <p:spPr>
          <a:xfrm>
            <a:off x="4892040" y="4727448"/>
            <a:ext cx="2944368" cy="365760"/>
          </a:xfrm>
          <a:prstGeom prst="roundRect">
            <a:avLst>
              <a:gd name="adj" fmla="val 20000"/>
            </a:avLst>
          </a:prstGeom>
          <a:solidFill>
            <a:srgbClr val="F3F6FA"/>
          </a:solidFill>
          <a:ln w="9525">
            <a:solidFill>
              <a:srgbClr val="E3E9F1"/>
            </a:solidFill>
            <a:prstDash val="solid"/>
          </a:ln>
        </p:spPr>
      </p:sp>
      <p:sp>
        <p:nvSpPr>
          <p:cNvPr id="65" name="Text 51"/>
          <p:cNvSpPr txBox="1"/>
          <p:nvPr/>
        </p:nvSpPr>
        <p:spPr>
          <a:xfrm>
            <a:off x="5029200" y="4727448"/>
            <a:ext cx="1097280" cy="365760"/>
          </a:xfrm>
          <a:prstGeom prst="rect">
            <a:avLst/>
          </a:prstGeom>
          <a:noFill/>
          <a:ln/>
        </p:spPr>
        <p:txBody>
          <a:bodyPr wrap="square" lIns="0" tIns="0" rIns="0" bIns="0" rtlCol="0" anchor="ctr"/>
          <a:lstStyle/>
          <a:p>
            <a:pPr indent="0" marL="0">
              <a:buNone/>
            </a:pPr>
            <a:r>
              <a:rPr lang="en-US" sz="900" b="1" dirty="0">
                <a:solidFill>
                  <a:srgbClr val="0B1930"/>
                </a:solidFill>
                <a:latin typeface="Poppins" pitchFamily="34" charset="0"/>
                <a:ea typeface="Poppins" pitchFamily="34" charset="-122"/>
                <a:cs typeface="Poppins" pitchFamily="34" charset="-120"/>
              </a:rPr>
              <a:t>Bid 1</a:t>
            </a:r>
            <a:endParaRPr lang="en-US" sz="900" dirty="0"/>
          </a:p>
        </p:txBody>
      </p:sp>
      <p:sp>
        <p:nvSpPr>
          <p:cNvPr id="66" name="Text 52"/>
          <p:cNvSpPr txBox="1"/>
          <p:nvPr/>
        </p:nvSpPr>
        <p:spPr>
          <a:xfrm>
            <a:off x="6601968" y="4791456"/>
            <a:ext cx="1097280" cy="237744"/>
          </a:xfrm>
          <a:prstGeom prst="roundRect">
            <a:avLst>
              <a:gd name="adj" fmla="val 50000"/>
            </a:avLst>
          </a:prstGeom>
          <a:solidFill>
            <a:srgbClr val="FEF0DF"/>
          </a:solidFill>
          <a:ln/>
        </p:spPr>
        <p:txBody>
          <a:bodyPr wrap="square" lIns="0" tIns="0" rIns="0" bIns="0" rtlCol="0" anchor="ctr"/>
          <a:lstStyle/>
          <a:p>
            <a:pPr algn="ctr" indent="0" marL="0">
              <a:buNone/>
            </a:pPr>
            <a:r>
              <a:rPr lang="en-US" sz="800" b="1" dirty="0">
                <a:solidFill>
                  <a:srgbClr val="B45F0B"/>
                </a:solidFill>
                <a:latin typeface="Poppins" pitchFamily="34" charset="0"/>
                <a:ea typeface="Poppins" pitchFamily="34" charset="-122"/>
                <a:cs typeface="Poppins" pitchFamily="34" charset="-120"/>
              </a:rPr>
              <a:t>Pending</a:t>
            </a:r>
            <a:endParaRPr lang="en-US" sz="800" dirty="0"/>
          </a:p>
        </p:txBody>
      </p:sp>
      <p:sp>
        <p:nvSpPr>
          <p:cNvPr id="67" name="Shape 53"/>
          <p:cNvSpPr/>
          <p:nvPr/>
        </p:nvSpPr>
        <p:spPr>
          <a:xfrm>
            <a:off x="4892040" y="5157216"/>
            <a:ext cx="2944368" cy="365760"/>
          </a:xfrm>
          <a:prstGeom prst="roundRect">
            <a:avLst>
              <a:gd name="adj" fmla="val 20000"/>
            </a:avLst>
          </a:prstGeom>
          <a:solidFill>
            <a:srgbClr val="F3F6FA"/>
          </a:solidFill>
          <a:ln w="9525">
            <a:solidFill>
              <a:srgbClr val="E3E9F1"/>
            </a:solidFill>
            <a:prstDash val="solid"/>
          </a:ln>
        </p:spPr>
      </p:sp>
      <p:sp>
        <p:nvSpPr>
          <p:cNvPr id="68" name="Text 54"/>
          <p:cNvSpPr txBox="1"/>
          <p:nvPr/>
        </p:nvSpPr>
        <p:spPr>
          <a:xfrm>
            <a:off x="5029200" y="5157216"/>
            <a:ext cx="1097280" cy="365760"/>
          </a:xfrm>
          <a:prstGeom prst="rect">
            <a:avLst/>
          </a:prstGeom>
          <a:noFill/>
          <a:ln/>
        </p:spPr>
        <p:txBody>
          <a:bodyPr wrap="square" lIns="0" tIns="0" rIns="0" bIns="0" rtlCol="0" anchor="ctr"/>
          <a:lstStyle/>
          <a:p>
            <a:pPr indent="0" marL="0">
              <a:buNone/>
            </a:pPr>
            <a:r>
              <a:rPr lang="en-US" sz="900" b="1" dirty="0">
                <a:solidFill>
                  <a:srgbClr val="0B1930"/>
                </a:solidFill>
                <a:latin typeface="Poppins" pitchFamily="34" charset="0"/>
                <a:ea typeface="Poppins" pitchFamily="34" charset="-122"/>
                <a:cs typeface="Poppins" pitchFamily="34" charset="-120"/>
              </a:rPr>
              <a:t>Bid 2</a:t>
            </a:r>
            <a:endParaRPr lang="en-US" sz="900" dirty="0"/>
          </a:p>
        </p:txBody>
      </p:sp>
      <p:sp>
        <p:nvSpPr>
          <p:cNvPr id="69" name="Text 55"/>
          <p:cNvSpPr txBox="1"/>
          <p:nvPr/>
        </p:nvSpPr>
        <p:spPr>
          <a:xfrm>
            <a:off x="6601968" y="5221224"/>
            <a:ext cx="1097280" cy="237744"/>
          </a:xfrm>
          <a:prstGeom prst="roundRect">
            <a:avLst>
              <a:gd name="adj" fmla="val 50000"/>
            </a:avLst>
          </a:prstGeom>
          <a:solidFill>
            <a:srgbClr val="DFF5F3"/>
          </a:solidFill>
          <a:ln/>
        </p:spPr>
        <p:txBody>
          <a:bodyPr wrap="square" lIns="0" tIns="0" rIns="0" bIns="0" rtlCol="0" anchor="ctr"/>
          <a:lstStyle/>
          <a:p>
            <a:pPr algn="ctr" indent="0" marL="0">
              <a:buNone/>
            </a:pPr>
            <a:r>
              <a:rPr lang="en-US" sz="800" b="1" dirty="0">
                <a:solidFill>
                  <a:srgbClr val="0B7F77"/>
                </a:solidFill>
                <a:latin typeface="Poppins" pitchFamily="34" charset="0"/>
                <a:ea typeface="Poppins" pitchFamily="34" charset="-122"/>
                <a:cs typeface="Poppins" pitchFamily="34" charset="-120"/>
              </a:rPr>
              <a:t>Accepted</a:t>
            </a:r>
            <a:endParaRPr lang="en-US" sz="800" dirty="0"/>
          </a:p>
        </p:txBody>
      </p:sp>
      <p:sp>
        <p:nvSpPr>
          <p:cNvPr id="70" name="Shape 56"/>
          <p:cNvSpPr/>
          <p:nvPr/>
        </p:nvSpPr>
        <p:spPr>
          <a:xfrm>
            <a:off x="4892040" y="5586984"/>
            <a:ext cx="2944368" cy="365760"/>
          </a:xfrm>
          <a:prstGeom prst="roundRect">
            <a:avLst>
              <a:gd name="adj" fmla="val 20000"/>
            </a:avLst>
          </a:prstGeom>
          <a:solidFill>
            <a:srgbClr val="F3F6FA"/>
          </a:solidFill>
          <a:ln w="9525">
            <a:solidFill>
              <a:srgbClr val="E3E9F1"/>
            </a:solidFill>
            <a:prstDash val="solid"/>
          </a:ln>
        </p:spPr>
      </p:sp>
      <p:sp>
        <p:nvSpPr>
          <p:cNvPr id="71" name="Text 57"/>
          <p:cNvSpPr txBox="1"/>
          <p:nvPr/>
        </p:nvSpPr>
        <p:spPr>
          <a:xfrm>
            <a:off x="5029200" y="5586984"/>
            <a:ext cx="1097280" cy="365760"/>
          </a:xfrm>
          <a:prstGeom prst="rect">
            <a:avLst/>
          </a:prstGeom>
          <a:noFill/>
          <a:ln/>
        </p:spPr>
        <p:txBody>
          <a:bodyPr wrap="square" lIns="0" tIns="0" rIns="0" bIns="0" rtlCol="0" anchor="ctr"/>
          <a:lstStyle/>
          <a:p>
            <a:pPr indent="0" marL="0">
              <a:buNone/>
            </a:pPr>
            <a:r>
              <a:rPr lang="en-US" sz="900" b="1" dirty="0">
                <a:solidFill>
                  <a:srgbClr val="0B1930"/>
                </a:solidFill>
                <a:latin typeface="Poppins" pitchFamily="34" charset="0"/>
                <a:ea typeface="Poppins" pitchFamily="34" charset="-122"/>
                <a:cs typeface="Poppins" pitchFamily="34" charset="-120"/>
              </a:rPr>
              <a:t>Bid 3</a:t>
            </a:r>
            <a:endParaRPr lang="en-US" sz="900" dirty="0"/>
          </a:p>
        </p:txBody>
      </p:sp>
      <p:sp>
        <p:nvSpPr>
          <p:cNvPr id="72" name="Text 58"/>
          <p:cNvSpPr txBox="1"/>
          <p:nvPr/>
        </p:nvSpPr>
        <p:spPr>
          <a:xfrm>
            <a:off x="6601968" y="5650992"/>
            <a:ext cx="1097280" cy="237744"/>
          </a:xfrm>
          <a:prstGeom prst="roundRect">
            <a:avLst>
              <a:gd name="adj" fmla="val 50000"/>
            </a:avLst>
          </a:prstGeom>
          <a:solidFill>
            <a:srgbClr val="FDEAEA"/>
          </a:solidFill>
          <a:ln/>
        </p:spPr>
        <p:txBody>
          <a:bodyPr wrap="square" lIns="0" tIns="0" rIns="0" bIns="0" rtlCol="0" anchor="ctr"/>
          <a:lstStyle/>
          <a:p>
            <a:pPr algn="ctr" indent="0" marL="0">
              <a:buNone/>
            </a:pPr>
            <a:r>
              <a:rPr lang="en-US" sz="800" b="1" dirty="0">
                <a:solidFill>
                  <a:srgbClr val="C2403E"/>
                </a:solidFill>
                <a:latin typeface="Poppins" pitchFamily="34" charset="0"/>
                <a:ea typeface="Poppins" pitchFamily="34" charset="-122"/>
                <a:cs typeface="Poppins" pitchFamily="34" charset="-120"/>
              </a:rPr>
              <a:t>Rejected</a:t>
            </a:r>
            <a:endParaRPr lang="en-US" sz="800" dirty="0"/>
          </a:p>
        </p:txBody>
      </p:sp>
      <p:sp>
        <p:nvSpPr>
          <p:cNvPr id="73" name="Text 59"/>
          <p:cNvSpPr txBox="1"/>
          <p:nvPr/>
        </p:nvSpPr>
        <p:spPr>
          <a:xfrm>
            <a:off x="4892040" y="6007608"/>
            <a:ext cx="2944368" cy="182880"/>
          </a:xfrm>
          <a:prstGeom prst="rect">
            <a:avLst/>
          </a:prstGeom>
          <a:noFill/>
          <a:ln/>
        </p:spPr>
        <p:txBody>
          <a:bodyPr wrap="square" lIns="0" tIns="0" rIns="0" bIns="0" rtlCol="0" anchor="t"/>
          <a:lstStyle/>
          <a:p>
            <a:pPr indent="0" marL="0">
              <a:buNone/>
            </a:pPr>
            <a:r>
              <a:rPr lang="en-US" sz="700" i="1" dirty="0">
                <a:solidFill>
                  <a:srgbClr val="64748B"/>
                </a:solidFill>
                <a:latin typeface="Poppins" pitchFamily="34" charset="0"/>
                <a:ea typeface="Poppins" pitchFamily="34" charset="-122"/>
                <a:cs typeface="Poppins" pitchFamily="34" charset="-120"/>
              </a:rPr>
              <a:t>Example status labels</a:t>
            </a:r>
            <a:endParaRPr lang="en-US" sz="700" dirty="0"/>
          </a:p>
        </p:txBody>
      </p:sp>
      <p:sp>
        <p:nvSpPr>
          <p:cNvPr id="74" name="Shape 60"/>
          <p:cNvSpPr/>
          <p:nvPr/>
        </p:nvSpPr>
        <p:spPr>
          <a:xfrm>
            <a:off x="8339328" y="3611880"/>
            <a:ext cx="3392424" cy="2679192"/>
          </a:xfrm>
          <a:prstGeom prst="roundRect">
            <a:avLst>
              <a:gd name="adj" fmla="val 4778"/>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75" name="Shape 61"/>
          <p:cNvSpPr/>
          <p:nvPr/>
        </p:nvSpPr>
        <p:spPr>
          <a:xfrm>
            <a:off x="8567928" y="3794760"/>
            <a:ext cx="457200" cy="45720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76" name="Image 12" descr="preencoded.png">    </p:cNvPr>
          <p:cNvPicPr>
            <a:picLocks noChangeAspect="1"/>
          </p:cNvPicPr>
          <p:nvPr/>
        </p:nvPicPr>
        <p:blipFill>
          <a:blip r:embed="rId14"/>
          <a:stretch>
            <a:fillRect/>
          </a:stretch>
        </p:blipFill>
        <p:spPr>
          <a:xfrm>
            <a:off x="8682228" y="3909060"/>
            <a:ext cx="228600" cy="228600"/>
          </a:xfrm>
          <a:prstGeom prst="rect">
            <a:avLst/>
          </a:prstGeom>
        </p:spPr>
      </p:pic>
      <p:sp>
        <p:nvSpPr>
          <p:cNvPr id="77" name="Text 62"/>
          <p:cNvSpPr txBox="1"/>
          <p:nvPr/>
        </p:nvSpPr>
        <p:spPr>
          <a:xfrm>
            <a:off x="9162288" y="3794760"/>
            <a:ext cx="2377440" cy="457200"/>
          </a:xfrm>
          <a:prstGeom prst="rect">
            <a:avLst/>
          </a:prstGeom>
          <a:noFill/>
          <a:ln/>
        </p:spPr>
        <p:txBody>
          <a:bodyPr wrap="square" lIns="0" tIns="0" rIns="0" bIns="0" rtlCol="0" anchor="ctr"/>
          <a:lstStyle/>
          <a:p>
            <a:pPr indent="0" marL="0">
              <a:buNone/>
            </a:pPr>
            <a:r>
              <a:rPr lang="en-US" sz="1250" b="1" dirty="0">
                <a:solidFill>
                  <a:srgbClr val="0B1930"/>
                </a:solidFill>
                <a:latin typeface="Poppins" pitchFamily="34" charset="0"/>
                <a:ea typeface="Poppins" pitchFamily="34" charset="-122"/>
                <a:cs typeface="Poppins" pitchFamily="34" charset="-120"/>
              </a:rPr>
              <a:t>BUY PLAN</a:t>
            </a:r>
            <a:endParaRPr lang="en-US" sz="1250" dirty="0"/>
          </a:p>
        </p:txBody>
      </p:sp>
      <p:sp>
        <p:nvSpPr>
          <p:cNvPr id="78" name="Text 63"/>
          <p:cNvSpPr txBox="1"/>
          <p:nvPr/>
        </p:nvSpPr>
        <p:spPr>
          <a:xfrm>
            <a:off x="8567928" y="4389120"/>
            <a:ext cx="2935224" cy="411480"/>
          </a:xfrm>
          <a:prstGeom prst="rect">
            <a:avLst/>
          </a:prstGeom>
          <a:noFill/>
          <a:ln/>
        </p:spPr>
        <p:txBody>
          <a:bodyPr wrap="square" lIns="0" tIns="0" rIns="0" bIns="0" rtlCol="0" anchor="t"/>
          <a:lstStyle/>
          <a:p>
            <a:pPr indent="0" marL="0">
              <a:buNone/>
            </a:pPr>
            <a:r>
              <a:rPr lang="en-US" sz="900" dirty="0">
                <a:solidFill>
                  <a:srgbClr val="64748B"/>
                </a:solidFill>
                <a:latin typeface="Poppins" pitchFamily="34" charset="0"/>
                <a:ea typeface="Poppins" pitchFamily="34" charset="-122"/>
                <a:cs typeface="Poppins" pitchFamily="34" charset="-120"/>
              </a:rPr>
              <a:t>Plans can provide additional credits.</a:t>
            </a:r>
            <a:endParaRPr lang="en-US" sz="900" dirty="0"/>
          </a:p>
        </p:txBody>
      </p:sp>
      <p:sp>
        <p:nvSpPr>
          <p:cNvPr id="79" name="Shape 64"/>
          <p:cNvSpPr/>
          <p:nvPr/>
        </p:nvSpPr>
        <p:spPr>
          <a:xfrm>
            <a:off x="8567928" y="4910328"/>
            <a:ext cx="2935224" cy="1188720"/>
          </a:xfrm>
          <a:prstGeom prst="roundRect">
            <a:avLst>
              <a:gd name="adj" fmla="val 9231"/>
            </a:avLst>
          </a:prstGeom>
          <a:solidFill>
            <a:srgbClr val="DFF5F3"/>
          </a:solidFill>
          <a:ln w="9525">
            <a:solidFill>
              <a:srgbClr val="BFE9E5"/>
            </a:solidFill>
            <a:prstDash val="solid"/>
          </a:ln>
        </p:spPr>
      </p:sp>
      <p:pic>
        <p:nvPicPr>
          <p:cNvPr id="80" name="Image 13" descr="preencoded.png">    </p:cNvPr>
          <p:cNvPicPr>
            <a:picLocks noChangeAspect="1"/>
          </p:cNvPicPr>
          <p:nvPr/>
        </p:nvPicPr>
        <p:blipFill>
          <a:blip r:embed="rId15"/>
          <a:stretch>
            <a:fillRect/>
          </a:stretch>
        </p:blipFill>
        <p:spPr>
          <a:xfrm>
            <a:off x="8723376" y="5056632"/>
            <a:ext cx="329184" cy="329184"/>
          </a:xfrm>
          <a:prstGeom prst="rect">
            <a:avLst/>
          </a:prstGeom>
        </p:spPr>
      </p:pic>
      <p:sp>
        <p:nvSpPr>
          <p:cNvPr id="81" name="Text 65"/>
          <p:cNvSpPr txBox="1"/>
          <p:nvPr/>
        </p:nvSpPr>
        <p:spPr>
          <a:xfrm>
            <a:off x="9162288" y="5029200"/>
            <a:ext cx="1645920" cy="365760"/>
          </a:xfrm>
          <a:prstGeom prst="rect">
            <a:avLst/>
          </a:prstGeom>
          <a:noFill/>
          <a:ln/>
        </p:spPr>
        <p:txBody>
          <a:bodyPr wrap="square" lIns="0" tIns="0" rIns="0" bIns="0" rtlCol="0" anchor="ctr"/>
          <a:lstStyle/>
          <a:p>
            <a:pPr indent="0" marL="0">
              <a:buNone/>
            </a:pPr>
            <a:r>
              <a:rPr lang="en-US" sz="1050" b="1" dirty="0">
                <a:solidFill>
                  <a:srgbClr val="0B1930"/>
                </a:solidFill>
                <a:latin typeface="Poppins" pitchFamily="34" charset="0"/>
                <a:ea typeface="Poppins" pitchFamily="34" charset="-122"/>
                <a:cs typeface="Poppins" pitchFamily="34" charset="-120"/>
              </a:rPr>
              <a:t>Credit Plan</a:t>
            </a:r>
            <a:endParaRPr lang="en-US" sz="1050" dirty="0"/>
          </a:p>
        </p:txBody>
      </p:sp>
      <p:sp>
        <p:nvSpPr>
          <p:cNvPr id="82" name="Text 66"/>
          <p:cNvSpPr txBox="1"/>
          <p:nvPr/>
        </p:nvSpPr>
        <p:spPr>
          <a:xfrm>
            <a:off x="8723376" y="5440680"/>
            <a:ext cx="2615184" cy="228600"/>
          </a:xfrm>
          <a:prstGeom prst="rect">
            <a:avLst/>
          </a:prstGeom>
          <a:noFill/>
          <a:ln/>
        </p:spPr>
        <p:txBody>
          <a:bodyPr wrap="square" lIns="0" tIns="0" rIns="0" bIns="0" rtlCol="0" anchor="t"/>
          <a:lstStyle/>
          <a:p>
            <a:pPr indent="0" marL="0">
              <a:buNone/>
            </a:pPr>
            <a:r>
              <a:rPr lang="en-US" sz="850" b="1" dirty="0">
                <a:solidFill>
                  <a:srgbClr val="0B7F77"/>
                </a:solidFill>
                <a:latin typeface="Poppins" pitchFamily="34" charset="0"/>
                <a:ea typeface="Poppins" pitchFamily="34" charset="-122"/>
                <a:cs typeface="Poppins" pitchFamily="34" charset="-120"/>
              </a:rPr>
              <a:t>+ Bidding credits</a:t>
            </a:r>
            <a:endParaRPr lang="en-US" sz="850" dirty="0"/>
          </a:p>
        </p:txBody>
      </p:sp>
      <p:sp>
        <p:nvSpPr>
          <p:cNvPr id="83" name="Text 67"/>
          <p:cNvSpPr txBox="1"/>
          <p:nvPr/>
        </p:nvSpPr>
        <p:spPr>
          <a:xfrm>
            <a:off x="8723376" y="5733288"/>
            <a:ext cx="2615184" cy="274320"/>
          </a:xfrm>
          <a:prstGeom prst="roundRect">
            <a:avLst>
              <a:gd name="adj" fmla="val 50000"/>
            </a:avLst>
          </a:prstGeom>
          <a:solidFill>
            <a:srgbClr val="12AEA4"/>
          </a:solid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Buy Plan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ADMIN PANEL</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10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10</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Admin Dashboard &amp; Management</a:t>
            </a:r>
            <a:endParaRPr lang="en-US" sz="3000" dirty="0"/>
          </a:p>
        </p:txBody>
      </p:sp>
      <p:sp>
        <p:nvSpPr>
          <p:cNvPr id="9" name="Shape 6"/>
          <p:cNvSpPr/>
          <p:nvPr/>
        </p:nvSpPr>
        <p:spPr>
          <a:xfrm>
            <a:off x="457200" y="1554480"/>
            <a:ext cx="11274552" cy="4754880"/>
          </a:xfrm>
          <a:prstGeom prst="roundRect">
            <a:avLst>
              <a:gd name="adj" fmla="val 3462"/>
            </a:avLst>
          </a:prstGeom>
          <a:solidFill>
            <a:srgbClr val="F6F8FB"/>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Shape 7"/>
          <p:cNvSpPr/>
          <p:nvPr/>
        </p:nvSpPr>
        <p:spPr>
          <a:xfrm>
            <a:off x="457200" y="1554480"/>
            <a:ext cx="1920240" cy="4754880"/>
          </a:xfrm>
          <a:prstGeom prst="roundRect">
            <a:avLst>
              <a:gd name="adj" fmla="val 8571"/>
            </a:avLst>
          </a:prstGeom>
          <a:solidFill>
            <a:srgbClr val="0B1930"/>
          </a:solidFill>
          <a:ln/>
        </p:spPr>
      </p:sp>
      <p:sp>
        <p:nvSpPr>
          <p:cNvPr id="11" name="Shape 8"/>
          <p:cNvSpPr/>
          <p:nvPr/>
        </p:nvSpPr>
        <p:spPr>
          <a:xfrm>
            <a:off x="2194560" y="1554480"/>
            <a:ext cx="182880" cy="4754880"/>
          </a:xfrm>
          <a:prstGeom prst="rect">
            <a:avLst/>
          </a:prstGeom>
          <a:solidFill>
            <a:srgbClr val="0B1930"/>
          </a:solidFill>
          <a:ln/>
        </p:spPr>
      </p:sp>
      <p:pic>
        <p:nvPicPr>
          <p:cNvPr id="12" name="Image 1" descr="preencoded.png">    </p:cNvPr>
          <p:cNvPicPr>
            <a:picLocks noChangeAspect="1"/>
          </p:cNvPicPr>
          <p:nvPr/>
        </p:nvPicPr>
        <p:blipFill>
          <a:blip r:embed="rId3"/>
          <a:stretch>
            <a:fillRect/>
          </a:stretch>
        </p:blipFill>
        <p:spPr>
          <a:xfrm>
            <a:off x="658368" y="1737360"/>
            <a:ext cx="329184" cy="329184"/>
          </a:xfrm>
          <a:prstGeom prst="rect">
            <a:avLst/>
          </a:prstGeom>
        </p:spPr>
      </p:pic>
      <p:sp>
        <p:nvSpPr>
          <p:cNvPr id="13" name="Text 9"/>
          <p:cNvSpPr txBox="1"/>
          <p:nvPr/>
        </p:nvSpPr>
        <p:spPr>
          <a:xfrm>
            <a:off x="1078992" y="1737360"/>
            <a:ext cx="1188720" cy="329184"/>
          </a:xfrm>
          <a:prstGeom prst="rect">
            <a:avLst/>
          </a:prstGeom>
          <a:noFill/>
          <a:ln/>
        </p:spPr>
        <p:txBody>
          <a:bodyPr wrap="square" lIns="0" tIns="0" rIns="0" bIns="0" rtlCol="0" anchor="ctr"/>
          <a:lstStyle/>
          <a:p>
            <a:pPr indent="0" marL="0">
              <a:buNone/>
            </a:pPr>
            <a:r>
              <a:rPr lang="en-US" sz="1050" b="1" spc="300" kern="0" dirty="0">
                <a:solidFill>
                  <a:srgbClr val="FFFFFF"/>
                </a:solidFill>
                <a:latin typeface="Poppins" pitchFamily="34" charset="0"/>
                <a:ea typeface="Poppins" pitchFamily="34" charset="-122"/>
                <a:cs typeface="Poppins" pitchFamily="34" charset="-120"/>
              </a:rPr>
              <a:t>ZENTORA</a:t>
            </a:r>
            <a:endParaRPr lang="en-US" sz="1050" dirty="0"/>
          </a:p>
        </p:txBody>
      </p:sp>
      <p:sp>
        <p:nvSpPr>
          <p:cNvPr id="14" name="Shape 10"/>
          <p:cNvSpPr/>
          <p:nvPr/>
        </p:nvSpPr>
        <p:spPr>
          <a:xfrm>
            <a:off x="594360" y="2331720"/>
            <a:ext cx="1645920" cy="420624"/>
          </a:xfrm>
          <a:prstGeom prst="roundRect">
            <a:avLst>
              <a:gd name="adj" fmla="val 21739"/>
            </a:avLst>
          </a:prstGeom>
          <a:solidFill>
            <a:srgbClr val="12AEA4"/>
          </a:solidFill>
          <a:ln w="9525">
            <a:solidFill>
              <a:srgbClr val="12AEA4"/>
            </a:solidFill>
            <a:prstDash val="solid"/>
          </a:ln>
        </p:spPr>
      </p:sp>
      <p:pic>
        <p:nvPicPr>
          <p:cNvPr id="15" name="Image 2" descr="preencoded.png">    </p:cNvPr>
          <p:cNvPicPr>
            <a:picLocks noChangeAspect="1"/>
          </p:cNvPicPr>
          <p:nvPr/>
        </p:nvPicPr>
        <p:blipFill>
          <a:blip r:embed="rId4"/>
          <a:stretch>
            <a:fillRect/>
          </a:stretch>
        </p:blipFill>
        <p:spPr>
          <a:xfrm>
            <a:off x="777240" y="2450592"/>
            <a:ext cx="182880" cy="182880"/>
          </a:xfrm>
          <a:prstGeom prst="rect">
            <a:avLst/>
          </a:prstGeom>
        </p:spPr>
      </p:pic>
      <p:sp>
        <p:nvSpPr>
          <p:cNvPr id="16" name="Text 11"/>
          <p:cNvSpPr txBox="1"/>
          <p:nvPr/>
        </p:nvSpPr>
        <p:spPr>
          <a:xfrm>
            <a:off x="1143000" y="2331720"/>
            <a:ext cx="1097280" cy="420624"/>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Dashboard</a:t>
            </a:r>
            <a:endParaRPr lang="en-US" sz="950" dirty="0"/>
          </a:p>
        </p:txBody>
      </p:sp>
      <p:pic>
        <p:nvPicPr>
          <p:cNvPr id="17" name="Image 3" descr="preencoded.png">    </p:cNvPr>
          <p:cNvPicPr>
            <a:picLocks noChangeAspect="1"/>
          </p:cNvPicPr>
          <p:nvPr/>
        </p:nvPicPr>
        <p:blipFill>
          <a:blip r:embed="rId5"/>
          <a:stretch>
            <a:fillRect/>
          </a:stretch>
        </p:blipFill>
        <p:spPr>
          <a:xfrm>
            <a:off x="777240" y="2999232"/>
            <a:ext cx="182880" cy="182880"/>
          </a:xfrm>
          <a:prstGeom prst="rect">
            <a:avLst/>
          </a:prstGeom>
        </p:spPr>
      </p:pic>
      <p:sp>
        <p:nvSpPr>
          <p:cNvPr id="18" name="Text 12"/>
          <p:cNvSpPr txBox="1"/>
          <p:nvPr/>
        </p:nvSpPr>
        <p:spPr>
          <a:xfrm>
            <a:off x="1143000" y="2880360"/>
            <a:ext cx="1097280" cy="420624"/>
          </a:xfrm>
          <a:prstGeom prst="rect">
            <a:avLst/>
          </a:prstGeom>
          <a:noFill/>
          <a:ln/>
        </p:spPr>
        <p:txBody>
          <a:bodyPr wrap="square" lIns="0" tIns="0" rIns="0" bIns="0" rtlCol="0" anchor="ctr"/>
          <a:lstStyle/>
          <a:p>
            <a:pPr indent="0" marL="0">
              <a:buNone/>
            </a:pPr>
            <a:r>
              <a:rPr lang="en-US" sz="950" dirty="0">
                <a:solidFill>
                  <a:srgbClr val="A9B7CC"/>
                </a:solidFill>
                <a:latin typeface="Poppins" pitchFamily="34" charset="0"/>
                <a:ea typeface="Poppins" pitchFamily="34" charset="-122"/>
                <a:cs typeface="Poppins" pitchFamily="34" charset="-120"/>
              </a:rPr>
              <a:t>Users</a:t>
            </a:r>
            <a:endParaRPr lang="en-US" sz="950" dirty="0"/>
          </a:p>
        </p:txBody>
      </p:sp>
      <p:pic>
        <p:nvPicPr>
          <p:cNvPr id="19" name="Image 4" descr="preencoded.png">    </p:cNvPr>
          <p:cNvPicPr>
            <a:picLocks noChangeAspect="1"/>
          </p:cNvPicPr>
          <p:nvPr/>
        </p:nvPicPr>
        <p:blipFill>
          <a:blip r:embed="rId6"/>
          <a:stretch>
            <a:fillRect/>
          </a:stretch>
        </p:blipFill>
        <p:spPr>
          <a:xfrm>
            <a:off x="777240" y="3547872"/>
            <a:ext cx="182880" cy="182880"/>
          </a:xfrm>
          <a:prstGeom prst="rect">
            <a:avLst/>
          </a:prstGeom>
        </p:spPr>
      </p:pic>
      <p:sp>
        <p:nvSpPr>
          <p:cNvPr id="20" name="Text 13"/>
          <p:cNvSpPr txBox="1"/>
          <p:nvPr/>
        </p:nvSpPr>
        <p:spPr>
          <a:xfrm>
            <a:off x="1143000" y="3429000"/>
            <a:ext cx="1097280" cy="420624"/>
          </a:xfrm>
          <a:prstGeom prst="rect">
            <a:avLst/>
          </a:prstGeom>
          <a:noFill/>
          <a:ln/>
        </p:spPr>
        <p:txBody>
          <a:bodyPr wrap="square" lIns="0" tIns="0" rIns="0" bIns="0" rtlCol="0" anchor="ctr"/>
          <a:lstStyle/>
          <a:p>
            <a:pPr indent="0" marL="0">
              <a:buNone/>
            </a:pPr>
            <a:r>
              <a:rPr lang="en-US" sz="950" dirty="0">
                <a:solidFill>
                  <a:srgbClr val="A9B7CC"/>
                </a:solidFill>
                <a:latin typeface="Poppins" pitchFamily="34" charset="0"/>
                <a:ea typeface="Poppins" pitchFamily="34" charset="-122"/>
                <a:cs typeface="Poppins" pitchFamily="34" charset="-120"/>
              </a:rPr>
              <a:t>Clients</a:t>
            </a:r>
            <a:endParaRPr lang="en-US" sz="950" dirty="0"/>
          </a:p>
        </p:txBody>
      </p:sp>
      <p:pic>
        <p:nvPicPr>
          <p:cNvPr id="21" name="Image 5" descr="preencoded.png">    </p:cNvPr>
          <p:cNvPicPr>
            <a:picLocks noChangeAspect="1"/>
          </p:cNvPicPr>
          <p:nvPr/>
        </p:nvPicPr>
        <p:blipFill>
          <a:blip r:embed="rId7"/>
          <a:stretch>
            <a:fillRect/>
          </a:stretch>
        </p:blipFill>
        <p:spPr>
          <a:xfrm>
            <a:off x="777240" y="4096512"/>
            <a:ext cx="182880" cy="182880"/>
          </a:xfrm>
          <a:prstGeom prst="rect">
            <a:avLst/>
          </a:prstGeom>
        </p:spPr>
      </p:pic>
      <p:sp>
        <p:nvSpPr>
          <p:cNvPr id="22" name="Text 14"/>
          <p:cNvSpPr txBox="1"/>
          <p:nvPr/>
        </p:nvSpPr>
        <p:spPr>
          <a:xfrm>
            <a:off x="1143000" y="3977640"/>
            <a:ext cx="1097280" cy="420624"/>
          </a:xfrm>
          <a:prstGeom prst="rect">
            <a:avLst/>
          </a:prstGeom>
          <a:noFill/>
          <a:ln/>
        </p:spPr>
        <p:txBody>
          <a:bodyPr wrap="square" lIns="0" tIns="0" rIns="0" bIns="0" rtlCol="0" anchor="ctr"/>
          <a:lstStyle/>
          <a:p>
            <a:pPr indent="0" marL="0">
              <a:buNone/>
            </a:pPr>
            <a:r>
              <a:rPr lang="en-US" sz="950" dirty="0">
                <a:solidFill>
                  <a:srgbClr val="A9B7CC"/>
                </a:solidFill>
                <a:latin typeface="Poppins" pitchFamily="34" charset="0"/>
                <a:ea typeface="Poppins" pitchFamily="34" charset="-122"/>
                <a:cs typeface="Poppins" pitchFamily="34" charset="-120"/>
              </a:rPr>
              <a:t>Projects</a:t>
            </a:r>
            <a:endParaRPr lang="en-US" sz="950" dirty="0"/>
          </a:p>
        </p:txBody>
      </p:sp>
      <p:pic>
        <p:nvPicPr>
          <p:cNvPr id="23" name="Image 6" descr="preencoded.png">    </p:cNvPr>
          <p:cNvPicPr>
            <a:picLocks noChangeAspect="1"/>
          </p:cNvPicPr>
          <p:nvPr/>
        </p:nvPicPr>
        <p:blipFill>
          <a:blip r:embed="rId8"/>
          <a:stretch>
            <a:fillRect/>
          </a:stretch>
        </p:blipFill>
        <p:spPr>
          <a:xfrm>
            <a:off x="777240" y="4645152"/>
            <a:ext cx="182880" cy="182880"/>
          </a:xfrm>
          <a:prstGeom prst="rect">
            <a:avLst/>
          </a:prstGeom>
        </p:spPr>
      </p:pic>
      <p:sp>
        <p:nvSpPr>
          <p:cNvPr id="24" name="Text 15"/>
          <p:cNvSpPr txBox="1"/>
          <p:nvPr/>
        </p:nvSpPr>
        <p:spPr>
          <a:xfrm>
            <a:off x="1143000" y="4526280"/>
            <a:ext cx="1097280" cy="420624"/>
          </a:xfrm>
          <a:prstGeom prst="rect">
            <a:avLst/>
          </a:prstGeom>
          <a:noFill/>
          <a:ln/>
        </p:spPr>
        <p:txBody>
          <a:bodyPr wrap="square" lIns="0" tIns="0" rIns="0" bIns="0" rtlCol="0" anchor="ctr"/>
          <a:lstStyle/>
          <a:p>
            <a:pPr indent="0" marL="0">
              <a:buNone/>
            </a:pPr>
            <a:r>
              <a:rPr lang="en-US" sz="950" dirty="0">
                <a:solidFill>
                  <a:srgbClr val="A9B7CC"/>
                </a:solidFill>
                <a:latin typeface="Poppins" pitchFamily="34" charset="0"/>
                <a:ea typeface="Poppins" pitchFamily="34" charset="-122"/>
                <a:cs typeface="Poppins" pitchFamily="34" charset="-120"/>
              </a:rPr>
              <a:t>Bids</a:t>
            </a:r>
            <a:endParaRPr lang="en-US" sz="950" dirty="0"/>
          </a:p>
        </p:txBody>
      </p:sp>
      <p:pic>
        <p:nvPicPr>
          <p:cNvPr id="25" name="Image 7" descr="preencoded.png">    </p:cNvPr>
          <p:cNvPicPr>
            <a:picLocks noChangeAspect="1"/>
          </p:cNvPicPr>
          <p:nvPr/>
        </p:nvPicPr>
        <p:blipFill>
          <a:blip r:embed="rId9"/>
          <a:stretch>
            <a:fillRect/>
          </a:stretch>
        </p:blipFill>
        <p:spPr>
          <a:xfrm>
            <a:off x="777240" y="5193792"/>
            <a:ext cx="182880" cy="182880"/>
          </a:xfrm>
          <a:prstGeom prst="rect">
            <a:avLst/>
          </a:prstGeom>
        </p:spPr>
      </p:pic>
      <p:sp>
        <p:nvSpPr>
          <p:cNvPr id="26" name="Text 16"/>
          <p:cNvSpPr txBox="1"/>
          <p:nvPr/>
        </p:nvSpPr>
        <p:spPr>
          <a:xfrm>
            <a:off x="1143000" y="5074920"/>
            <a:ext cx="1097280" cy="420624"/>
          </a:xfrm>
          <a:prstGeom prst="rect">
            <a:avLst/>
          </a:prstGeom>
          <a:noFill/>
          <a:ln/>
        </p:spPr>
        <p:txBody>
          <a:bodyPr wrap="square" lIns="0" tIns="0" rIns="0" bIns="0" rtlCol="0" anchor="ctr"/>
          <a:lstStyle/>
          <a:p>
            <a:pPr indent="0" marL="0">
              <a:buNone/>
            </a:pPr>
            <a:r>
              <a:rPr lang="en-US" sz="950" dirty="0">
                <a:solidFill>
                  <a:srgbClr val="A9B7CC"/>
                </a:solidFill>
                <a:latin typeface="Poppins" pitchFamily="34" charset="0"/>
                <a:ea typeface="Poppins" pitchFamily="34" charset="-122"/>
                <a:cs typeface="Poppins" pitchFamily="34" charset="-120"/>
              </a:rPr>
              <a:t>Plans</a:t>
            </a:r>
            <a:endParaRPr lang="en-US" sz="950" dirty="0"/>
          </a:p>
        </p:txBody>
      </p:sp>
      <p:pic>
        <p:nvPicPr>
          <p:cNvPr id="27" name="Image 8" descr="preencoded.png">    </p:cNvPr>
          <p:cNvPicPr>
            <a:picLocks noChangeAspect="1"/>
          </p:cNvPicPr>
          <p:nvPr/>
        </p:nvPicPr>
        <p:blipFill>
          <a:blip r:embed="rId10"/>
          <a:stretch>
            <a:fillRect/>
          </a:stretch>
        </p:blipFill>
        <p:spPr>
          <a:xfrm>
            <a:off x="777240" y="5742432"/>
            <a:ext cx="182880" cy="182880"/>
          </a:xfrm>
          <a:prstGeom prst="rect">
            <a:avLst/>
          </a:prstGeom>
        </p:spPr>
      </p:pic>
      <p:sp>
        <p:nvSpPr>
          <p:cNvPr id="28" name="Text 17"/>
          <p:cNvSpPr txBox="1"/>
          <p:nvPr/>
        </p:nvSpPr>
        <p:spPr>
          <a:xfrm>
            <a:off x="1143000" y="5623560"/>
            <a:ext cx="1097280" cy="420624"/>
          </a:xfrm>
          <a:prstGeom prst="rect">
            <a:avLst/>
          </a:prstGeom>
          <a:noFill/>
          <a:ln/>
        </p:spPr>
        <p:txBody>
          <a:bodyPr wrap="square" lIns="0" tIns="0" rIns="0" bIns="0" rtlCol="0" anchor="ctr"/>
          <a:lstStyle/>
          <a:p>
            <a:pPr indent="0" marL="0">
              <a:buNone/>
            </a:pPr>
            <a:r>
              <a:rPr lang="en-US" sz="950" dirty="0">
                <a:solidFill>
                  <a:srgbClr val="A9B7CC"/>
                </a:solidFill>
                <a:latin typeface="Poppins" pitchFamily="34" charset="0"/>
                <a:ea typeface="Poppins" pitchFamily="34" charset="-122"/>
                <a:cs typeface="Poppins" pitchFamily="34" charset="-120"/>
              </a:rPr>
              <a:t>Profile</a:t>
            </a:r>
            <a:endParaRPr lang="en-US" sz="950" dirty="0"/>
          </a:p>
        </p:txBody>
      </p:sp>
      <p:sp>
        <p:nvSpPr>
          <p:cNvPr id="29" name="Text 18"/>
          <p:cNvSpPr txBox="1"/>
          <p:nvPr/>
        </p:nvSpPr>
        <p:spPr>
          <a:xfrm>
            <a:off x="2606040" y="1691640"/>
            <a:ext cx="3657600" cy="365760"/>
          </a:xfrm>
          <a:prstGeom prst="rect">
            <a:avLst/>
          </a:prstGeom>
          <a:noFill/>
          <a:ln/>
        </p:spPr>
        <p:txBody>
          <a:bodyPr wrap="square" lIns="0" tIns="0" rIns="0" bIns="0" rtlCol="0" anchor="ctr"/>
          <a:lstStyle/>
          <a:p>
            <a:pPr indent="0" marL="0">
              <a:buNone/>
            </a:pPr>
            <a:r>
              <a:rPr lang="en-US" sz="1300" b="1" dirty="0">
                <a:solidFill>
                  <a:srgbClr val="0B1930"/>
                </a:solidFill>
                <a:latin typeface="Poppins" pitchFamily="34" charset="0"/>
                <a:ea typeface="Poppins" pitchFamily="34" charset="-122"/>
                <a:cs typeface="Poppins" pitchFamily="34" charset="-120"/>
              </a:rPr>
              <a:t>Admin Dashboard</a:t>
            </a:r>
            <a:endParaRPr lang="en-US" sz="1300" dirty="0"/>
          </a:p>
        </p:txBody>
      </p:sp>
      <p:sp>
        <p:nvSpPr>
          <p:cNvPr id="30" name="Text 19"/>
          <p:cNvSpPr txBox="1"/>
          <p:nvPr/>
        </p:nvSpPr>
        <p:spPr>
          <a:xfrm>
            <a:off x="8668512" y="1728216"/>
            <a:ext cx="2834640" cy="274320"/>
          </a:xfrm>
          <a:prstGeom prst="roundRect">
            <a:avLst>
              <a:gd name="adj" fmla="val 50000"/>
            </a:avLst>
          </a:prstGeom>
          <a:solidFill>
            <a:srgbClr val="FEF0DF"/>
          </a:solidFill>
          <a:ln/>
        </p:spPr>
        <p:txBody>
          <a:bodyPr wrap="square" lIns="0" tIns="0" rIns="0" bIns="0" rtlCol="0" anchor="ctr"/>
          <a:lstStyle/>
          <a:p>
            <a:pPr algn="ctr" indent="0" marL="0">
              <a:buNone/>
            </a:pPr>
            <a:r>
              <a:rPr lang="en-US" sz="800" b="1" spc="100" kern="0" dirty="0">
                <a:solidFill>
                  <a:srgbClr val="B45F0B"/>
                </a:solidFill>
                <a:latin typeface="Poppins" pitchFamily="34" charset="0"/>
                <a:ea typeface="Poppins" pitchFamily="34" charset="-122"/>
                <a:cs typeface="Poppins" pitchFamily="34" charset="-120"/>
              </a:rPr>
              <a:t>UI MOCKUP  •  EXAMPLE DATA</a:t>
            </a:r>
            <a:endParaRPr lang="en-US" sz="800" dirty="0"/>
          </a:p>
        </p:txBody>
      </p:sp>
      <p:sp>
        <p:nvSpPr>
          <p:cNvPr id="31" name="Shape 20"/>
          <p:cNvSpPr/>
          <p:nvPr/>
        </p:nvSpPr>
        <p:spPr>
          <a:xfrm>
            <a:off x="2606040" y="2240280"/>
            <a:ext cx="2813304" cy="960120"/>
          </a:xfrm>
          <a:prstGeom prst="roundRect">
            <a:avLst>
              <a:gd name="adj" fmla="val 11429"/>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2" name="Shape 21"/>
          <p:cNvSpPr/>
          <p:nvPr/>
        </p:nvSpPr>
        <p:spPr>
          <a:xfrm>
            <a:off x="2834640" y="2441448"/>
            <a:ext cx="548640" cy="54864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33" name="Image 9" descr="preencoded.png">    </p:cNvPr>
          <p:cNvPicPr>
            <a:picLocks noChangeAspect="1"/>
          </p:cNvPicPr>
          <p:nvPr/>
        </p:nvPicPr>
        <p:blipFill>
          <a:blip r:embed="rId11"/>
          <a:stretch>
            <a:fillRect/>
          </a:stretch>
        </p:blipFill>
        <p:spPr>
          <a:xfrm>
            <a:off x="2971800" y="2578608"/>
            <a:ext cx="274320" cy="274320"/>
          </a:xfrm>
          <a:prstGeom prst="rect">
            <a:avLst/>
          </a:prstGeom>
        </p:spPr>
      </p:pic>
      <p:sp>
        <p:nvSpPr>
          <p:cNvPr id="34" name="Text 22"/>
          <p:cNvSpPr txBox="1"/>
          <p:nvPr/>
        </p:nvSpPr>
        <p:spPr>
          <a:xfrm>
            <a:off x="3566160" y="2377440"/>
            <a:ext cx="1716024" cy="274320"/>
          </a:xfrm>
          <a:prstGeom prst="rect">
            <a:avLst/>
          </a:prstGeom>
          <a:noFill/>
          <a:ln/>
        </p:spPr>
        <p:txBody>
          <a:bodyPr wrap="square" lIns="0" tIns="0" rIns="0" bIns="0" rtlCol="0" anchor="ctr"/>
          <a:lstStyle/>
          <a:p>
            <a:pPr indent="0" marL="0">
              <a:buNone/>
            </a:pPr>
            <a:r>
              <a:rPr lang="en-US" sz="1000" dirty="0">
                <a:solidFill>
                  <a:srgbClr val="64748B"/>
                </a:solidFill>
                <a:latin typeface="Poppins" pitchFamily="34" charset="0"/>
                <a:ea typeface="Poppins" pitchFamily="34" charset="-122"/>
                <a:cs typeface="Poppins" pitchFamily="34" charset="-120"/>
              </a:rPr>
              <a:t>Freelancers</a:t>
            </a:r>
            <a:endParaRPr lang="en-US" sz="1000" dirty="0"/>
          </a:p>
        </p:txBody>
      </p:sp>
      <p:sp>
        <p:nvSpPr>
          <p:cNvPr id="35" name="Text 23"/>
          <p:cNvSpPr txBox="1"/>
          <p:nvPr/>
        </p:nvSpPr>
        <p:spPr>
          <a:xfrm>
            <a:off x="3566160" y="2624328"/>
            <a:ext cx="1716024" cy="457200"/>
          </a:xfrm>
          <a:prstGeom prst="rect">
            <a:avLst/>
          </a:prstGeom>
          <a:noFill/>
          <a:ln/>
        </p:spPr>
        <p:txBody>
          <a:bodyPr wrap="square" lIns="0" tIns="0" rIns="0" bIns="0" rtlCol="0" anchor="ctr"/>
          <a:lstStyle/>
          <a:p>
            <a:pPr indent="0" marL="0">
              <a:buNone/>
            </a:pPr>
            <a:r>
              <a:rPr lang="en-US" sz="2600" b="1" dirty="0">
                <a:solidFill>
                  <a:srgbClr val="0B1930"/>
                </a:solidFill>
                <a:latin typeface="Poppins" pitchFamily="34" charset="0"/>
                <a:ea typeface="Poppins" pitchFamily="34" charset="-122"/>
                <a:cs typeface="Poppins" pitchFamily="34" charset="-120"/>
              </a:rPr>
              <a:t>128</a:t>
            </a:r>
            <a:endParaRPr lang="en-US" sz="2600" dirty="0"/>
          </a:p>
        </p:txBody>
      </p:sp>
      <p:sp>
        <p:nvSpPr>
          <p:cNvPr id="36" name="Shape 24"/>
          <p:cNvSpPr/>
          <p:nvPr/>
        </p:nvSpPr>
        <p:spPr>
          <a:xfrm>
            <a:off x="5647944" y="2240280"/>
            <a:ext cx="2813304" cy="960120"/>
          </a:xfrm>
          <a:prstGeom prst="roundRect">
            <a:avLst>
              <a:gd name="adj" fmla="val 11429"/>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7" name="Shape 25"/>
          <p:cNvSpPr/>
          <p:nvPr/>
        </p:nvSpPr>
        <p:spPr>
          <a:xfrm>
            <a:off x="5876544" y="2441448"/>
            <a:ext cx="548640" cy="54864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38" name="Image 10" descr="preencoded.png">    </p:cNvPr>
          <p:cNvPicPr>
            <a:picLocks noChangeAspect="1"/>
          </p:cNvPicPr>
          <p:nvPr/>
        </p:nvPicPr>
        <p:blipFill>
          <a:blip r:embed="rId12"/>
          <a:stretch>
            <a:fillRect/>
          </a:stretch>
        </p:blipFill>
        <p:spPr>
          <a:xfrm>
            <a:off x="6013704" y="2578608"/>
            <a:ext cx="274320" cy="274320"/>
          </a:xfrm>
          <a:prstGeom prst="rect">
            <a:avLst/>
          </a:prstGeom>
        </p:spPr>
      </p:pic>
      <p:sp>
        <p:nvSpPr>
          <p:cNvPr id="39" name="Text 26"/>
          <p:cNvSpPr txBox="1"/>
          <p:nvPr/>
        </p:nvSpPr>
        <p:spPr>
          <a:xfrm>
            <a:off x="6608064" y="2377440"/>
            <a:ext cx="1716024" cy="274320"/>
          </a:xfrm>
          <a:prstGeom prst="rect">
            <a:avLst/>
          </a:prstGeom>
          <a:noFill/>
          <a:ln/>
        </p:spPr>
        <p:txBody>
          <a:bodyPr wrap="square" lIns="0" tIns="0" rIns="0" bIns="0" rtlCol="0" anchor="ctr"/>
          <a:lstStyle/>
          <a:p>
            <a:pPr indent="0" marL="0">
              <a:buNone/>
            </a:pPr>
            <a:r>
              <a:rPr lang="en-US" sz="1000" dirty="0">
                <a:solidFill>
                  <a:srgbClr val="64748B"/>
                </a:solidFill>
                <a:latin typeface="Poppins" pitchFamily="34" charset="0"/>
                <a:ea typeface="Poppins" pitchFamily="34" charset="-122"/>
                <a:cs typeface="Poppins" pitchFamily="34" charset="-120"/>
              </a:rPr>
              <a:t>Clients</a:t>
            </a:r>
            <a:endParaRPr lang="en-US" sz="1000" dirty="0"/>
          </a:p>
        </p:txBody>
      </p:sp>
      <p:sp>
        <p:nvSpPr>
          <p:cNvPr id="40" name="Text 27"/>
          <p:cNvSpPr txBox="1"/>
          <p:nvPr/>
        </p:nvSpPr>
        <p:spPr>
          <a:xfrm>
            <a:off x="6608064" y="2624328"/>
            <a:ext cx="1716024" cy="457200"/>
          </a:xfrm>
          <a:prstGeom prst="rect">
            <a:avLst/>
          </a:prstGeom>
          <a:noFill/>
          <a:ln/>
        </p:spPr>
        <p:txBody>
          <a:bodyPr wrap="square" lIns="0" tIns="0" rIns="0" bIns="0" rtlCol="0" anchor="ctr"/>
          <a:lstStyle/>
          <a:p>
            <a:pPr indent="0" marL="0">
              <a:buNone/>
            </a:pPr>
            <a:r>
              <a:rPr lang="en-US" sz="2600" b="1" dirty="0">
                <a:solidFill>
                  <a:srgbClr val="0B1930"/>
                </a:solidFill>
                <a:latin typeface="Poppins" pitchFamily="34" charset="0"/>
                <a:ea typeface="Poppins" pitchFamily="34" charset="-122"/>
                <a:cs typeface="Poppins" pitchFamily="34" charset="-120"/>
              </a:rPr>
              <a:t>76</a:t>
            </a:r>
            <a:endParaRPr lang="en-US" sz="2600" dirty="0"/>
          </a:p>
        </p:txBody>
      </p:sp>
      <p:sp>
        <p:nvSpPr>
          <p:cNvPr id="41" name="Shape 28"/>
          <p:cNvSpPr/>
          <p:nvPr/>
        </p:nvSpPr>
        <p:spPr>
          <a:xfrm>
            <a:off x="8689848" y="2240280"/>
            <a:ext cx="2813304" cy="960120"/>
          </a:xfrm>
          <a:prstGeom prst="roundRect">
            <a:avLst>
              <a:gd name="adj" fmla="val 11429"/>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2" name="Shape 29"/>
          <p:cNvSpPr/>
          <p:nvPr/>
        </p:nvSpPr>
        <p:spPr>
          <a:xfrm>
            <a:off x="8918448" y="2441448"/>
            <a:ext cx="548640" cy="54864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43" name="Image 11" descr="preencoded.png">    </p:cNvPr>
          <p:cNvPicPr>
            <a:picLocks noChangeAspect="1"/>
          </p:cNvPicPr>
          <p:nvPr/>
        </p:nvPicPr>
        <p:blipFill>
          <a:blip r:embed="rId13"/>
          <a:stretch>
            <a:fillRect/>
          </a:stretch>
        </p:blipFill>
        <p:spPr>
          <a:xfrm>
            <a:off x="9055608" y="2578608"/>
            <a:ext cx="274320" cy="274320"/>
          </a:xfrm>
          <a:prstGeom prst="rect">
            <a:avLst/>
          </a:prstGeom>
        </p:spPr>
      </p:pic>
      <p:sp>
        <p:nvSpPr>
          <p:cNvPr id="44" name="Text 30"/>
          <p:cNvSpPr txBox="1"/>
          <p:nvPr/>
        </p:nvSpPr>
        <p:spPr>
          <a:xfrm>
            <a:off x="9649968" y="2377440"/>
            <a:ext cx="1716024" cy="274320"/>
          </a:xfrm>
          <a:prstGeom prst="rect">
            <a:avLst/>
          </a:prstGeom>
          <a:noFill/>
          <a:ln/>
        </p:spPr>
        <p:txBody>
          <a:bodyPr wrap="square" lIns="0" tIns="0" rIns="0" bIns="0" rtlCol="0" anchor="ctr"/>
          <a:lstStyle/>
          <a:p>
            <a:pPr indent="0" marL="0">
              <a:buNone/>
            </a:pPr>
            <a:r>
              <a:rPr lang="en-US" sz="1000" dirty="0">
                <a:solidFill>
                  <a:srgbClr val="64748B"/>
                </a:solidFill>
                <a:latin typeface="Poppins" pitchFamily="34" charset="0"/>
                <a:ea typeface="Poppins" pitchFamily="34" charset="-122"/>
                <a:cs typeface="Poppins" pitchFamily="34" charset="-120"/>
              </a:rPr>
              <a:t>Live Projects</a:t>
            </a:r>
            <a:endParaRPr lang="en-US" sz="1000" dirty="0"/>
          </a:p>
        </p:txBody>
      </p:sp>
      <p:sp>
        <p:nvSpPr>
          <p:cNvPr id="45" name="Text 31"/>
          <p:cNvSpPr txBox="1"/>
          <p:nvPr/>
        </p:nvSpPr>
        <p:spPr>
          <a:xfrm>
            <a:off x="9649968" y="2624328"/>
            <a:ext cx="1716024" cy="457200"/>
          </a:xfrm>
          <a:prstGeom prst="rect">
            <a:avLst/>
          </a:prstGeom>
          <a:noFill/>
          <a:ln/>
        </p:spPr>
        <p:txBody>
          <a:bodyPr wrap="square" lIns="0" tIns="0" rIns="0" bIns="0" rtlCol="0" anchor="ctr"/>
          <a:lstStyle/>
          <a:p>
            <a:pPr indent="0" marL="0">
              <a:buNone/>
            </a:pPr>
            <a:r>
              <a:rPr lang="en-US" sz="2600" b="1" dirty="0">
                <a:solidFill>
                  <a:srgbClr val="0B1930"/>
                </a:solidFill>
                <a:latin typeface="Poppins" pitchFamily="34" charset="0"/>
                <a:ea typeface="Poppins" pitchFamily="34" charset="-122"/>
                <a:cs typeface="Poppins" pitchFamily="34" charset="-120"/>
              </a:rPr>
              <a:t>24</a:t>
            </a:r>
            <a:endParaRPr lang="en-US" sz="2600" dirty="0"/>
          </a:p>
        </p:txBody>
      </p:sp>
      <p:sp>
        <p:nvSpPr>
          <p:cNvPr id="46" name="Shape 32"/>
          <p:cNvSpPr/>
          <p:nvPr/>
        </p:nvSpPr>
        <p:spPr>
          <a:xfrm>
            <a:off x="2606040" y="3429000"/>
            <a:ext cx="2087118" cy="2697480"/>
          </a:xfrm>
          <a:prstGeom prst="roundRect">
            <a:avLst>
              <a:gd name="adj" fmla="val 5257"/>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7" name="Shape 33"/>
          <p:cNvSpPr/>
          <p:nvPr/>
        </p:nvSpPr>
        <p:spPr>
          <a:xfrm>
            <a:off x="2788920" y="3611880"/>
            <a:ext cx="457200" cy="457200"/>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48" name="Image 12" descr="preencoded.png">    </p:cNvPr>
          <p:cNvPicPr>
            <a:picLocks noChangeAspect="1"/>
          </p:cNvPicPr>
          <p:nvPr/>
        </p:nvPicPr>
        <p:blipFill>
          <a:blip r:embed="rId14"/>
          <a:stretch>
            <a:fillRect/>
          </a:stretch>
        </p:blipFill>
        <p:spPr>
          <a:xfrm>
            <a:off x="2903220" y="3726180"/>
            <a:ext cx="228600" cy="228600"/>
          </a:xfrm>
          <a:prstGeom prst="rect">
            <a:avLst/>
          </a:prstGeom>
        </p:spPr>
      </p:pic>
      <p:sp>
        <p:nvSpPr>
          <p:cNvPr id="49" name="Text 34"/>
          <p:cNvSpPr txBox="1"/>
          <p:nvPr/>
        </p:nvSpPr>
        <p:spPr>
          <a:xfrm>
            <a:off x="2788920" y="4206240"/>
            <a:ext cx="1767078" cy="457200"/>
          </a:xfrm>
          <a:prstGeom prst="rect">
            <a:avLst/>
          </a:prstGeom>
          <a:noFill/>
          <a:ln/>
        </p:spPr>
        <p:txBody>
          <a:bodyPr wrap="square" lIns="0" tIns="0" rIns="0" bIns="0" rtlCol="0" anchor="ctr"/>
          <a:lstStyle/>
          <a:p>
            <a:pPr indent="0" marL="0">
              <a:buNone/>
            </a:pPr>
            <a:r>
              <a:rPr lang="en-US" sz="950" b="1" dirty="0">
                <a:solidFill>
                  <a:srgbClr val="0B1930"/>
                </a:solidFill>
                <a:latin typeface="Poppins" pitchFamily="34" charset="0"/>
                <a:ea typeface="Poppins" pitchFamily="34" charset="-122"/>
                <a:cs typeface="Poppins" pitchFamily="34" charset="-120"/>
              </a:rPr>
              <a:t>USER MANAGEMENT</a:t>
            </a:r>
            <a:endParaRPr lang="en-US" sz="950" dirty="0"/>
          </a:p>
        </p:txBody>
      </p:sp>
      <p:pic>
        <p:nvPicPr>
          <p:cNvPr id="50" name="Image 13" descr="preencoded.png">    </p:cNvPr>
          <p:cNvPicPr>
            <a:picLocks noChangeAspect="1"/>
          </p:cNvPicPr>
          <p:nvPr/>
        </p:nvPicPr>
        <p:blipFill>
          <a:blip r:embed="rId15"/>
          <a:stretch>
            <a:fillRect/>
          </a:stretch>
        </p:blipFill>
        <p:spPr>
          <a:xfrm>
            <a:off x="2788920" y="4773168"/>
            <a:ext cx="155448" cy="155448"/>
          </a:xfrm>
          <a:prstGeom prst="rect">
            <a:avLst/>
          </a:prstGeom>
        </p:spPr>
      </p:pic>
      <p:sp>
        <p:nvSpPr>
          <p:cNvPr id="51" name="Text 35"/>
          <p:cNvSpPr txBox="1"/>
          <p:nvPr/>
        </p:nvSpPr>
        <p:spPr>
          <a:xfrm>
            <a:off x="3026664" y="47091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View users</a:t>
            </a:r>
            <a:endParaRPr lang="en-US" sz="1000" dirty="0"/>
          </a:p>
        </p:txBody>
      </p:sp>
      <p:pic>
        <p:nvPicPr>
          <p:cNvPr id="52" name="Image 14" descr="preencoded.png">    </p:cNvPr>
          <p:cNvPicPr>
            <a:picLocks noChangeAspect="1"/>
          </p:cNvPicPr>
          <p:nvPr/>
        </p:nvPicPr>
        <p:blipFill>
          <a:blip r:embed="rId16"/>
          <a:stretch>
            <a:fillRect/>
          </a:stretch>
        </p:blipFill>
        <p:spPr>
          <a:xfrm>
            <a:off x="2788920" y="5230368"/>
            <a:ext cx="155448" cy="155448"/>
          </a:xfrm>
          <a:prstGeom prst="rect">
            <a:avLst/>
          </a:prstGeom>
        </p:spPr>
      </p:pic>
      <p:sp>
        <p:nvSpPr>
          <p:cNvPr id="53" name="Text 36"/>
          <p:cNvSpPr txBox="1"/>
          <p:nvPr/>
        </p:nvSpPr>
        <p:spPr>
          <a:xfrm>
            <a:off x="3026664" y="51663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Activate / deactivate accounts</a:t>
            </a:r>
            <a:endParaRPr lang="en-US" sz="1000" dirty="0"/>
          </a:p>
        </p:txBody>
      </p:sp>
      <p:pic>
        <p:nvPicPr>
          <p:cNvPr id="54" name="Image 15" descr="preencoded.png">    </p:cNvPr>
          <p:cNvPicPr>
            <a:picLocks noChangeAspect="1"/>
          </p:cNvPicPr>
          <p:nvPr/>
        </p:nvPicPr>
        <p:blipFill>
          <a:blip r:embed="rId17"/>
          <a:stretch>
            <a:fillRect/>
          </a:stretch>
        </p:blipFill>
        <p:spPr>
          <a:xfrm>
            <a:off x="2788920" y="5687568"/>
            <a:ext cx="155448" cy="155448"/>
          </a:xfrm>
          <a:prstGeom prst="rect">
            <a:avLst/>
          </a:prstGeom>
        </p:spPr>
      </p:pic>
      <p:sp>
        <p:nvSpPr>
          <p:cNvPr id="55" name="Text 37"/>
          <p:cNvSpPr txBox="1"/>
          <p:nvPr/>
        </p:nvSpPr>
        <p:spPr>
          <a:xfrm>
            <a:off x="3026664" y="56235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Delete records where permitted</a:t>
            </a:r>
            <a:endParaRPr lang="en-US" sz="1000" dirty="0"/>
          </a:p>
        </p:txBody>
      </p:sp>
      <p:sp>
        <p:nvSpPr>
          <p:cNvPr id="56" name="Shape 38"/>
          <p:cNvSpPr/>
          <p:nvPr/>
        </p:nvSpPr>
        <p:spPr>
          <a:xfrm>
            <a:off x="4876038" y="3429000"/>
            <a:ext cx="2087118" cy="2697480"/>
          </a:xfrm>
          <a:prstGeom prst="roundRect">
            <a:avLst>
              <a:gd name="adj" fmla="val 5257"/>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57" name="Shape 39"/>
          <p:cNvSpPr/>
          <p:nvPr/>
        </p:nvSpPr>
        <p:spPr>
          <a:xfrm>
            <a:off x="5058918" y="3611880"/>
            <a:ext cx="457200" cy="457200"/>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58" name="Image 16" descr="preencoded.png">    </p:cNvPr>
          <p:cNvPicPr>
            <a:picLocks noChangeAspect="1"/>
          </p:cNvPicPr>
          <p:nvPr/>
        </p:nvPicPr>
        <p:blipFill>
          <a:blip r:embed="rId18"/>
          <a:stretch>
            <a:fillRect/>
          </a:stretch>
        </p:blipFill>
        <p:spPr>
          <a:xfrm>
            <a:off x="5173218" y="3726180"/>
            <a:ext cx="228600" cy="228600"/>
          </a:xfrm>
          <a:prstGeom prst="rect">
            <a:avLst/>
          </a:prstGeom>
        </p:spPr>
      </p:pic>
      <p:sp>
        <p:nvSpPr>
          <p:cNvPr id="59" name="Text 40"/>
          <p:cNvSpPr txBox="1"/>
          <p:nvPr/>
        </p:nvSpPr>
        <p:spPr>
          <a:xfrm>
            <a:off x="5058918" y="4206240"/>
            <a:ext cx="1767078" cy="457200"/>
          </a:xfrm>
          <a:prstGeom prst="rect">
            <a:avLst/>
          </a:prstGeom>
          <a:noFill/>
          <a:ln/>
        </p:spPr>
        <p:txBody>
          <a:bodyPr wrap="square" lIns="0" tIns="0" rIns="0" bIns="0" rtlCol="0" anchor="ctr"/>
          <a:lstStyle/>
          <a:p>
            <a:pPr indent="0" marL="0">
              <a:buNone/>
            </a:pPr>
            <a:r>
              <a:rPr lang="en-US" sz="950" b="1" dirty="0">
                <a:solidFill>
                  <a:srgbClr val="0B1930"/>
                </a:solidFill>
                <a:latin typeface="Poppins" pitchFamily="34" charset="0"/>
                <a:ea typeface="Poppins" pitchFamily="34" charset="-122"/>
                <a:cs typeface="Poppins" pitchFamily="34" charset="-120"/>
              </a:rPr>
              <a:t>PROJECT &amp; BID MANAGEMENT</a:t>
            </a:r>
            <a:endParaRPr lang="en-US" sz="950" dirty="0"/>
          </a:p>
        </p:txBody>
      </p:sp>
      <p:pic>
        <p:nvPicPr>
          <p:cNvPr id="60" name="Image 17" descr="preencoded.png">    </p:cNvPr>
          <p:cNvPicPr>
            <a:picLocks noChangeAspect="1"/>
          </p:cNvPicPr>
          <p:nvPr/>
        </p:nvPicPr>
        <p:blipFill>
          <a:blip r:embed="rId19"/>
          <a:stretch>
            <a:fillRect/>
          </a:stretch>
        </p:blipFill>
        <p:spPr>
          <a:xfrm>
            <a:off x="5058918" y="4773168"/>
            <a:ext cx="155448" cy="155448"/>
          </a:xfrm>
          <a:prstGeom prst="rect">
            <a:avLst/>
          </a:prstGeom>
        </p:spPr>
      </p:pic>
      <p:sp>
        <p:nvSpPr>
          <p:cNvPr id="61" name="Text 41"/>
          <p:cNvSpPr txBox="1"/>
          <p:nvPr/>
        </p:nvSpPr>
        <p:spPr>
          <a:xfrm>
            <a:off x="5296662" y="47091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View projects</a:t>
            </a:r>
            <a:endParaRPr lang="en-US" sz="1000" dirty="0"/>
          </a:p>
        </p:txBody>
      </p:sp>
      <p:pic>
        <p:nvPicPr>
          <p:cNvPr id="62" name="Image 18" descr="preencoded.png">    </p:cNvPr>
          <p:cNvPicPr>
            <a:picLocks noChangeAspect="1"/>
          </p:cNvPicPr>
          <p:nvPr/>
        </p:nvPicPr>
        <p:blipFill>
          <a:blip r:embed="rId20"/>
          <a:stretch>
            <a:fillRect/>
          </a:stretch>
        </p:blipFill>
        <p:spPr>
          <a:xfrm>
            <a:off x="5058918" y="5230368"/>
            <a:ext cx="155448" cy="155448"/>
          </a:xfrm>
          <a:prstGeom prst="rect">
            <a:avLst/>
          </a:prstGeom>
        </p:spPr>
      </p:pic>
      <p:sp>
        <p:nvSpPr>
          <p:cNvPr id="63" name="Text 42"/>
          <p:cNvSpPr txBox="1"/>
          <p:nvPr/>
        </p:nvSpPr>
        <p:spPr>
          <a:xfrm>
            <a:off x="5296662" y="51663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View bids</a:t>
            </a:r>
            <a:endParaRPr lang="en-US" sz="1000" dirty="0"/>
          </a:p>
        </p:txBody>
      </p:sp>
      <p:pic>
        <p:nvPicPr>
          <p:cNvPr id="64" name="Image 19" descr="preencoded.png">    </p:cNvPr>
          <p:cNvPicPr>
            <a:picLocks noChangeAspect="1"/>
          </p:cNvPicPr>
          <p:nvPr/>
        </p:nvPicPr>
        <p:blipFill>
          <a:blip r:embed="rId21"/>
          <a:stretch>
            <a:fillRect/>
          </a:stretch>
        </p:blipFill>
        <p:spPr>
          <a:xfrm>
            <a:off x="5058918" y="5687568"/>
            <a:ext cx="155448" cy="155448"/>
          </a:xfrm>
          <a:prstGeom prst="rect">
            <a:avLst/>
          </a:prstGeom>
        </p:spPr>
      </p:pic>
      <p:sp>
        <p:nvSpPr>
          <p:cNvPr id="65" name="Text 43"/>
          <p:cNvSpPr txBox="1"/>
          <p:nvPr/>
        </p:nvSpPr>
        <p:spPr>
          <a:xfrm>
            <a:off x="5296662" y="56235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Monitor platform activity</a:t>
            </a:r>
            <a:endParaRPr lang="en-US" sz="1000" dirty="0"/>
          </a:p>
        </p:txBody>
      </p:sp>
      <p:sp>
        <p:nvSpPr>
          <p:cNvPr id="66" name="Shape 44"/>
          <p:cNvSpPr/>
          <p:nvPr/>
        </p:nvSpPr>
        <p:spPr>
          <a:xfrm>
            <a:off x="7146036" y="3429000"/>
            <a:ext cx="2087118" cy="2697480"/>
          </a:xfrm>
          <a:prstGeom prst="roundRect">
            <a:avLst>
              <a:gd name="adj" fmla="val 5257"/>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67" name="Shape 45"/>
          <p:cNvSpPr/>
          <p:nvPr/>
        </p:nvSpPr>
        <p:spPr>
          <a:xfrm>
            <a:off x="7328916" y="3611880"/>
            <a:ext cx="457200" cy="457200"/>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68" name="Image 20" descr="preencoded.png">    </p:cNvPr>
          <p:cNvPicPr>
            <a:picLocks noChangeAspect="1"/>
          </p:cNvPicPr>
          <p:nvPr/>
        </p:nvPicPr>
        <p:blipFill>
          <a:blip r:embed="rId22"/>
          <a:stretch>
            <a:fillRect/>
          </a:stretch>
        </p:blipFill>
        <p:spPr>
          <a:xfrm>
            <a:off x="7443216" y="3726180"/>
            <a:ext cx="228600" cy="228600"/>
          </a:xfrm>
          <a:prstGeom prst="rect">
            <a:avLst/>
          </a:prstGeom>
        </p:spPr>
      </p:pic>
      <p:sp>
        <p:nvSpPr>
          <p:cNvPr id="69" name="Text 46"/>
          <p:cNvSpPr txBox="1"/>
          <p:nvPr/>
        </p:nvSpPr>
        <p:spPr>
          <a:xfrm>
            <a:off x="7328916" y="4206240"/>
            <a:ext cx="1767078" cy="457200"/>
          </a:xfrm>
          <a:prstGeom prst="rect">
            <a:avLst/>
          </a:prstGeom>
          <a:noFill/>
          <a:ln/>
        </p:spPr>
        <p:txBody>
          <a:bodyPr wrap="square" lIns="0" tIns="0" rIns="0" bIns="0" rtlCol="0" anchor="ctr"/>
          <a:lstStyle/>
          <a:p>
            <a:pPr indent="0" marL="0">
              <a:buNone/>
            </a:pPr>
            <a:r>
              <a:rPr lang="en-US" sz="950" b="1" dirty="0">
                <a:solidFill>
                  <a:srgbClr val="0B1930"/>
                </a:solidFill>
                <a:latin typeface="Poppins" pitchFamily="34" charset="0"/>
                <a:ea typeface="Poppins" pitchFamily="34" charset="-122"/>
                <a:cs typeface="Poppins" pitchFamily="34" charset="-120"/>
              </a:rPr>
              <a:t>PLAN MANAGEMENT</a:t>
            </a:r>
            <a:endParaRPr lang="en-US" sz="950" dirty="0"/>
          </a:p>
        </p:txBody>
      </p:sp>
      <p:pic>
        <p:nvPicPr>
          <p:cNvPr id="70" name="Image 21" descr="preencoded.png">    </p:cNvPr>
          <p:cNvPicPr>
            <a:picLocks noChangeAspect="1"/>
          </p:cNvPicPr>
          <p:nvPr/>
        </p:nvPicPr>
        <p:blipFill>
          <a:blip r:embed="rId23"/>
          <a:stretch>
            <a:fillRect/>
          </a:stretch>
        </p:blipFill>
        <p:spPr>
          <a:xfrm>
            <a:off x="7328916" y="4773168"/>
            <a:ext cx="155448" cy="155448"/>
          </a:xfrm>
          <a:prstGeom prst="rect">
            <a:avLst/>
          </a:prstGeom>
        </p:spPr>
      </p:pic>
      <p:sp>
        <p:nvSpPr>
          <p:cNvPr id="71" name="Text 47"/>
          <p:cNvSpPr txBox="1"/>
          <p:nvPr/>
        </p:nvSpPr>
        <p:spPr>
          <a:xfrm>
            <a:off x="7566660" y="47091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Create credit plans</a:t>
            </a:r>
            <a:endParaRPr lang="en-US" sz="1000" dirty="0"/>
          </a:p>
        </p:txBody>
      </p:sp>
      <p:pic>
        <p:nvPicPr>
          <p:cNvPr id="72" name="Image 22" descr="preencoded.png">    </p:cNvPr>
          <p:cNvPicPr>
            <a:picLocks noChangeAspect="1"/>
          </p:cNvPicPr>
          <p:nvPr/>
        </p:nvPicPr>
        <p:blipFill>
          <a:blip r:embed="rId24"/>
          <a:stretch>
            <a:fillRect/>
          </a:stretch>
        </p:blipFill>
        <p:spPr>
          <a:xfrm>
            <a:off x="7328916" y="5230368"/>
            <a:ext cx="155448" cy="155448"/>
          </a:xfrm>
          <a:prstGeom prst="rect">
            <a:avLst/>
          </a:prstGeom>
        </p:spPr>
      </p:pic>
      <p:sp>
        <p:nvSpPr>
          <p:cNvPr id="73" name="Text 48"/>
          <p:cNvSpPr txBox="1"/>
          <p:nvPr/>
        </p:nvSpPr>
        <p:spPr>
          <a:xfrm>
            <a:off x="7566660" y="51663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Delete credit plans</a:t>
            </a:r>
            <a:endParaRPr lang="en-US" sz="1000" dirty="0"/>
          </a:p>
        </p:txBody>
      </p:sp>
      <p:sp>
        <p:nvSpPr>
          <p:cNvPr id="74" name="Shape 49"/>
          <p:cNvSpPr/>
          <p:nvPr/>
        </p:nvSpPr>
        <p:spPr>
          <a:xfrm>
            <a:off x="9416034" y="3429000"/>
            <a:ext cx="2087118" cy="2697480"/>
          </a:xfrm>
          <a:prstGeom prst="roundRect">
            <a:avLst>
              <a:gd name="adj" fmla="val 5257"/>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75" name="Shape 50"/>
          <p:cNvSpPr/>
          <p:nvPr/>
        </p:nvSpPr>
        <p:spPr>
          <a:xfrm>
            <a:off x="9598914" y="3611880"/>
            <a:ext cx="457200" cy="457200"/>
          </a:xfrm>
          <a:prstGeom prst="ellipse">
            <a:avLst/>
          </a:prstGeom>
          <a:solidFill>
            <a:srgbClr val="0B1930"/>
          </a:solidFill>
          <a:ln/>
          <a:effectLst>
            <a:outerShdw sx="100000" sy="100000" kx="0" ky="0" algn="bl" rotWithShape="0" blurRad="152400" dist="38100" dir="5400000">
              <a:srgbClr val="0B1930">
                <a:alpha val="12000"/>
              </a:srgbClr>
            </a:outerShdw>
          </a:effectLst>
        </p:spPr>
      </p:sp>
      <p:pic>
        <p:nvPicPr>
          <p:cNvPr id="76" name="Image 23" descr="preencoded.png">    </p:cNvPr>
          <p:cNvPicPr>
            <a:picLocks noChangeAspect="1"/>
          </p:cNvPicPr>
          <p:nvPr/>
        </p:nvPicPr>
        <p:blipFill>
          <a:blip r:embed="rId25"/>
          <a:stretch>
            <a:fillRect/>
          </a:stretch>
        </p:blipFill>
        <p:spPr>
          <a:xfrm>
            <a:off x="9713214" y="3726180"/>
            <a:ext cx="228600" cy="228600"/>
          </a:xfrm>
          <a:prstGeom prst="rect">
            <a:avLst/>
          </a:prstGeom>
        </p:spPr>
      </p:pic>
      <p:sp>
        <p:nvSpPr>
          <p:cNvPr id="77" name="Text 51"/>
          <p:cNvSpPr txBox="1"/>
          <p:nvPr/>
        </p:nvSpPr>
        <p:spPr>
          <a:xfrm>
            <a:off x="9598914" y="4206240"/>
            <a:ext cx="1767078" cy="457200"/>
          </a:xfrm>
          <a:prstGeom prst="rect">
            <a:avLst/>
          </a:prstGeom>
          <a:noFill/>
          <a:ln/>
        </p:spPr>
        <p:txBody>
          <a:bodyPr wrap="square" lIns="0" tIns="0" rIns="0" bIns="0" rtlCol="0" anchor="ctr"/>
          <a:lstStyle/>
          <a:p>
            <a:pPr indent="0" marL="0">
              <a:buNone/>
            </a:pPr>
            <a:r>
              <a:rPr lang="en-US" sz="950" b="1" dirty="0">
                <a:solidFill>
                  <a:srgbClr val="0B1930"/>
                </a:solidFill>
                <a:latin typeface="Poppins" pitchFamily="34" charset="0"/>
                <a:ea typeface="Poppins" pitchFamily="34" charset="-122"/>
                <a:cs typeface="Poppins" pitchFamily="34" charset="-120"/>
              </a:rPr>
              <a:t>ADMIN PROFILE</a:t>
            </a:r>
            <a:endParaRPr lang="en-US" sz="950" dirty="0"/>
          </a:p>
        </p:txBody>
      </p:sp>
      <p:pic>
        <p:nvPicPr>
          <p:cNvPr id="78" name="Image 24" descr="preencoded.png">    </p:cNvPr>
          <p:cNvPicPr>
            <a:picLocks noChangeAspect="1"/>
          </p:cNvPicPr>
          <p:nvPr/>
        </p:nvPicPr>
        <p:blipFill>
          <a:blip r:embed="rId26"/>
          <a:stretch>
            <a:fillRect/>
          </a:stretch>
        </p:blipFill>
        <p:spPr>
          <a:xfrm>
            <a:off x="9598914" y="4773168"/>
            <a:ext cx="155448" cy="155448"/>
          </a:xfrm>
          <a:prstGeom prst="rect">
            <a:avLst/>
          </a:prstGeom>
        </p:spPr>
      </p:pic>
      <p:sp>
        <p:nvSpPr>
          <p:cNvPr id="79" name="Text 52"/>
          <p:cNvSpPr txBox="1"/>
          <p:nvPr/>
        </p:nvSpPr>
        <p:spPr>
          <a:xfrm>
            <a:off x="9836658" y="4709160"/>
            <a:ext cx="1538478" cy="457200"/>
          </a:xfrm>
          <a:prstGeom prst="rect">
            <a:avLst/>
          </a:prstGeom>
          <a:noFill/>
          <a:ln/>
        </p:spPr>
        <p:txBody>
          <a:bodyPr wrap="square" lIns="0" tIns="0" rIns="0" bIns="0" rtlCol="0" anchor="t"/>
          <a:lstStyle/>
          <a:p>
            <a:pPr indent="0" marL="0">
              <a:buNone/>
            </a:pPr>
            <a:r>
              <a:rPr lang="en-US" sz="1000" dirty="0">
                <a:solidFill>
                  <a:srgbClr val="1F2A3D"/>
                </a:solidFill>
                <a:latin typeface="Poppins" pitchFamily="34" charset="0"/>
                <a:ea typeface="Poppins" pitchFamily="34" charset="-122"/>
                <a:cs typeface="Poppins" pitchFamily="34" charset="-120"/>
              </a:rPr>
              <a:t>Maintain admin profile information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0B1930"/>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spc="150" kern="0" dirty="0">
                <a:solidFill>
                  <a:srgbClr val="0B7F77"/>
                </a:solidFill>
                <a:latin typeface="Poppins" pitchFamily="34" charset="0"/>
                <a:ea typeface="Poppins" pitchFamily="34" charset="-122"/>
                <a:cs typeface="Poppins" pitchFamily="34" charset="-120"/>
              </a:rPr>
              <a:t>SECURITY &amp; PAYMENTS</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64748B"/>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64748B"/>
                </a:solidFill>
                <a:latin typeface="Poppins" pitchFamily="34" charset="0"/>
                <a:ea typeface="Poppins" pitchFamily="34" charset="-122"/>
                <a:cs typeface="Poppins" pitchFamily="34" charset="-120"/>
              </a:rPr>
              <a:t>Aman Pandey    11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D0DAE8"/>
                </a:solidFill>
                <a:latin typeface="Poppins" pitchFamily="34" charset="0"/>
                <a:ea typeface="Poppins" pitchFamily="34" charset="-122"/>
                <a:cs typeface="Poppins" pitchFamily="34" charset="-120"/>
              </a:rPr>
              <a:t>11</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0B1930"/>
                </a:solidFill>
                <a:latin typeface="Poppins" pitchFamily="34" charset="0"/>
                <a:ea typeface="Poppins" pitchFamily="34" charset="-122"/>
                <a:cs typeface="Poppins" pitchFamily="34" charset="-120"/>
              </a:rPr>
              <a:t>Security, Validation &amp; Payments</a:t>
            </a:r>
            <a:endParaRPr lang="en-US" sz="3000" dirty="0"/>
          </a:p>
        </p:txBody>
      </p:sp>
      <p:sp>
        <p:nvSpPr>
          <p:cNvPr id="9" name="Shape 6"/>
          <p:cNvSpPr/>
          <p:nvPr/>
        </p:nvSpPr>
        <p:spPr>
          <a:xfrm>
            <a:off x="457200" y="1554480"/>
            <a:ext cx="3575304" cy="1828800"/>
          </a:xfrm>
          <a:prstGeom prst="roundRect">
            <a:avLst>
              <a:gd name="adj" fmla="val 7000"/>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0" name="Shape 7"/>
          <p:cNvSpPr/>
          <p:nvPr/>
        </p:nvSpPr>
        <p:spPr>
          <a:xfrm>
            <a:off x="685800" y="1755648"/>
            <a:ext cx="566928" cy="566928"/>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11" name="Image 1" descr="preencoded.png">    </p:cNvPr>
          <p:cNvPicPr>
            <a:picLocks noChangeAspect="1"/>
          </p:cNvPicPr>
          <p:nvPr/>
        </p:nvPicPr>
        <p:blipFill>
          <a:blip r:embed="rId3"/>
          <a:stretch>
            <a:fillRect/>
          </a:stretch>
        </p:blipFill>
        <p:spPr>
          <a:xfrm>
            <a:off x="827532" y="1897380"/>
            <a:ext cx="283464" cy="283464"/>
          </a:xfrm>
          <a:prstGeom prst="rect">
            <a:avLst/>
          </a:prstGeom>
        </p:spPr>
      </p:pic>
      <p:sp>
        <p:nvSpPr>
          <p:cNvPr id="12" name="Text 8"/>
          <p:cNvSpPr txBox="1"/>
          <p:nvPr/>
        </p:nvSpPr>
        <p:spPr>
          <a:xfrm>
            <a:off x="1417320" y="1755648"/>
            <a:ext cx="2478024" cy="566928"/>
          </a:xfrm>
          <a:prstGeom prst="rect">
            <a:avLst/>
          </a:prstGeom>
          <a:noFill/>
          <a:ln/>
        </p:spPr>
        <p:txBody>
          <a:bodyPr wrap="square" lIns="0" tIns="0" rIns="0" bIns="0" rtlCol="0" anchor="ctr"/>
          <a:lstStyle/>
          <a:p>
            <a:pPr indent="0" marL="0">
              <a:buNone/>
            </a:pPr>
            <a:r>
              <a:rPr lang="en-US" sz="1150" b="1" dirty="0">
                <a:solidFill>
                  <a:srgbClr val="0B1930"/>
                </a:solidFill>
                <a:latin typeface="Poppins" pitchFamily="34" charset="0"/>
                <a:ea typeface="Poppins" pitchFamily="34" charset="-122"/>
                <a:cs typeface="Poppins" pitchFamily="34" charset="-120"/>
              </a:rPr>
              <a:t>JWT AUTHENTICATION</a:t>
            </a:r>
            <a:endParaRPr lang="en-US" sz="1150" dirty="0"/>
          </a:p>
        </p:txBody>
      </p:sp>
      <p:sp>
        <p:nvSpPr>
          <p:cNvPr id="13" name="Text 9"/>
          <p:cNvSpPr txBox="1"/>
          <p:nvPr/>
        </p:nvSpPr>
        <p:spPr>
          <a:xfrm>
            <a:off x="685800" y="2423160"/>
            <a:ext cx="3118104" cy="50292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Protected routes require a valid Bearer token.</a:t>
            </a:r>
            <a:endParaRPr lang="en-US" sz="1050" dirty="0"/>
          </a:p>
        </p:txBody>
      </p:sp>
      <p:sp>
        <p:nvSpPr>
          <p:cNvPr id="14" name="Text 10"/>
          <p:cNvSpPr txBox="1"/>
          <p:nvPr/>
        </p:nvSpPr>
        <p:spPr>
          <a:xfrm>
            <a:off x="685800" y="2971800"/>
            <a:ext cx="2286000" cy="274320"/>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dirty="0">
                <a:solidFill>
                  <a:srgbClr val="0B7F77"/>
                </a:solidFill>
                <a:latin typeface="Poppins" pitchFamily="34" charset="0"/>
                <a:ea typeface="Poppins" pitchFamily="34" charset="-122"/>
                <a:cs typeface="Poppins" pitchFamily="34" charset="-120"/>
              </a:rPr>
              <a:t>Token expiry: 7 days</a:t>
            </a:r>
            <a:endParaRPr lang="en-US" sz="900" dirty="0"/>
          </a:p>
        </p:txBody>
      </p:sp>
      <p:sp>
        <p:nvSpPr>
          <p:cNvPr id="15" name="Shape 11"/>
          <p:cNvSpPr/>
          <p:nvPr/>
        </p:nvSpPr>
        <p:spPr>
          <a:xfrm>
            <a:off x="4306824" y="1554480"/>
            <a:ext cx="3575304" cy="1828800"/>
          </a:xfrm>
          <a:prstGeom prst="roundRect">
            <a:avLst>
              <a:gd name="adj" fmla="val 7000"/>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16" name="Shape 12"/>
          <p:cNvSpPr/>
          <p:nvPr/>
        </p:nvSpPr>
        <p:spPr>
          <a:xfrm>
            <a:off x="4535424" y="1755648"/>
            <a:ext cx="566928" cy="566928"/>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17" name="Image 2" descr="preencoded.png">    </p:cNvPr>
          <p:cNvPicPr>
            <a:picLocks noChangeAspect="1"/>
          </p:cNvPicPr>
          <p:nvPr/>
        </p:nvPicPr>
        <p:blipFill>
          <a:blip r:embed="rId4"/>
          <a:stretch>
            <a:fillRect/>
          </a:stretch>
        </p:blipFill>
        <p:spPr>
          <a:xfrm>
            <a:off x="4677156" y="1897380"/>
            <a:ext cx="283464" cy="283464"/>
          </a:xfrm>
          <a:prstGeom prst="rect">
            <a:avLst/>
          </a:prstGeom>
        </p:spPr>
      </p:pic>
      <p:sp>
        <p:nvSpPr>
          <p:cNvPr id="18" name="Text 13"/>
          <p:cNvSpPr txBox="1"/>
          <p:nvPr/>
        </p:nvSpPr>
        <p:spPr>
          <a:xfrm>
            <a:off x="5266944" y="1755648"/>
            <a:ext cx="2478024" cy="566928"/>
          </a:xfrm>
          <a:prstGeom prst="rect">
            <a:avLst/>
          </a:prstGeom>
          <a:noFill/>
          <a:ln/>
        </p:spPr>
        <p:txBody>
          <a:bodyPr wrap="square" lIns="0" tIns="0" rIns="0" bIns="0" rtlCol="0" anchor="ctr"/>
          <a:lstStyle/>
          <a:p>
            <a:pPr indent="0" marL="0">
              <a:buNone/>
            </a:pPr>
            <a:r>
              <a:rPr lang="en-US" sz="1150" b="1" dirty="0">
                <a:solidFill>
                  <a:srgbClr val="0B1930"/>
                </a:solidFill>
                <a:latin typeface="Poppins" pitchFamily="34" charset="0"/>
                <a:ea typeface="Poppins" pitchFamily="34" charset="-122"/>
                <a:cs typeface="Poppins" pitchFamily="34" charset="-120"/>
              </a:rPr>
              <a:t>PASSWORD SECURITY</a:t>
            </a:r>
            <a:endParaRPr lang="en-US" sz="1150" dirty="0"/>
          </a:p>
        </p:txBody>
      </p:sp>
      <p:sp>
        <p:nvSpPr>
          <p:cNvPr id="19" name="Text 14"/>
          <p:cNvSpPr txBox="1"/>
          <p:nvPr/>
        </p:nvSpPr>
        <p:spPr>
          <a:xfrm>
            <a:off x="4535424" y="2423160"/>
            <a:ext cx="3118104" cy="50292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Passwords are hashed using bcryptjs.</a:t>
            </a:r>
            <a:endParaRPr lang="en-US" sz="1050" dirty="0"/>
          </a:p>
        </p:txBody>
      </p:sp>
      <p:sp>
        <p:nvSpPr>
          <p:cNvPr id="20" name="Text 15"/>
          <p:cNvSpPr txBox="1"/>
          <p:nvPr/>
        </p:nvSpPr>
        <p:spPr>
          <a:xfrm>
            <a:off x="4535424" y="2971800"/>
            <a:ext cx="2286000" cy="274320"/>
          </a:xfrm>
          <a:prstGeom prst="roundRect">
            <a:avLst>
              <a:gd name="adj" fmla="val 50000"/>
            </a:avLst>
          </a:prstGeom>
          <a:solidFill>
            <a:srgbClr val="FDEAEA"/>
          </a:solidFill>
          <a:ln/>
        </p:spPr>
        <p:txBody>
          <a:bodyPr wrap="square" lIns="0" tIns="0" rIns="0" bIns="0" rtlCol="0" anchor="ctr"/>
          <a:lstStyle/>
          <a:p>
            <a:pPr algn="ctr" indent="0" marL="0">
              <a:buNone/>
            </a:pPr>
            <a:r>
              <a:rPr lang="en-US" sz="900" b="1" dirty="0">
                <a:solidFill>
                  <a:srgbClr val="C2403E"/>
                </a:solidFill>
                <a:latin typeface="Poppins" pitchFamily="34" charset="0"/>
                <a:ea typeface="Poppins" pitchFamily="34" charset="-122"/>
                <a:cs typeface="Poppins" pitchFamily="34" charset="-120"/>
              </a:rPr>
              <a:t>Hashed, never plain text</a:t>
            </a:r>
            <a:endParaRPr lang="en-US" sz="900" dirty="0"/>
          </a:p>
        </p:txBody>
      </p:sp>
      <p:sp>
        <p:nvSpPr>
          <p:cNvPr id="21" name="Shape 16"/>
          <p:cNvSpPr/>
          <p:nvPr/>
        </p:nvSpPr>
        <p:spPr>
          <a:xfrm>
            <a:off x="8156448" y="1554480"/>
            <a:ext cx="3575304" cy="1828800"/>
          </a:xfrm>
          <a:prstGeom prst="roundRect">
            <a:avLst>
              <a:gd name="adj" fmla="val 7000"/>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2" name="Shape 17"/>
          <p:cNvSpPr/>
          <p:nvPr/>
        </p:nvSpPr>
        <p:spPr>
          <a:xfrm>
            <a:off x="8385048" y="1755648"/>
            <a:ext cx="566928" cy="566928"/>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23" name="Image 3" descr="preencoded.png">    </p:cNvPr>
          <p:cNvPicPr>
            <a:picLocks noChangeAspect="1"/>
          </p:cNvPicPr>
          <p:nvPr/>
        </p:nvPicPr>
        <p:blipFill>
          <a:blip r:embed="rId5"/>
          <a:stretch>
            <a:fillRect/>
          </a:stretch>
        </p:blipFill>
        <p:spPr>
          <a:xfrm>
            <a:off x="8526780" y="1897380"/>
            <a:ext cx="283464" cy="283464"/>
          </a:xfrm>
          <a:prstGeom prst="rect">
            <a:avLst/>
          </a:prstGeom>
        </p:spPr>
      </p:pic>
      <p:sp>
        <p:nvSpPr>
          <p:cNvPr id="24" name="Text 18"/>
          <p:cNvSpPr txBox="1"/>
          <p:nvPr/>
        </p:nvSpPr>
        <p:spPr>
          <a:xfrm>
            <a:off x="9116568" y="1755648"/>
            <a:ext cx="2478024" cy="566928"/>
          </a:xfrm>
          <a:prstGeom prst="rect">
            <a:avLst/>
          </a:prstGeom>
          <a:noFill/>
          <a:ln/>
        </p:spPr>
        <p:txBody>
          <a:bodyPr wrap="square" lIns="0" tIns="0" rIns="0" bIns="0" rtlCol="0" anchor="ctr"/>
          <a:lstStyle/>
          <a:p>
            <a:pPr indent="0" marL="0">
              <a:buNone/>
            </a:pPr>
            <a:r>
              <a:rPr lang="en-US" sz="1150" b="1" dirty="0">
                <a:solidFill>
                  <a:srgbClr val="0B1930"/>
                </a:solidFill>
                <a:latin typeface="Poppins" pitchFamily="34" charset="0"/>
                <a:ea typeface="Poppins" pitchFamily="34" charset="-122"/>
                <a:cs typeface="Poppins" pitchFamily="34" charset="-120"/>
              </a:rPr>
              <a:t>EMAIL OTP</a:t>
            </a:r>
            <a:endParaRPr lang="en-US" sz="1150" dirty="0"/>
          </a:p>
        </p:txBody>
      </p:sp>
      <p:sp>
        <p:nvSpPr>
          <p:cNvPr id="25" name="Text 19"/>
          <p:cNvSpPr txBox="1"/>
          <p:nvPr/>
        </p:nvSpPr>
        <p:spPr>
          <a:xfrm>
            <a:off x="8385048" y="2423160"/>
            <a:ext cx="3118104" cy="50292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OTP verification has a 10-minute expiry window.</a:t>
            </a:r>
            <a:endParaRPr lang="en-US" sz="1050" dirty="0"/>
          </a:p>
        </p:txBody>
      </p:sp>
      <p:sp>
        <p:nvSpPr>
          <p:cNvPr id="26" name="Text 20"/>
          <p:cNvSpPr txBox="1"/>
          <p:nvPr/>
        </p:nvSpPr>
        <p:spPr>
          <a:xfrm>
            <a:off x="8385048" y="2971800"/>
            <a:ext cx="2286000" cy="274320"/>
          </a:xfrm>
          <a:prstGeom prst="roundRect">
            <a:avLst>
              <a:gd name="adj" fmla="val 50000"/>
            </a:avLst>
          </a:prstGeom>
          <a:solidFill>
            <a:srgbClr val="FEF0DF"/>
          </a:solidFill>
          <a:ln/>
        </p:spPr>
        <p:txBody>
          <a:bodyPr wrap="square" lIns="0" tIns="0" rIns="0" bIns="0" rtlCol="0" anchor="ctr"/>
          <a:lstStyle/>
          <a:p>
            <a:pPr algn="ctr" indent="0" marL="0">
              <a:buNone/>
            </a:pPr>
            <a:r>
              <a:rPr lang="en-US" sz="900" b="1" dirty="0">
                <a:solidFill>
                  <a:srgbClr val="B45F0B"/>
                </a:solidFill>
                <a:latin typeface="Poppins" pitchFamily="34" charset="0"/>
                <a:ea typeface="Poppins" pitchFamily="34" charset="-122"/>
                <a:cs typeface="Poppins" pitchFamily="34" charset="-120"/>
              </a:rPr>
              <a:t>Expires in 10 minutes</a:t>
            </a:r>
            <a:endParaRPr lang="en-US" sz="900" dirty="0"/>
          </a:p>
        </p:txBody>
      </p:sp>
      <p:sp>
        <p:nvSpPr>
          <p:cNvPr id="27" name="Shape 21"/>
          <p:cNvSpPr/>
          <p:nvPr/>
        </p:nvSpPr>
        <p:spPr>
          <a:xfrm>
            <a:off x="457200" y="3584448"/>
            <a:ext cx="3575304" cy="1828800"/>
          </a:xfrm>
          <a:prstGeom prst="roundRect">
            <a:avLst>
              <a:gd name="adj" fmla="val 7000"/>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28" name="Shape 22"/>
          <p:cNvSpPr/>
          <p:nvPr/>
        </p:nvSpPr>
        <p:spPr>
          <a:xfrm>
            <a:off x="685800" y="3785616"/>
            <a:ext cx="566928" cy="566928"/>
          </a:xfrm>
          <a:prstGeom prst="ellipse">
            <a:avLst/>
          </a:prstGeom>
          <a:solidFill>
            <a:srgbClr val="12AEA4"/>
          </a:solidFill>
          <a:ln/>
          <a:effectLst>
            <a:outerShdw sx="100000" sy="100000" kx="0" ky="0" algn="bl" rotWithShape="0" blurRad="152400" dist="38100" dir="5400000">
              <a:srgbClr val="0B1930">
                <a:alpha val="12000"/>
              </a:srgbClr>
            </a:outerShdw>
          </a:effectLst>
        </p:spPr>
      </p:sp>
      <p:pic>
        <p:nvPicPr>
          <p:cNvPr id="29" name="Image 4" descr="preencoded.png">    </p:cNvPr>
          <p:cNvPicPr>
            <a:picLocks noChangeAspect="1"/>
          </p:cNvPicPr>
          <p:nvPr/>
        </p:nvPicPr>
        <p:blipFill>
          <a:blip r:embed="rId6"/>
          <a:stretch>
            <a:fillRect/>
          </a:stretch>
        </p:blipFill>
        <p:spPr>
          <a:xfrm>
            <a:off x="827532" y="3927348"/>
            <a:ext cx="283464" cy="283464"/>
          </a:xfrm>
          <a:prstGeom prst="rect">
            <a:avLst/>
          </a:prstGeom>
        </p:spPr>
      </p:pic>
      <p:sp>
        <p:nvSpPr>
          <p:cNvPr id="30" name="Text 23"/>
          <p:cNvSpPr txBox="1"/>
          <p:nvPr/>
        </p:nvSpPr>
        <p:spPr>
          <a:xfrm>
            <a:off x="1417320" y="3785616"/>
            <a:ext cx="2478024" cy="566928"/>
          </a:xfrm>
          <a:prstGeom prst="rect">
            <a:avLst/>
          </a:prstGeom>
          <a:noFill/>
          <a:ln/>
        </p:spPr>
        <p:txBody>
          <a:bodyPr wrap="square" lIns="0" tIns="0" rIns="0" bIns="0" rtlCol="0" anchor="ctr"/>
          <a:lstStyle/>
          <a:p>
            <a:pPr indent="0" marL="0">
              <a:buNone/>
            </a:pPr>
            <a:r>
              <a:rPr lang="en-US" sz="1150" b="1" dirty="0">
                <a:solidFill>
                  <a:srgbClr val="0B1930"/>
                </a:solidFill>
                <a:latin typeface="Poppins" pitchFamily="34" charset="0"/>
                <a:ea typeface="Poppins" pitchFamily="34" charset="-122"/>
                <a:cs typeface="Poppins" pitchFamily="34" charset="-120"/>
              </a:rPr>
              <a:t>INPUT VALIDATION</a:t>
            </a:r>
            <a:endParaRPr lang="en-US" sz="1150" dirty="0"/>
          </a:p>
        </p:txBody>
      </p:sp>
      <p:sp>
        <p:nvSpPr>
          <p:cNvPr id="31" name="Text 24"/>
          <p:cNvSpPr txBox="1"/>
          <p:nvPr/>
        </p:nvSpPr>
        <p:spPr>
          <a:xfrm>
            <a:off x="685800" y="4453128"/>
            <a:ext cx="3118104" cy="50292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Forms are validated before submission.</a:t>
            </a:r>
            <a:endParaRPr lang="en-US" sz="1050" dirty="0"/>
          </a:p>
        </p:txBody>
      </p:sp>
      <p:sp>
        <p:nvSpPr>
          <p:cNvPr id="32" name="Text 25"/>
          <p:cNvSpPr txBox="1"/>
          <p:nvPr/>
        </p:nvSpPr>
        <p:spPr>
          <a:xfrm>
            <a:off x="685800" y="5001768"/>
            <a:ext cx="2286000" cy="274320"/>
          </a:xfrm>
          <a:prstGeom prst="roundRect">
            <a:avLst>
              <a:gd name="adj" fmla="val 50000"/>
            </a:avLst>
          </a:prstGeom>
          <a:solidFill>
            <a:srgbClr val="DFF5F3"/>
          </a:solidFill>
          <a:ln/>
        </p:spPr>
        <p:txBody>
          <a:bodyPr wrap="square" lIns="0" tIns="0" rIns="0" bIns="0" rtlCol="0" anchor="ctr"/>
          <a:lstStyle/>
          <a:p>
            <a:pPr algn="ctr" indent="0" marL="0">
              <a:buNone/>
            </a:pPr>
            <a:r>
              <a:rPr lang="en-US" sz="900" b="1" dirty="0">
                <a:solidFill>
                  <a:srgbClr val="0B7F77"/>
                </a:solidFill>
                <a:latin typeface="Poppins" pitchFamily="34" charset="0"/>
                <a:ea typeface="Poppins" pitchFamily="34" charset="-122"/>
                <a:cs typeface="Poppins" pitchFamily="34" charset="-120"/>
              </a:rPr>
              <a:t>React Hook Form + Yup</a:t>
            </a:r>
            <a:endParaRPr lang="en-US" sz="900" dirty="0"/>
          </a:p>
        </p:txBody>
      </p:sp>
      <p:sp>
        <p:nvSpPr>
          <p:cNvPr id="33" name="Shape 26"/>
          <p:cNvSpPr/>
          <p:nvPr/>
        </p:nvSpPr>
        <p:spPr>
          <a:xfrm>
            <a:off x="4306824" y="3584448"/>
            <a:ext cx="3575304" cy="1828800"/>
          </a:xfrm>
          <a:prstGeom prst="roundRect">
            <a:avLst>
              <a:gd name="adj" fmla="val 7000"/>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34" name="Shape 27"/>
          <p:cNvSpPr/>
          <p:nvPr/>
        </p:nvSpPr>
        <p:spPr>
          <a:xfrm>
            <a:off x="4535424" y="3785616"/>
            <a:ext cx="566928" cy="566928"/>
          </a:xfrm>
          <a:prstGeom prst="ellipse">
            <a:avLst/>
          </a:prstGeom>
          <a:solidFill>
            <a:srgbClr val="EF5B59"/>
          </a:solidFill>
          <a:ln/>
          <a:effectLst>
            <a:outerShdw sx="100000" sy="100000" kx="0" ky="0" algn="bl" rotWithShape="0" blurRad="152400" dist="38100" dir="5400000">
              <a:srgbClr val="0B1930">
                <a:alpha val="12000"/>
              </a:srgbClr>
            </a:outerShdw>
          </a:effectLst>
        </p:spPr>
      </p:sp>
      <p:pic>
        <p:nvPicPr>
          <p:cNvPr id="35" name="Image 5" descr="preencoded.png">    </p:cNvPr>
          <p:cNvPicPr>
            <a:picLocks noChangeAspect="1"/>
          </p:cNvPicPr>
          <p:nvPr/>
        </p:nvPicPr>
        <p:blipFill>
          <a:blip r:embed="rId7"/>
          <a:stretch>
            <a:fillRect/>
          </a:stretch>
        </p:blipFill>
        <p:spPr>
          <a:xfrm>
            <a:off x="4677156" y="3927348"/>
            <a:ext cx="283464" cy="283464"/>
          </a:xfrm>
          <a:prstGeom prst="rect">
            <a:avLst/>
          </a:prstGeom>
        </p:spPr>
      </p:pic>
      <p:sp>
        <p:nvSpPr>
          <p:cNvPr id="36" name="Text 28"/>
          <p:cNvSpPr txBox="1"/>
          <p:nvPr/>
        </p:nvSpPr>
        <p:spPr>
          <a:xfrm>
            <a:off x="5266944" y="3785616"/>
            <a:ext cx="2478024" cy="566928"/>
          </a:xfrm>
          <a:prstGeom prst="rect">
            <a:avLst/>
          </a:prstGeom>
          <a:noFill/>
          <a:ln/>
        </p:spPr>
        <p:txBody>
          <a:bodyPr wrap="square" lIns="0" tIns="0" rIns="0" bIns="0" rtlCol="0" anchor="ctr"/>
          <a:lstStyle/>
          <a:p>
            <a:pPr indent="0" marL="0">
              <a:buNone/>
            </a:pPr>
            <a:r>
              <a:rPr lang="en-US" sz="1150" b="1" dirty="0">
                <a:solidFill>
                  <a:srgbClr val="0B1930"/>
                </a:solidFill>
                <a:latin typeface="Poppins" pitchFamily="34" charset="0"/>
                <a:ea typeface="Poppins" pitchFamily="34" charset="-122"/>
                <a:cs typeface="Poppins" pitchFamily="34" charset="-120"/>
              </a:rPr>
              <a:t>BID PROTECTION</a:t>
            </a:r>
            <a:endParaRPr lang="en-US" sz="1150" dirty="0"/>
          </a:p>
        </p:txBody>
      </p:sp>
      <p:sp>
        <p:nvSpPr>
          <p:cNvPr id="37" name="Text 29"/>
          <p:cNvSpPr txBox="1"/>
          <p:nvPr/>
        </p:nvSpPr>
        <p:spPr>
          <a:xfrm>
            <a:off x="4535424" y="4453128"/>
            <a:ext cx="3118104" cy="50292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Duplicate bids are blocked and credit balance is checked.</a:t>
            </a:r>
            <a:endParaRPr lang="en-US" sz="1050" dirty="0"/>
          </a:p>
        </p:txBody>
      </p:sp>
      <p:sp>
        <p:nvSpPr>
          <p:cNvPr id="38" name="Text 30"/>
          <p:cNvSpPr txBox="1"/>
          <p:nvPr/>
        </p:nvSpPr>
        <p:spPr>
          <a:xfrm>
            <a:off x="4535424" y="5001768"/>
            <a:ext cx="2286000" cy="274320"/>
          </a:xfrm>
          <a:prstGeom prst="roundRect">
            <a:avLst>
              <a:gd name="adj" fmla="val 50000"/>
            </a:avLst>
          </a:prstGeom>
          <a:solidFill>
            <a:srgbClr val="FDEAEA"/>
          </a:solidFill>
          <a:ln/>
        </p:spPr>
        <p:txBody>
          <a:bodyPr wrap="square" lIns="0" tIns="0" rIns="0" bIns="0" rtlCol="0" anchor="ctr"/>
          <a:lstStyle/>
          <a:p>
            <a:pPr algn="ctr" indent="0" marL="0">
              <a:buNone/>
            </a:pPr>
            <a:r>
              <a:rPr lang="en-US" sz="900" b="1" dirty="0">
                <a:solidFill>
                  <a:srgbClr val="C2403E"/>
                </a:solidFill>
                <a:latin typeface="Poppins" pitchFamily="34" charset="0"/>
                <a:ea typeface="Poppins" pitchFamily="34" charset="-122"/>
                <a:cs typeface="Poppins" pitchFamily="34" charset="-120"/>
              </a:rPr>
              <a:t>No duplicate bids</a:t>
            </a:r>
            <a:endParaRPr lang="en-US" sz="900" dirty="0"/>
          </a:p>
        </p:txBody>
      </p:sp>
      <p:sp>
        <p:nvSpPr>
          <p:cNvPr id="39" name="Shape 31"/>
          <p:cNvSpPr/>
          <p:nvPr/>
        </p:nvSpPr>
        <p:spPr>
          <a:xfrm>
            <a:off x="8156448" y="3584448"/>
            <a:ext cx="3575304" cy="1828800"/>
          </a:xfrm>
          <a:prstGeom prst="roundRect">
            <a:avLst>
              <a:gd name="adj" fmla="val 7000"/>
            </a:avLst>
          </a:prstGeom>
          <a:solidFill>
            <a:srgbClr val="FFFFFF"/>
          </a:solidFill>
          <a:ln w="9525">
            <a:solidFill>
              <a:srgbClr val="E3E9F1"/>
            </a:solidFill>
            <a:prstDash val="solid"/>
          </a:ln>
          <a:effectLst>
            <a:outerShdw sx="100000" sy="100000" kx="0" ky="0" algn="bl" rotWithShape="0" blurRad="152400" dist="38100" dir="5400000">
              <a:srgbClr val="0B1930">
                <a:alpha val="12000"/>
              </a:srgbClr>
            </a:outerShdw>
          </a:effectLst>
        </p:spPr>
      </p:sp>
      <p:sp>
        <p:nvSpPr>
          <p:cNvPr id="40" name="Shape 32"/>
          <p:cNvSpPr/>
          <p:nvPr/>
        </p:nvSpPr>
        <p:spPr>
          <a:xfrm>
            <a:off x="8385048" y="3785616"/>
            <a:ext cx="566928" cy="566928"/>
          </a:xfrm>
          <a:prstGeom prst="ellipse">
            <a:avLst/>
          </a:prstGeom>
          <a:solidFill>
            <a:srgbClr val="F79330"/>
          </a:solidFill>
          <a:ln/>
          <a:effectLst>
            <a:outerShdw sx="100000" sy="100000" kx="0" ky="0" algn="bl" rotWithShape="0" blurRad="152400" dist="38100" dir="5400000">
              <a:srgbClr val="0B1930">
                <a:alpha val="12000"/>
              </a:srgbClr>
            </a:outerShdw>
          </a:effectLst>
        </p:spPr>
      </p:sp>
      <p:pic>
        <p:nvPicPr>
          <p:cNvPr id="41" name="Image 6" descr="preencoded.png">    </p:cNvPr>
          <p:cNvPicPr>
            <a:picLocks noChangeAspect="1"/>
          </p:cNvPicPr>
          <p:nvPr/>
        </p:nvPicPr>
        <p:blipFill>
          <a:blip r:embed="rId8"/>
          <a:stretch>
            <a:fillRect/>
          </a:stretch>
        </p:blipFill>
        <p:spPr>
          <a:xfrm>
            <a:off x="8526780" y="3927348"/>
            <a:ext cx="283464" cy="283464"/>
          </a:xfrm>
          <a:prstGeom prst="rect">
            <a:avLst/>
          </a:prstGeom>
        </p:spPr>
      </p:pic>
      <p:sp>
        <p:nvSpPr>
          <p:cNvPr id="42" name="Text 33"/>
          <p:cNvSpPr txBox="1"/>
          <p:nvPr/>
        </p:nvSpPr>
        <p:spPr>
          <a:xfrm>
            <a:off x="9116568" y="3785616"/>
            <a:ext cx="2478024" cy="566928"/>
          </a:xfrm>
          <a:prstGeom prst="rect">
            <a:avLst/>
          </a:prstGeom>
          <a:noFill/>
          <a:ln/>
        </p:spPr>
        <p:txBody>
          <a:bodyPr wrap="square" lIns="0" tIns="0" rIns="0" bIns="0" rtlCol="0" anchor="ctr"/>
          <a:lstStyle/>
          <a:p>
            <a:pPr indent="0" marL="0">
              <a:buNone/>
            </a:pPr>
            <a:r>
              <a:rPr lang="en-US" sz="1150" b="1" dirty="0">
                <a:solidFill>
                  <a:srgbClr val="0B1930"/>
                </a:solidFill>
                <a:latin typeface="Poppins" pitchFamily="34" charset="0"/>
                <a:ea typeface="Poppins" pitchFamily="34" charset="-122"/>
                <a:cs typeface="Poppins" pitchFamily="34" charset="-120"/>
              </a:rPr>
              <a:t>RAZORPAY</a:t>
            </a:r>
            <a:endParaRPr lang="en-US" sz="1150" dirty="0"/>
          </a:p>
        </p:txBody>
      </p:sp>
      <p:sp>
        <p:nvSpPr>
          <p:cNvPr id="43" name="Text 34"/>
          <p:cNvSpPr txBox="1"/>
          <p:nvPr/>
        </p:nvSpPr>
        <p:spPr>
          <a:xfrm>
            <a:off x="8385048" y="4453128"/>
            <a:ext cx="3118104" cy="502920"/>
          </a:xfrm>
          <a:prstGeom prst="rect">
            <a:avLst/>
          </a:prstGeom>
          <a:noFill/>
          <a:ln/>
        </p:spPr>
        <p:txBody>
          <a:bodyPr wrap="square" lIns="0" tIns="0" rIns="0" bIns="0" rtlCol="0" anchor="t"/>
          <a:lstStyle/>
          <a:p>
            <a:pPr indent="0" marL="0">
              <a:buNone/>
            </a:pPr>
            <a:r>
              <a:rPr lang="en-US" sz="1050" dirty="0">
                <a:solidFill>
                  <a:srgbClr val="64748B"/>
                </a:solidFill>
                <a:latin typeface="Poppins" pitchFamily="34" charset="0"/>
                <a:ea typeface="Poppins" pitchFamily="34" charset="-122"/>
                <a:cs typeface="Poppins" pitchFamily="34" charset="-120"/>
              </a:rPr>
              <a:t>Order creation and signature verification are supported when configured.</a:t>
            </a:r>
            <a:endParaRPr lang="en-US" sz="1050" dirty="0"/>
          </a:p>
        </p:txBody>
      </p:sp>
      <p:sp>
        <p:nvSpPr>
          <p:cNvPr id="44" name="Text 35"/>
          <p:cNvSpPr txBox="1"/>
          <p:nvPr/>
        </p:nvSpPr>
        <p:spPr>
          <a:xfrm>
            <a:off x="8385048" y="5001768"/>
            <a:ext cx="2286000" cy="274320"/>
          </a:xfrm>
          <a:prstGeom prst="roundRect">
            <a:avLst>
              <a:gd name="adj" fmla="val 50000"/>
            </a:avLst>
          </a:prstGeom>
          <a:solidFill>
            <a:srgbClr val="FEF0DF"/>
          </a:solidFill>
          <a:ln/>
        </p:spPr>
        <p:txBody>
          <a:bodyPr wrap="square" lIns="0" tIns="0" rIns="0" bIns="0" rtlCol="0" anchor="ctr"/>
          <a:lstStyle/>
          <a:p>
            <a:pPr algn="ctr" indent="0" marL="0">
              <a:buNone/>
            </a:pPr>
            <a:r>
              <a:rPr lang="en-US" sz="900" b="1" dirty="0">
                <a:solidFill>
                  <a:srgbClr val="B45F0B"/>
                </a:solidFill>
                <a:latin typeface="Poppins" pitchFamily="34" charset="0"/>
                <a:ea typeface="Poppins" pitchFamily="34" charset="-122"/>
                <a:cs typeface="Poppins" pitchFamily="34" charset="-120"/>
              </a:rPr>
              <a:t>When configured</a:t>
            </a:r>
            <a:endParaRPr lang="en-US" sz="900" dirty="0"/>
          </a:p>
        </p:txBody>
      </p:sp>
      <p:sp>
        <p:nvSpPr>
          <p:cNvPr id="45" name="Shape 36"/>
          <p:cNvSpPr/>
          <p:nvPr/>
        </p:nvSpPr>
        <p:spPr>
          <a:xfrm>
            <a:off x="457200" y="5623560"/>
            <a:ext cx="11274552" cy="713232"/>
          </a:xfrm>
          <a:prstGeom prst="roundRect">
            <a:avLst>
              <a:gd name="adj" fmla="val 20513"/>
            </a:avLst>
          </a:prstGeom>
          <a:solidFill>
            <a:srgbClr val="0B1930"/>
          </a:solidFill>
          <a:ln w="9525">
            <a:solidFill>
              <a:srgbClr val="0B1930"/>
            </a:solidFill>
            <a:prstDash val="solid"/>
          </a:ln>
          <a:effectLst>
            <a:outerShdw sx="100000" sy="100000" kx="0" ky="0" algn="bl" rotWithShape="0" blurRad="152400" dist="38100" dir="5400000">
              <a:srgbClr val="0B1930">
                <a:alpha val="12000"/>
              </a:srgbClr>
            </a:outerShdw>
          </a:effectLst>
        </p:spPr>
      </p:sp>
      <p:sp>
        <p:nvSpPr>
          <p:cNvPr id="46" name="Shape 37"/>
          <p:cNvSpPr/>
          <p:nvPr/>
        </p:nvSpPr>
        <p:spPr>
          <a:xfrm>
            <a:off x="731520" y="5760720"/>
            <a:ext cx="1508760" cy="438912"/>
          </a:xfrm>
          <a:prstGeom prst="roundRect">
            <a:avLst>
              <a:gd name="adj" fmla="val 50000"/>
            </a:avLst>
          </a:prstGeom>
          <a:solidFill>
            <a:srgbClr val="FFFFFF">
              <a:alpha val="10000"/>
            </a:srgbClr>
          </a:solidFill>
          <a:ln w="9525">
            <a:solidFill>
              <a:srgbClr val="FFFFFF">
                <a:alpha val="20000"/>
              </a:srgbClr>
            </a:solidFill>
            <a:prstDash val="solid"/>
          </a:ln>
        </p:spPr>
      </p:sp>
      <p:pic>
        <p:nvPicPr>
          <p:cNvPr id="47" name="Image 7" descr="preencoded.png">    </p:cNvPr>
          <p:cNvPicPr>
            <a:picLocks noChangeAspect="1"/>
          </p:cNvPicPr>
          <p:nvPr/>
        </p:nvPicPr>
        <p:blipFill>
          <a:blip r:embed="rId9"/>
          <a:stretch>
            <a:fillRect/>
          </a:stretch>
        </p:blipFill>
        <p:spPr>
          <a:xfrm>
            <a:off x="868680" y="5852160"/>
            <a:ext cx="256032" cy="256032"/>
          </a:xfrm>
          <a:prstGeom prst="rect">
            <a:avLst/>
          </a:prstGeom>
        </p:spPr>
      </p:pic>
      <p:sp>
        <p:nvSpPr>
          <p:cNvPr id="48" name="Text 38"/>
          <p:cNvSpPr txBox="1"/>
          <p:nvPr/>
        </p:nvSpPr>
        <p:spPr>
          <a:xfrm>
            <a:off x="1207008" y="5760720"/>
            <a:ext cx="1005840" cy="438912"/>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SMTP</a:t>
            </a:r>
            <a:endParaRPr lang="en-US" sz="1000" dirty="0"/>
          </a:p>
        </p:txBody>
      </p:sp>
      <p:sp>
        <p:nvSpPr>
          <p:cNvPr id="49" name="Text 39"/>
          <p:cNvSpPr txBox="1"/>
          <p:nvPr/>
        </p:nvSpPr>
        <p:spPr>
          <a:xfrm>
            <a:off x="2240280" y="5760720"/>
            <a:ext cx="320040" cy="438912"/>
          </a:xfrm>
          <a:prstGeom prst="rect">
            <a:avLst/>
          </a:prstGeom>
          <a:noFill/>
          <a:ln/>
        </p:spPr>
        <p:txBody>
          <a:bodyPr wrap="square" lIns="0" tIns="0" rIns="0" bIns="0" rtlCol="0" anchor="ctr"/>
          <a:lstStyle/>
          <a:p>
            <a:pPr algn="ctr" indent="0" marL="0">
              <a:buNone/>
            </a:pPr>
            <a:r>
              <a:rPr lang="en-US" sz="1400" b="1" dirty="0">
                <a:solidFill>
                  <a:srgbClr val="F79330"/>
                </a:solidFill>
                <a:latin typeface="Poppins" pitchFamily="34" charset="0"/>
                <a:ea typeface="Poppins" pitchFamily="34" charset="-122"/>
                <a:cs typeface="Poppins" pitchFamily="34" charset="-120"/>
              </a:rPr>
              <a:t>+</a:t>
            </a:r>
            <a:endParaRPr lang="en-US" sz="1400" dirty="0"/>
          </a:p>
        </p:txBody>
      </p:sp>
      <p:sp>
        <p:nvSpPr>
          <p:cNvPr id="50" name="Shape 40"/>
          <p:cNvSpPr/>
          <p:nvPr/>
        </p:nvSpPr>
        <p:spPr>
          <a:xfrm>
            <a:off x="2560320" y="5760720"/>
            <a:ext cx="1508760" cy="438912"/>
          </a:xfrm>
          <a:prstGeom prst="roundRect">
            <a:avLst>
              <a:gd name="adj" fmla="val 50000"/>
            </a:avLst>
          </a:prstGeom>
          <a:solidFill>
            <a:srgbClr val="FFFFFF">
              <a:alpha val="10000"/>
            </a:srgbClr>
          </a:solidFill>
          <a:ln w="9525">
            <a:solidFill>
              <a:srgbClr val="FFFFFF">
                <a:alpha val="20000"/>
              </a:srgbClr>
            </a:solidFill>
            <a:prstDash val="solid"/>
          </a:ln>
        </p:spPr>
      </p:sp>
      <p:pic>
        <p:nvPicPr>
          <p:cNvPr id="51" name="Image 8" descr="preencoded.png">    </p:cNvPr>
          <p:cNvPicPr>
            <a:picLocks noChangeAspect="1"/>
          </p:cNvPicPr>
          <p:nvPr/>
        </p:nvPicPr>
        <p:blipFill>
          <a:blip r:embed="rId10"/>
          <a:stretch>
            <a:fillRect/>
          </a:stretch>
        </p:blipFill>
        <p:spPr>
          <a:xfrm>
            <a:off x="2697480" y="5852160"/>
            <a:ext cx="256032" cy="256032"/>
          </a:xfrm>
          <a:prstGeom prst="rect">
            <a:avLst/>
          </a:prstGeom>
        </p:spPr>
      </p:pic>
      <p:sp>
        <p:nvSpPr>
          <p:cNvPr id="52" name="Text 41"/>
          <p:cNvSpPr txBox="1"/>
          <p:nvPr/>
        </p:nvSpPr>
        <p:spPr>
          <a:xfrm>
            <a:off x="3035808" y="5760720"/>
            <a:ext cx="1005840" cy="438912"/>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MongoDB</a:t>
            </a:r>
            <a:endParaRPr lang="en-US" sz="1000" dirty="0"/>
          </a:p>
        </p:txBody>
      </p:sp>
      <p:sp>
        <p:nvSpPr>
          <p:cNvPr id="53" name="Text 42"/>
          <p:cNvSpPr txBox="1"/>
          <p:nvPr/>
        </p:nvSpPr>
        <p:spPr>
          <a:xfrm>
            <a:off x="4069080" y="5760720"/>
            <a:ext cx="320040" cy="438912"/>
          </a:xfrm>
          <a:prstGeom prst="rect">
            <a:avLst/>
          </a:prstGeom>
          <a:noFill/>
          <a:ln/>
        </p:spPr>
        <p:txBody>
          <a:bodyPr wrap="square" lIns="0" tIns="0" rIns="0" bIns="0" rtlCol="0" anchor="ctr"/>
          <a:lstStyle/>
          <a:p>
            <a:pPr algn="ctr" indent="0" marL="0">
              <a:buNone/>
            </a:pPr>
            <a:r>
              <a:rPr lang="en-US" sz="1400" b="1" dirty="0">
                <a:solidFill>
                  <a:srgbClr val="F79330"/>
                </a:solidFill>
                <a:latin typeface="Poppins" pitchFamily="34" charset="0"/>
                <a:ea typeface="Poppins" pitchFamily="34" charset="-122"/>
                <a:cs typeface="Poppins" pitchFamily="34" charset="-120"/>
              </a:rPr>
              <a:t>+</a:t>
            </a:r>
            <a:endParaRPr lang="en-US" sz="1400" dirty="0"/>
          </a:p>
        </p:txBody>
      </p:sp>
      <p:sp>
        <p:nvSpPr>
          <p:cNvPr id="54" name="Shape 43"/>
          <p:cNvSpPr/>
          <p:nvPr/>
        </p:nvSpPr>
        <p:spPr>
          <a:xfrm>
            <a:off x="4389120" y="5760720"/>
            <a:ext cx="1508760" cy="438912"/>
          </a:xfrm>
          <a:prstGeom prst="roundRect">
            <a:avLst>
              <a:gd name="adj" fmla="val 50000"/>
            </a:avLst>
          </a:prstGeom>
          <a:solidFill>
            <a:srgbClr val="FFFFFF">
              <a:alpha val="10000"/>
            </a:srgbClr>
          </a:solidFill>
          <a:ln w="9525">
            <a:solidFill>
              <a:srgbClr val="FFFFFF">
                <a:alpha val="20000"/>
              </a:srgbClr>
            </a:solidFill>
            <a:prstDash val="solid"/>
          </a:ln>
        </p:spPr>
      </p:sp>
      <p:pic>
        <p:nvPicPr>
          <p:cNvPr id="55" name="Image 9" descr="preencoded.png">    </p:cNvPr>
          <p:cNvPicPr>
            <a:picLocks noChangeAspect="1"/>
          </p:cNvPicPr>
          <p:nvPr/>
        </p:nvPicPr>
        <p:blipFill>
          <a:blip r:embed="rId11"/>
          <a:stretch>
            <a:fillRect/>
          </a:stretch>
        </p:blipFill>
        <p:spPr>
          <a:xfrm>
            <a:off x="4526280" y="5852160"/>
            <a:ext cx="256032" cy="256032"/>
          </a:xfrm>
          <a:prstGeom prst="rect">
            <a:avLst/>
          </a:prstGeom>
        </p:spPr>
      </p:pic>
      <p:sp>
        <p:nvSpPr>
          <p:cNvPr id="56" name="Text 44"/>
          <p:cNvSpPr txBox="1"/>
          <p:nvPr/>
        </p:nvSpPr>
        <p:spPr>
          <a:xfrm>
            <a:off x="4864608" y="5760720"/>
            <a:ext cx="1005840" cy="438912"/>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Razorpay</a:t>
            </a:r>
            <a:endParaRPr lang="en-US" sz="1000" dirty="0"/>
          </a:p>
        </p:txBody>
      </p:sp>
      <p:pic>
        <p:nvPicPr>
          <p:cNvPr id="57" name="Image 10" descr="preencoded.png">    </p:cNvPr>
          <p:cNvPicPr>
            <a:picLocks noChangeAspect="1"/>
          </p:cNvPicPr>
          <p:nvPr/>
        </p:nvPicPr>
        <p:blipFill>
          <a:blip r:embed="rId12"/>
          <a:stretch>
            <a:fillRect/>
          </a:stretch>
        </p:blipFill>
        <p:spPr>
          <a:xfrm>
            <a:off x="6446520" y="5852160"/>
            <a:ext cx="256032" cy="256032"/>
          </a:xfrm>
          <a:prstGeom prst="rect">
            <a:avLst/>
          </a:prstGeom>
        </p:spPr>
      </p:pic>
      <p:sp>
        <p:nvSpPr>
          <p:cNvPr id="58" name="Text 45"/>
          <p:cNvSpPr txBox="1"/>
          <p:nvPr/>
        </p:nvSpPr>
        <p:spPr>
          <a:xfrm>
            <a:off x="6812280" y="5760720"/>
            <a:ext cx="4754880" cy="438912"/>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Configured through environment variables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FFFFFF"/>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12AEA4">
              <a:alpha val="30000"/>
            </a:srgbClr>
          </a:solidFill>
          <a:ln w="9525">
            <a:solidFill>
              <a:srgbClr val="12AEA4"/>
            </a:solidFill>
          </a:ln>
        </p:spPr>
        <p:txBody>
          <a:bodyPr wrap="square" lIns="0" tIns="0" rIns="0" bIns="0" rtlCol="0" anchor="ctr"/>
          <a:lstStyle/>
          <a:p>
            <a:pPr algn="ctr" indent="0" marL="0">
              <a:buNone/>
            </a:pPr>
            <a:r>
              <a:rPr lang="en-US" sz="900" b="1" spc="150" kern="0" dirty="0">
                <a:solidFill>
                  <a:srgbClr val="FFFFFF"/>
                </a:solidFill>
                <a:latin typeface="Poppins" pitchFamily="34" charset="0"/>
                <a:ea typeface="Poppins" pitchFamily="34" charset="-122"/>
                <a:cs typeface="Poppins" pitchFamily="34" charset="-120"/>
              </a:rPr>
              <a:t>FUTURE SCOPE</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A9B7CC"/>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A9B7CC"/>
                </a:solidFill>
                <a:latin typeface="Poppins" pitchFamily="34" charset="0"/>
                <a:ea typeface="Poppins" pitchFamily="34" charset="-122"/>
                <a:cs typeface="Poppins" pitchFamily="34" charset="-120"/>
              </a:rPr>
              <a:t>Aman Pandey    12 / 13</a:t>
            </a:r>
            <a:endParaRPr lang="en-US" sz="850" dirty="0"/>
          </a:p>
        </p:txBody>
      </p:sp>
      <p:sp>
        <p:nvSpPr>
          <p:cNvPr id="7" name="Text 4"/>
          <p:cNvSpPr txBox="1"/>
          <p:nvPr/>
        </p:nvSpPr>
        <p:spPr>
          <a:xfrm>
            <a:off x="9418320" y="777240"/>
            <a:ext cx="2313432" cy="777240"/>
          </a:xfrm>
          <a:prstGeom prst="rect">
            <a:avLst/>
          </a:prstGeom>
          <a:noFill/>
          <a:ln/>
        </p:spPr>
        <p:txBody>
          <a:bodyPr wrap="square" lIns="0" tIns="0" rIns="0" bIns="0" rtlCol="0" anchor="ctr"/>
          <a:lstStyle/>
          <a:p>
            <a:pPr algn="r" indent="0" marL="0">
              <a:buNone/>
            </a:pPr>
            <a:r>
              <a:rPr lang="en-US" sz="5400" b="1" dirty="0">
                <a:solidFill>
                  <a:srgbClr val="1D3558"/>
                </a:solidFill>
                <a:latin typeface="Poppins" pitchFamily="34" charset="0"/>
                <a:ea typeface="Poppins" pitchFamily="34" charset="-122"/>
                <a:cs typeface="Poppins" pitchFamily="34" charset="-120"/>
              </a:rPr>
              <a:t>12</a:t>
            </a:r>
            <a:endParaRPr lang="en-US" sz="5400" dirty="0"/>
          </a:p>
        </p:txBody>
      </p:sp>
      <p:sp>
        <p:nvSpPr>
          <p:cNvPr id="8" name="Text 5"/>
          <p:cNvSpPr txBox="1"/>
          <p:nvPr/>
        </p:nvSpPr>
        <p:spPr>
          <a:xfrm>
            <a:off x="457200" y="749808"/>
            <a:ext cx="9052560" cy="640080"/>
          </a:xfrm>
          <a:prstGeom prst="rect">
            <a:avLst/>
          </a:prstGeom>
          <a:noFill/>
          <a:ln/>
        </p:spPr>
        <p:txBody>
          <a:bodyPr wrap="square" lIns="0" tIns="0" rIns="0" bIns="0" rtlCol="0" anchor="ctr"/>
          <a:lstStyle/>
          <a:p>
            <a:pPr indent="0" marL="0">
              <a:buNone/>
            </a:pPr>
            <a:r>
              <a:rPr lang="en-US" sz="3000" b="1" dirty="0">
                <a:solidFill>
                  <a:srgbClr val="FFFFFF"/>
                </a:solidFill>
                <a:latin typeface="Poppins" pitchFamily="34" charset="0"/>
                <a:ea typeface="Poppins" pitchFamily="34" charset="-122"/>
                <a:cs typeface="Poppins" pitchFamily="34" charset="-120"/>
              </a:rPr>
              <a:t>Future Scope</a:t>
            </a:r>
            <a:endParaRPr lang="en-US" sz="3000" dirty="0"/>
          </a:p>
        </p:txBody>
      </p:sp>
      <p:sp>
        <p:nvSpPr>
          <p:cNvPr id="9" name="Shape 6"/>
          <p:cNvSpPr/>
          <p:nvPr/>
        </p:nvSpPr>
        <p:spPr>
          <a:xfrm>
            <a:off x="457200" y="1554480"/>
            <a:ext cx="3575304" cy="2240280"/>
          </a:xfrm>
          <a:prstGeom prst="roundRect">
            <a:avLst>
              <a:gd name="adj" fmla="val 6531"/>
            </a:avLst>
          </a:prstGeom>
          <a:solidFill>
            <a:srgbClr val="FFFFFF">
              <a:alpha val="9000"/>
            </a:srgbClr>
          </a:solidFill>
          <a:ln w="9525">
            <a:solidFill>
              <a:srgbClr val="FFFFFF">
                <a:alpha val="16000"/>
              </a:srgbClr>
            </a:solidFill>
            <a:prstDash val="solid"/>
          </a:ln>
        </p:spPr>
      </p:sp>
      <p:sp>
        <p:nvSpPr>
          <p:cNvPr id="10" name="Shape 7"/>
          <p:cNvSpPr/>
          <p:nvPr/>
        </p:nvSpPr>
        <p:spPr>
          <a:xfrm>
            <a:off x="658368" y="1755648"/>
            <a:ext cx="914400" cy="914400"/>
          </a:xfrm>
          <a:prstGeom prst="ellipse">
            <a:avLst/>
          </a:prstGeom>
          <a:solidFill>
            <a:srgbClr val="12AEA4">
              <a:alpha val="18000"/>
            </a:srgbClr>
          </a:solidFill>
          <a:ln/>
        </p:spPr>
      </p:sp>
      <p:sp>
        <p:nvSpPr>
          <p:cNvPr id="11" name="Shape 8"/>
          <p:cNvSpPr/>
          <p:nvPr/>
        </p:nvSpPr>
        <p:spPr>
          <a:xfrm>
            <a:off x="777240" y="1874520"/>
            <a:ext cx="676656" cy="676656"/>
          </a:xfrm>
          <a:prstGeom prst="ellipse">
            <a:avLst/>
          </a:prstGeom>
          <a:solidFill>
            <a:srgbClr val="12AEA4"/>
          </a:solidFill>
          <a:ln/>
        </p:spPr>
      </p:sp>
      <p:pic>
        <p:nvPicPr>
          <p:cNvPr id="12" name="Image 1" descr="preencoded.png">    </p:cNvPr>
          <p:cNvPicPr>
            <a:picLocks noChangeAspect="1"/>
          </p:cNvPicPr>
          <p:nvPr/>
        </p:nvPicPr>
        <p:blipFill>
          <a:blip r:embed="rId3"/>
          <a:stretch>
            <a:fillRect/>
          </a:stretch>
        </p:blipFill>
        <p:spPr>
          <a:xfrm>
            <a:off x="953171" y="2050451"/>
            <a:ext cx="324795" cy="324795"/>
          </a:xfrm>
          <a:prstGeom prst="rect">
            <a:avLst/>
          </a:prstGeom>
        </p:spPr>
      </p:pic>
      <p:sp>
        <p:nvSpPr>
          <p:cNvPr id="13" name="Text 9"/>
          <p:cNvSpPr txBox="1"/>
          <p:nvPr/>
        </p:nvSpPr>
        <p:spPr>
          <a:xfrm>
            <a:off x="2843784" y="1810512"/>
            <a:ext cx="914400" cy="246888"/>
          </a:xfrm>
          <a:prstGeom prst="roundRect">
            <a:avLst>
              <a:gd name="adj" fmla="val 50000"/>
            </a:avLst>
          </a:prstGeom>
          <a:solidFill>
            <a:srgbClr val="12AEA4">
              <a:alpha val="30000"/>
            </a:srgbClr>
          </a:solidFill>
          <a:ln w="9525">
            <a:solidFill>
              <a:srgbClr val="12AEA4"/>
            </a:solidFill>
          </a:ln>
        </p:spPr>
        <p:txBody>
          <a:bodyPr wrap="square" lIns="0" tIns="0" rIns="0" bIns="0" rtlCol="0" anchor="ctr"/>
          <a:lstStyle/>
          <a:p>
            <a:pPr algn="ctr" indent="0" marL="0">
              <a:buNone/>
            </a:pPr>
            <a:r>
              <a:rPr lang="en-US" sz="750" b="1" spc="150" kern="0" dirty="0">
                <a:solidFill>
                  <a:srgbClr val="FFFFFF"/>
                </a:solidFill>
                <a:latin typeface="Poppins" pitchFamily="34" charset="0"/>
                <a:ea typeface="Poppins" pitchFamily="34" charset="-122"/>
                <a:cs typeface="Poppins" pitchFamily="34" charset="-120"/>
              </a:rPr>
              <a:t>FUTURE</a:t>
            </a:r>
            <a:endParaRPr lang="en-US" sz="750" dirty="0"/>
          </a:p>
        </p:txBody>
      </p:sp>
      <p:sp>
        <p:nvSpPr>
          <p:cNvPr id="14" name="Text 10"/>
          <p:cNvSpPr txBox="1"/>
          <p:nvPr/>
        </p:nvSpPr>
        <p:spPr>
          <a:xfrm>
            <a:off x="731520" y="2880360"/>
            <a:ext cx="3118104" cy="365760"/>
          </a:xfrm>
          <a:prstGeom prst="rect">
            <a:avLst/>
          </a:prstGeom>
          <a:noFill/>
          <a:ln/>
        </p:spPr>
        <p:txBody>
          <a:bodyPr wrap="square" lIns="0" tIns="0" rIns="0" bIns="0" rtlCol="0" anchor="ctr"/>
          <a:lstStyle/>
          <a:p>
            <a:pPr indent="0" marL="0">
              <a:buNone/>
            </a:pPr>
            <a:r>
              <a:rPr lang="en-US" sz="1450" b="1" dirty="0">
                <a:solidFill>
                  <a:srgbClr val="FFFFFF"/>
                </a:solidFill>
                <a:latin typeface="Poppins" pitchFamily="34" charset="0"/>
                <a:ea typeface="Poppins" pitchFamily="34" charset="-122"/>
                <a:cs typeface="Poppins" pitchFamily="34" charset="-120"/>
              </a:rPr>
              <a:t>Real-Time Chat</a:t>
            </a:r>
            <a:endParaRPr lang="en-US" sz="1450" dirty="0"/>
          </a:p>
        </p:txBody>
      </p:sp>
      <p:sp>
        <p:nvSpPr>
          <p:cNvPr id="15" name="Text 11"/>
          <p:cNvSpPr txBox="1"/>
          <p:nvPr/>
        </p:nvSpPr>
        <p:spPr>
          <a:xfrm>
            <a:off x="731520" y="3273552"/>
            <a:ext cx="3072384" cy="457200"/>
          </a:xfrm>
          <a:prstGeom prst="rect">
            <a:avLst/>
          </a:prstGeom>
          <a:noFill/>
          <a:ln/>
        </p:spPr>
        <p:txBody>
          <a:bodyPr wrap="square" lIns="0" tIns="0" rIns="0" bIns="0" rtlCol="0" anchor="t"/>
          <a:lstStyle/>
          <a:p>
            <a:pPr indent="0" marL="0">
              <a:buNone/>
            </a:pPr>
            <a:r>
              <a:rPr lang="en-US" sz="1150" dirty="0">
                <a:solidFill>
                  <a:srgbClr val="CBD5E1"/>
                </a:solidFill>
                <a:latin typeface="Poppins" pitchFamily="34" charset="0"/>
                <a:ea typeface="Poppins" pitchFamily="34" charset="-122"/>
                <a:cs typeface="Poppins" pitchFamily="34" charset="-120"/>
              </a:rPr>
              <a:t>Communication between clients and freelancers.</a:t>
            </a:r>
            <a:endParaRPr lang="en-US" sz="1150" dirty="0"/>
          </a:p>
        </p:txBody>
      </p:sp>
      <p:sp>
        <p:nvSpPr>
          <p:cNvPr id="16" name="Shape 12"/>
          <p:cNvSpPr/>
          <p:nvPr/>
        </p:nvSpPr>
        <p:spPr>
          <a:xfrm>
            <a:off x="4306824" y="1554480"/>
            <a:ext cx="3575304" cy="2240280"/>
          </a:xfrm>
          <a:prstGeom prst="roundRect">
            <a:avLst>
              <a:gd name="adj" fmla="val 6531"/>
            </a:avLst>
          </a:prstGeom>
          <a:solidFill>
            <a:srgbClr val="FFFFFF">
              <a:alpha val="9000"/>
            </a:srgbClr>
          </a:solidFill>
          <a:ln w="9525">
            <a:solidFill>
              <a:srgbClr val="FFFFFF">
                <a:alpha val="16000"/>
              </a:srgbClr>
            </a:solidFill>
            <a:prstDash val="solid"/>
          </a:ln>
        </p:spPr>
      </p:sp>
      <p:sp>
        <p:nvSpPr>
          <p:cNvPr id="17" name="Shape 13"/>
          <p:cNvSpPr/>
          <p:nvPr/>
        </p:nvSpPr>
        <p:spPr>
          <a:xfrm>
            <a:off x="4507992" y="1755648"/>
            <a:ext cx="914400" cy="914400"/>
          </a:xfrm>
          <a:prstGeom prst="ellipse">
            <a:avLst/>
          </a:prstGeom>
          <a:solidFill>
            <a:srgbClr val="F79330">
              <a:alpha val="18000"/>
            </a:srgbClr>
          </a:solidFill>
          <a:ln/>
        </p:spPr>
      </p:sp>
      <p:sp>
        <p:nvSpPr>
          <p:cNvPr id="18" name="Shape 14"/>
          <p:cNvSpPr/>
          <p:nvPr/>
        </p:nvSpPr>
        <p:spPr>
          <a:xfrm>
            <a:off x="4626864" y="1874520"/>
            <a:ext cx="676656" cy="676656"/>
          </a:xfrm>
          <a:prstGeom prst="ellipse">
            <a:avLst/>
          </a:prstGeom>
          <a:solidFill>
            <a:srgbClr val="F79330"/>
          </a:solidFill>
          <a:ln/>
        </p:spPr>
      </p:sp>
      <p:pic>
        <p:nvPicPr>
          <p:cNvPr id="19" name="Image 2" descr="preencoded.png">    </p:cNvPr>
          <p:cNvPicPr>
            <a:picLocks noChangeAspect="1"/>
          </p:cNvPicPr>
          <p:nvPr/>
        </p:nvPicPr>
        <p:blipFill>
          <a:blip r:embed="rId4"/>
          <a:stretch>
            <a:fillRect/>
          </a:stretch>
        </p:blipFill>
        <p:spPr>
          <a:xfrm>
            <a:off x="4802795" y="2050451"/>
            <a:ext cx="324795" cy="324795"/>
          </a:xfrm>
          <a:prstGeom prst="rect">
            <a:avLst/>
          </a:prstGeom>
        </p:spPr>
      </p:pic>
      <p:sp>
        <p:nvSpPr>
          <p:cNvPr id="20" name="Text 15"/>
          <p:cNvSpPr txBox="1"/>
          <p:nvPr/>
        </p:nvSpPr>
        <p:spPr>
          <a:xfrm>
            <a:off x="6693408" y="1810512"/>
            <a:ext cx="914400" cy="246888"/>
          </a:xfrm>
          <a:prstGeom prst="roundRect">
            <a:avLst>
              <a:gd name="adj" fmla="val 50000"/>
            </a:avLst>
          </a:prstGeom>
          <a:solidFill>
            <a:srgbClr val="F79330">
              <a:alpha val="30000"/>
            </a:srgbClr>
          </a:solidFill>
          <a:ln w="9525">
            <a:solidFill>
              <a:srgbClr val="F79330"/>
            </a:solidFill>
          </a:ln>
        </p:spPr>
        <p:txBody>
          <a:bodyPr wrap="square" lIns="0" tIns="0" rIns="0" bIns="0" rtlCol="0" anchor="ctr"/>
          <a:lstStyle/>
          <a:p>
            <a:pPr algn="ctr" indent="0" marL="0">
              <a:buNone/>
            </a:pPr>
            <a:r>
              <a:rPr lang="en-US" sz="750" b="1" spc="150" kern="0" dirty="0">
                <a:solidFill>
                  <a:srgbClr val="FFFFFF"/>
                </a:solidFill>
                <a:latin typeface="Poppins" pitchFamily="34" charset="0"/>
                <a:ea typeface="Poppins" pitchFamily="34" charset="-122"/>
                <a:cs typeface="Poppins" pitchFamily="34" charset="-120"/>
              </a:rPr>
              <a:t>FUTURE</a:t>
            </a:r>
            <a:endParaRPr lang="en-US" sz="750" dirty="0"/>
          </a:p>
        </p:txBody>
      </p:sp>
      <p:sp>
        <p:nvSpPr>
          <p:cNvPr id="21" name="Text 16"/>
          <p:cNvSpPr txBox="1"/>
          <p:nvPr/>
        </p:nvSpPr>
        <p:spPr>
          <a:xfrm>
            <a:off x="4581144" y="2880360"/>
            <a:ext cx="3118104" cy="365760"/>
          </a:xfrm>
          <a:prstGeom prst="rect">
            <a:avLst/>
          </a:prstGeom>
          <a:noFill/>
          <a:ln/>
        </p:spPr>
        <p:txBody>
          <a:bodyPr wrap="square" lIns="0" tIns="0" rIns="0" bIns="0" rtlCol="0" anchor="ctr"/>
          <a:lstStyle/>
          <a:p>
            <a:pPr indent="0" marL="0">
              <a:buNone/>
            </a:pPr>
            <a:r>
              <a:rPr lang="en-US" sz="1450" b="1" dirty="0">
                <a:solidFill>
                  <a:srgbClr val="FFFFFF"/>
                </a:solidFill>
                <a:latin typeface="Poppins" pitchFamily="34" charset="0"/>
                <a:ea typeface="Poppins" pitchFamily="34" charset="-122"/>
                <a:cs typeface="Poppins" pitchFamily="34" charset="-120"/>
              </a:rPr>
              <a:t>Ratings &amp; Reviews</a:t>
            </a:r>
            <a:endParaRPr lang="en-US" sz="1450" dirty="0"/>
          </a:p>
        </p:txBody>
      </p:sp>
      <p:sp>
        <p:nvSpPr>
          <p:cNvPr id="22" name="Text 17"/>
          <p:cNvSpPr txBox="1"/>
          <p:nvPr/>
        </p:nvSpPr>
        <p:spPr>
          <a:xfrm>
            <a:off x="4581144" y="3273552"/>
            <a:ext cx="3072384" cy="457200"/>
          </a:xfrm>
          <a:prstGeom prst="rect">
            <a:avLst/>
          </a:prstGeom>
          <a:noFill/>
          <a:ln/>
        </p:spPr>
        <p:txBody>
          <a:bodyPr wrap="square" lIns="0" tIns="0" rIns="0" bIns="0" rtlCol="0" anchor="t"/>
          <a:lstStyle/>
          <a:p>
            <a:pPr indent="0" marL="0">
              <a:buNone/>
            </a:pPr>
            <a:r>
              <a:rPr lang="en-US" sz="1150" dirty="0">
                <a:solidFill>
                  <a:srgbClr val="CBD5E1"/>
                </a:solidFill>
                <a:latin typeface="Poppins" pitchFamily="34" charset="0"/>
                <a:ea typeface="Poppins" pitchFamily="34" charset="-122"/>
                <a:cs typeface="Poppins" pitchFamily="34" charset="-120"/>
              </a:rPr>
              <a:t>Build trust through user feedback.</a:t>
            </a:r>
            <a:endParaRPr lang="en-US" sz="1150" dirty="0"/>
          </a:p>
        </p:txBody>
      </p:sp>
      <p:sp>
        <p:nvSpPr>
          <p:cNvPr id="23" name="Shape 18"/>
          <p:cNvSpPr/>
          <p:nvPr/>
        </p:nvSpPr>
        <p:spPr>
          <a:xfrm>
            <a:off x="8156448" y="1554480"/>
            <a:ext cx="3575304" cy="2240280"/>
          </a:xfrm>
          <a:prstGeom prst="roundRect">
            <a:avLst>
              <a:gd name="adj" fmla="val 6531"/>
            </a:avLst>
          </a:prstGeom>
          <a:solidFill>
            <a:srgbClr val="FFFFFF">
              <a:alpha val="9000"/>
            </a:srgbClr>
          </a:solidFill>
          <a:ln w="9525">
            <a:solidFill>
              <a:srgbClr val="FFFFFF">
                <a:alpha val="16000"/>
              </a:srgbClr>
            </a:solidFill>
            <a:prstDash val="solid"/>
          </a:ln>
        </p:spPr>
      </p:sp>
      <p:sp>
        <p:nvSpPr>
          <p:cNvPr id="24" name="Shape 19"/>
          <p:cNvSpPr/>
          <p:nvPr/>
        </p:nvSpPr>
        <p:spPr>
          <a:xfrm>
            <a:off x="8357616" y="1755648"/>
            <a:ext cx="914400" cy="914400"/>
          </a:xfrm>
          <a:prstGeom prst="ellipse">
            <a:avLst/>
          </a:prstGeom>
          <a:solidFill>
            <a:srgbClr val="EF5B59">
              <a:alpha val="18000"/>
            </a:srgbClr>
          </a:solidFill>
          <a:ln/>
        </p:spPr>
      </p:sp>
      <p:sp>
        <p:nvSpPr>
          <p:cNvPr id="25" name="Shape 20"/>
          <p:cNvSpPr/>
          <p:nvPr/>
        </p:nvSpPr>
        <p:spPr>
          <a:xfrm>
            <a:off x="8476488" y="1874520"/>
            <a:ext cx="676656" cy="676656"/>
          </a:xfrm>
          <a:prstGeom prst="ellipse">
            <a:avLst/>
          </a:prstGeom>
          <a:solidFill>
            <a:srgbClr val="EF5B59"/>
          </a:solidFill>
          <a:ln/>
        </p:spPr>
      </p:sp>
      <p:pic>
        <p:nvPicPr>
          <p:cNvPr id="26" name="Image 3" descr="preencoded.png">    </p:cNvPr>
          <p:cNvPicPr>
            <a:picLocks noChangeAspect="1"/>
          </p:cNvPicPr>
          <p:nvPr/>
        </p:nvPicPr>
        <p:blipFill>
          <a:blip r:embed="rId5"/>
          <a:stretch>
            <a:fillRect/>
          </a:stretch>
        </p:blipFill>
        <p:spPr>
          <a:xfrm>
            <a:off x="8652419" y="2050451"/>
            <a:ext cx="324795" cy="324795"/>
          </a:xfrm>
          <a:prstGeom prst="rect">
            <a:avLst/>
          </a:prstGeom>
        </p:spPr>
      </p:pic>
      <p:sp>
        <p:nvSpPr>
          <p:cNvPr id="27" name="Text 21"/>
          <p:cNvSpPr txBox="1"/>
          <p:nvPr/>
        </p:nvSpPr>
        <p:spPr>
          <a:xfrm>
            <a:off x="10543032" y="1810512"/>
            <a:ext cx="914400" cy="246888"/>
          </a:xfrm>
          <a:prstGeom prst="roundRect">
            <a:avLst>
              <a:gd name="adj" fmla="val 50000"/>
            </a:avLst>
          </a:prstGeom>
          <a:solidFill>
            <a:srgbClr val="EF5B59">
              <a:alpha val="30000"/>
            </a:srgbClr>
          </a:solidFill>
          <a:ln w="9525">
            <a:solidFill>
              <a:srgbClr val="EF5B59"/>
            </a:solidFill>
          </a:ln>
        </p:spPr>
        <p:txBody>
          <a:bodyPr wrap="square" lIns="0" tIns="0" rIns="0" bIns="0" rtlCol="0" anchor="ctr"/>
          <a:lstStyle/>
          <a:p>
            <a:pPr algn="ctr" indent="0" marL="0">
              <a:buNone/>
            </a:pPr>
            <a:r>
              <a:rPr lang="en-US" sz="750" b="1" spc="150" kern="0" dirty="0">
                <a:solidFill>
                  <a:srgbClr val="FFFFFF"/>
                </a:solidFill>
                <a:latin typeface="Poppins" pitchFamily="34" charset="0"/>
                <a:ea typeface="Poppins" pitchFamily="34" charset="-122"/>
                <a:cs typeface="Poppins" pitchFamily="34" charset="-120"/>
              </a:rPr>
              <a:t>FUTURE</a:t>
            </a:r>
            <a:endParaRPr lang="en-US" sz="750" dirty="0"/>
          </a:p>
        </p:txBody>
      </p:sp>
      <p:sp>
        <p:nvSpPr>
          <p:cNvPr id="28" name="Text 22"/>
          <p:cNvSpPr txBox="1"/>
          <p:nvPr/>
        </p:nvSpPr>
        <p:spPr>
          <a:xfrm>
            <a:off x="8430768" y="2880360"/>
            <a:ext cx="3118104" cy="365760"/>
          </a:xfrm>
          <a:prstGeom prst="rect">
            <a:avLst/>
          </a:prstGeom>
          <a:noFill/>
          <a:ln/>
        </p:spPr>
        <p:txBody>
          <a:bodyPr wrap="square" lIns="0" tIns="0" rIns="0" bIns="0" rtlCol="0" anchor="ctr"/>
          <a:lstStyle/>
          <a:p>
            <a:pPr indent="0" marL="0">
              <a:buNone/>
            </a:pPr>
            <a:r>
              <a:rPr lang="en-US" sz="1450" b="1" dirty="0">
                <a:solidFill>
                  <a:srgbClr val="FFFFFF"/>
                </a:solidFill>
                <a:latin typeface="Poppins" pitchFamily="34" charset="0"/>
                <a:ea typeface="Poppins" pitchFamily="34" charset="-122"/>
                <a:cs typeface="Poppins" pitchFamily="34" charset="-120"/>
              </a:rPr>
              <a:t>Freelancer Portfolios</a:t>
            </a:r>
            <a:endParaRPr lang="en-US" sz="1450" dirty="0"/>
          </a:p>
        </p:txBody>
      </p:sp>
      <p:sp>
        <p:nvSpPr>
          <p:cNvPr id="29" name="Text 23"/>
          <p:cNvSpPr txBox="1"/>
          <p:nvPr/>
        </p:nvSpPr>
        <p:spPr>
          <a:xfrm>
            <a:off x="8430768" y="3273552"/>
            <a:ext cx="3072384" cy="457200"/>
          </a:xfrm>
          <a:prstGeom prst="rect">
            <a:avLst/>
          </a:prstGeom>
          <a:noFill/>
          <a:ln/>
        </p:spPr>
        <p:txBody>
          <a:bodyPr wrap="square" lIns="0" tIns="0" rIns="0" bIns="0" rtlCol="0" anchor="t"/>
          <a:lstStyle/>
          <a:p>
            <a:pPr indent="0" marL="0">
              <a:buNone/>
            </a:pPr>
            <a:r>
              <a:rPr lang="en-US" sz="1150" dirty="0">
                <a:solidFill>
                  <a:srgbClr val="CBD5E1"/>
                </a:solidFill>
                <a:latin typeface="Poppins" pitchFamily="34" charset="0"/>
                <a:ea typeface="Poppins" pitchFamily="34" charset="-122"/>
                <a:cs typeface="Poppins" pitchFamily="34" charset="-120"/>
              </a:rPr>
              <a:t>Showcase skills and previous work.</a:t>
            </a:r>
            <a:endParaRPr lang="en-US" sz="1150" dirty="0"/>
          </a:p>
        </p:txBody>
      </p:sp>
      <p:sp>
        <p:nvSpPr>
          <p:cNvPr id="30" name="Shape 24"/>
          <p:cNvSpPr/>
          <p:nvPr/>
        </p:nvSpPr>
        <p:spPr>
          <a:xfrm>
            <a:off x="457200" y="4069080"/>
            <a:ext cx="3575304" cy="2240280"/>
          </a:xfrm>
          <a:prstGeom prst="roundRect">
            <a:avLst>
              <a:gd name="adj" fmla="val 6531"/>
            </a:avLst>
          </a:prstGeom>
          <a:solidFill>
            <a:srgbClr val="FFFFFF">
              <a:alpha val="9000"/>
            </a:srgbClr>
          </a:solidFill>
          <a:ln w="9525">
            <a:solidFill>
              <a:srgbClr val="FFFFFF">
                <a:alpha val="16000"/>
              </a:srgbClr>
            </a:solidFill>
            <a:prstDash val="solid"/>
          </a:ln>
        </p:spPr>
      </p:sp>
      <p:sp>
        <p:nvSpPr>
          <p:cNvPr id="31" name="Shape 25"/>
          <p:cNvSpPr/>
          <p:nvPr/>
        </p:nvSpPr>
        <p:spPr>
          <a:xfrm>
            <a:off x="658368" y="4270248"/>
            <a:ext cx="914400" cy="914400"/>
          </a:xfrm>
          <a:prstGeom prst="ellipse">
            <a:avLst/>
          </a:prstGeom>
          <a:solidFill>
            <a:srgbClr val="12AEA4">
              <a:alpha val="18000"/>
            </a:srgbClr>
          </a:solidFill>
          <a:ln/>
        </p:spPr>
      </p:sp>
      <p:sp>
        <p:nvSpPr>
          <p:cNvPr id="32" name="Shape 26"/>
          <p:cNvSpPr/>
          <p:nvPr/>
        </p:nvSpPr>
        <p:spPr>
          <a:xfrm>
            <a:off x="777240" y="4389120"/>
            <a:ext cx="676656" cy="676656"/>
          </a:xfrm>
          <a:prstGeom prst="ellipse">
            <a:avLst/>
          </a:prstGeom>
          <a:solidFill>
            <a:srgbClr val="12AEA4"/>
          </a:solidFill>
          <a:ln/>
        </p:spPr>
      </p:sp>
      <p:pic>
        <p:nvPicPr>
          <p:cNvPr id="33" name="Image 4" descr="preencoded.png">    </p:cNvPr>
          <p:cNvPicPr>
            <a:picLocks noChangeAspect="1"/>
          </p:cNvPicPr>
          <p:nvPr/>
        </p:nvPicPr>
        <p:blipFill>
          <a:blip r:embed="rId6"/>
          <a:stretch>
            <a:fillRect/>
          </a:stretch>
        </p:blipFill>
        <p:spPr>
          <a:xfrm>
            <a:off x="953171" y="4565051"/>
            <a:ext cx="324795" cy="324795"/>
          </a:xfrm>
          <a:prstGeom prst="rect">
            <a:avLst/>
          </a:prstGeom>
        </p:spPr>
      </p:pic>
      <p:sp>
        <p:nvSpPr>
          <p:cNvPr id="34" name="Text 27"/>
          <p:cNvSpPr txBox="1"/>
          <p:nvPr/>
        </p:nvSpPr>
        <p:spPr>
          <a:xfrm>
            <a:off x="2843784" y="4325112"/>
            <a:ext cx="914400" cy="246888"/>
          </a:xfrm>
          <a:prstGeom prst="roundRect">
            <a:avLst>
              <a:gd name="adj" fmla="val 50000"/>
            </a:avLst>
          </a:prstGeom>
          <a:solidFill>
            <a:srgbClr val="12AEA4">
              <a:alpha val="30000"/>
            </a:srgbClr>
          </a:solidFill>
          <a:ln w="9525">
            <a:solidFill>
              <a:srgbClr val="12AEA4"/>
            </a:solidFill>
          </a:ln>
        </p:spPr>
        <p:txBody>
          <a:bodyPr wrap="square" lIns="0" tIns="0" rIns="0" bIns="0" rtlCol="0" anchor="ctr"/>
          <a:lstStyle/>
          <a:p>
            <a:pPr algn="ctr" indent="0" marL="0">
              <a:buNone/>
            </a:pPr>
            <a:r>
              <a:rPr lang="en-US" sz="750" b="1" spc="150" kern="0" dirty="0">
                <a:solidFill>
                  <a:srgbClr val="FFFFFF"/>
                </a:solidFill>
                <a:latin typeface="Poppins" pitchFamily="34" charset="0"/>
                <a:ea typeface="Poppins" pitchFamily="34" charset="-122"/>
                <a:cs typeface="Poppins" pitchFamily="34" charset="-120"/>
              </a:rPr>
              <a:t>FUTURE</a:t>
            </a:r>
            <a:endParaRPr lang="en-US" sz="750" dirty="0"/>
          </a:p>
        </p:txBody>
      </p:sp>
      <p:sp>
        <p:nvSpPr>
          <p:cNvPr id="35" name="Text 28"/>
          <p:cNvSpPr txBox="1"/>
          <p:nvPr/>
        </p:nvSpPr>
        <p:spPr>
          <a:xfrm>
            <a:off x="731520" y="5394960"/>
            <a:ext cx="3118104" cy="365760"/>
          </a:xfrm>
          <a:prstGeom prst="rect">
            <a:avLst/>
          </a:prstGeom>
          <a:noFill/>
          <a:ln/>
        </p:spPr>
        <p:txBody>
          <a:bodyPr wrap="square" lIns="0" tIns="0" rIns="0" bIns="0" rtlCol="0" anchor="ctr"/>
          <a:lstStyle/>
          <a:p>
            <a:pPr indent="0" marL="0">
              <a:buNone/>
            </a:pPr>
            <a:r>
              <a:rPr lang="en-US" sz="1450" b="1" dirty="0">
                <a:solidFill>
                  <a:srgbClr val="FFFFFF"/>
                </a:solidFill>
                <a:latin typeface="Poppins" pitchFamily="34" charset="0"/>
                <a:ea typeface="Poppins" pitchFamily="34" charset="-122"/>
                <a:cs typeface="Poppins" pitchFamily="34" charset="-120"/>
              </a:rPr>
              <a:t>Advanced Search</a:t>
            </a:r>
            <a:endParaRPr lang="en-US" sz="1450" dirty="0"/>
          </a:p>
        </p:txBody>
      </p:sp>
      <p:sp>
        <p:nvSpPr>
          <p:cNvPr id="36" name="Text 29"/>
          <p:cNvSpPr txBox="1"/>
          <p:nvPr/>
        </p:nvSpPr>
        <p:spPr>
          <a:xfrm>
            <a:off x="731520" y="5788152"/>
            <a:ext cx="3072384" cy="457200"/>
          </a:xfrm>
          <a:prstGeom prst="rect">
            <a:avLst/>
          </a:prstGeom>
          <a:noFill/>
          <a:ln/>
        </p:spPr>
        <p:txBody>
          <a:bodyPr wrap="square" lIns="0" tIns="0" rIns="0" bIns="0" rtlCol="0" anchor="t"/>
          <a:lstStyle/>
          <a:p>
            <a:pPr indent="0" marL="0">
              <a:buNone/>
            </a:pPr>
            <a:r>
              <a:rPr lang="en-US" sz="1150" dirty="0">
                <a:solidFill>
                  <a:srgbClr val="CBD5E1"/>
                </a:solidFill>
                <a:latin typeface="Poppins" pitchFamily="34" charset="0"/>
                <a:ea typeface="Poppins" pitchFamily="34" charset="-122"/>
                <a:cs typeface="Poppins" pitchFamily="34" charset="-120"/>
              </a:rPr>
              <a:t>Category filters and improved project discovery.</a:t>
            </a:r>
            <a:endParaRPr lang="en-US" sz="1150" dirty="0"/>
          </a:p>
        </p:txBody>
      </p:sp>
      <p:sp>
        <p:nvSpPr>
          <p:cNvPr id="37" name="Shape 30"/>
          <p:cNvSpPr/>
          <p:nvPr/>
        </p:nvSpPr>
        <p:spPr>
          <a:xfrm>
            <a:off x="4306824" y="4069080"/>
            <a:ext cx="3575304" cy="2240280"/>
          </a:xfrm>
          <a:prstGeom prst="roundRect">
            <a:avLst>
              <a:gd name="adj" fmla="val 6531"/>
            </a:avLst>
          </a:prstGeom>
          <a:solidFill>
            <a:srgbClr val="FFFFFF">
              <a:alpha val="9000"/>
            </a:srgbClr>
          </a:solidFill>
          <a:ln w="9525">
            <a:solidFill>
              <a:srgbClr val="FFFFFF">
                <a:alpha val="16000"/>
              </a:srgbClr>
            </a:solidFill>
            <a:prstDash val="solid"/>
          </a:ln>
        </p:spPr>
      </p:sp>
      <p:sp>
        <p:nvSpPr>
          <p:cNvPr id="38" name="Shape 31"/>
          <p:cNvSpPr/>
          <p:nvPr/>
        </p:nvSpPr>
        <p:spPr>
          <a:xfrm>
            <a:off x="4507992" y="4270248"/>
            <a:ext cx="914400" cy="914400"/>
          </a:xfrm>
          <a:prstGeom prst="ellipse">
            <a:avLst/>
          </a:prstGeom>
          <a:solidFill>
            <a:srgbClr val="F79330">
              <a:alpha val="18000"/>
            </a:srgbClr>
          </a:solidFill>
          <a:ln/>
        </p:spPr>
      </p:sp>
      <p:sp>
        <p:nvSpPr>
          <p:cNvPr id="39" name="Shape 32"/>
          <p:cNvSpPr/>
          <p:nvPr/>
        </p:nvSpPr>
        <p:spPr>
          <a:xfrm>
            <a:off x="4626864" y="4389120"/>
            <a:ext cx="676656" cy="676656"/>
          </a:xfrm>
          <a:prstGeom prst="ellipse">
            <a:avLst/>
          </a:prstGeom>
          <a:solidFill>
            <a:srgbClr val="F79330"/>
          </a:solidFill>
          <a:ln/>
        </p:spPr>
      </p:sp>
      <p:pic>
        <p:nvPicPr>
          <p:cNvPr id="40" name="Image 5" descr="preencoded.png">    </p:cNvPr>
          <p:cNvPicPr>
            <a:picLocks noChangeAspect="1"/>
          </p:cNvPicPr>
          <p:nvPr/>
        </p:nvPicPr>
        <p:blipFill>
          <a:blip r:embed="rId7"/>
          <a:stretch>
            <a:fillRect/>
          </a:stretch>
        </p:blipFill>
        <p:spPr>
          <a:xfrm>
            <a:off x="4802795" y="4565051"/>
            <a:ext cx="324795" cy="324795"/>
          </a:xfrm>
          <a:prstGeom prst="rect">
            <a:avLst/>
          </a:prstGeom>
        </p:spPr>
      </p:pic>
      <p:sp>
        <p:nvSpPr>
          <p:cNvPr id="41" name="Text 33"/>
          <p:cNvSpPr txBox="1"/>
          <p:nvPr/>
        </p:nvSpPr>
        <p:spPr>
          <a:xfrm>
            <a:off x="6693408" y="4325112"/>
            <a:ext cx="914400" cy="246888"/>
          </a:xfrm>
          <a:prstGeom prst="roundRect">
            <a:avLst>
              <a:gd name="adj" fmla="val 50000"/>
            </a:avLst>
          </a:prstGeom>
          <a:solidFill>
            <a:srgbClr val="F79330">
              <a:alpha val="30000"/>
            </a:srgbClr>
          </a:solidFill>
          <a:ln w="9525">
            <a:solidFill>
              <a:srgbClr val="F79330"/>
            </a:solidFill>
          </a:ln>
        </p:spPr>
        <p:txBody>
          <a:bodyPr wrap="square" lIns="0" tIns="0" rIns="0" bIns="0" rtlCol="0" anchor="ctr"/>
          <a:lstStyle/>
          <a:p>
            <a:pPr algn="ctr" indent="0" marL="0">
              <a:buNone/>
            </a:pPr>
            <a:r>
              <a:rPr lang="en-US" sz="750" b="1" spc="150" kern="0" dirty="0">
                <a:solidFill>
                  <a:srgbClr val="FFFFFF"/>
                </a:solidFill>
                <a:latin typeface="Poppins" pitchFamily="34" charset="0"/>
                <a:ea typeface="Poppins" pitchFamily="34" charset="-122"/>
                <a:cs typeface="Poppins" pitchFamily="34" charset="-120"/>
              </a:rPr>
              <a:t>FUTURE</a:t>
            </a:r>
            <a:endParaRPr lang="en-US" sz="750" dirty="0"/>
          </a:p>
        </p:txBody>
      </p:sp>
      <p:sp>
        <p:nvSpPr>
          <p:cNvPr id="42" name="Text 34"/>
          <p:cNvSpPr txBox="1"/>
          <p:nvPr/>
        </p:nvSpPr>
        <p:spPr>
          <a:xfrm>
            <a:off x="4581144" y="5394960"/>
            <a:ext cx="3118104" cy="365760"/>
          </a:xfrm>
          <a:prstGeom prst="rect">
            <a:avLst/>
          </a:prstGeom>
          <a:noFill/>
          <a:ln/>
        </p:spPr>
        <p:txBody>
          <a:bodyPr wrap="square" lIns="0" tIns="0" rIns="0" bIns="0" rtlCol="0" anchor="ctr"/>
          <a:lstStyle/>
          <a:p>
            <a:pPr indent="0" marL="0">
              <a:buNone/>
            </a:pPr>
            <a:r>
              <a:rPr lang="en-US" sz="1450" b="1" dirty="0">
                <a:solidFill>
                  <a:srgbClr val="FFFFFF"/>
                </a:solidFill>
                <a:latin typeface="Poppins" pitchFamily="34" charset="0"/>
                <a:ea typeface="Poppins" pitchFamily="34" charset="-122"/>
                <a:cs typeface="Poppins" pitchFamily="34" charset="-120"/>
              </a:rPr>
              <a:t>Notifications</a:t>
            </a:r>
            <a:endParaRPr lang="en-US" sz="1450" dirty="0"/>
          </a:p>
        </p:txBody>
      </p:sp>
      <p:sp>
        <p:nvSpPr>
          <p:cNvPr id="43" name="Text 35"/>
          <p:cNvSpPr txBox="1"/>
          <p:nvPr/>
        </p:nvSpPr>
        <p:spPr>
          <a:xfrm>
            <a:off x="4581144" y="5788152"/>
            <a:ext cx="3072384" cy="457200"/>
          </a:xfrm>
          <a:prstGeom prst="rect">
            <a:avLst/>
          </a:prstGeom>
          <a:noFill/>
          <a:ln/>
        </p:spPr>
        <p:txBody>
          <a:bodyPr wrap="square" lIns="0" tIns="0" rIns="0" bIns="0" rtlCol="0" anchor="t"/>
          <a:lstStyle/>
          <a:p>
            <a:pPr indent="0" marL="0">
              <a:buNone/>
            </a:pPr>
            <a:r>
              <a:rPr lang="en-US" sz="1150" dirty="0">
                <a:solidFill>
                  <a:srgbClr val="CBD5E1"/>
                </a:solidFill>
                <a:latin typeface="Poppins" pitchFamily="34" charset="0"/>
                <a:ea typeface="Poppins" pitchFamily="34" charset="-122"/>
                <a:cs typeface="Poppins" pitchFamily="34" charset="-120"/>
              </a:rPr>
              <a:t>Bid updates and hiring notifications.</a:t>
            </a:r>
            <a:endParaRPr lang="en-US" sz="1150" dirty="0"/>
          </a:p>
        </p:txBody>
      </p:sp>
      <p:sp>
        <p:nvSpPr>
          <p:cNvPr id="44" name="Shape 36"/>
          <p:cNvSpPr/>
          <p:nvPr/>
        </p:nvSpPr>
        <p:spPr>
          <a:xfrm>
            <a:off x="8156448" y="4069080"/>
            <a:ext cx="3575304" cy="2240280"/>
          </a:xfrm>
          <a:prstGeom prst="roundRect">
            <a:avLst>
              <a:gd name="adj" fmla="val 6531"/>
            </a:avLst>
          </a:prstGeom>
          <a:solidFill>
            <a:srgbClr val="FFFFFF">
              <a:alpha val="9000"/>
            </a:srgbClr>
          </a:solidFill>
          <a:ln w="9525">
            <a:solidFill>
              <a:srgbClr val="FFFFFF">
                <a:alpha val="16000"/>
              </a:srgbClr>
            </a:solidFill>
            <a:prstDash val="solid"/>
          </a:ln>
        </p:spPr>
      </p:sp>
      <p:sp>
        <p:nvSpPr>
          <p:cNvPr id="45" name="Shape 37"/>
          <p:cNvSpPr/>
          <p:nvPr/>
        </p:nvSpPr>
        <p:spPr>
          <a:xfrm>
            <a:off x="8357616" y="4270248"/>
            <a:ext cx="914400" cy="914400"/>
          </a:xfrm>
          <a:prstGeom prst="ellipse">
            <a:avLst/>
          </a:prstGeom>
          <a:solidFill>
            <a:srgbClr val="EF5B59">
              <a:alpha val="18000"/>
            </a:srgbClr>
          </a:solidFill>
          <a:ln/>
        </p:spPr>
      </p:sp>
      <p:sp>
        <p:nvSpPr>
          <p:cNvPr id="46" name="Shape 38"/>
          <p:cNvSpPr/>
          <p:nvPr/>
        </p:nvSpPr>
        <p:spPr>
          <a:xfrm>
            <a:off x="8476488" y="4389120"/>
            <a:ext cx="676656" cy="676656"/>
          </a:xfrm>
          <a:prstGeom prst="ellipse">
            <a:avLst/>
          </a:prstGeom>
          <a:solidFill>
            <a:srgbClr val="EF5B59"/>
          </a:solidFill>
          <a:ln/>
        </p:spPr>
      </p:sp>
      <p:pic>
        <p:nvPicPr>
          <p:cNvPr id="47" name="Image 6" descr="preencoded.png">    </p:cNvPr>
          <p:cNvPicPr>
            <a:picLocks noChangeAspect="1"/>
          </p:cNvPicPr>
          <p:nvPr/>
        </p:nvPicPr>
        <p:blipFill>
          <a:blip r:embed="rId8"/>
          <a:stretch>
            <a:fillRect/>
          </a:stretch>
        </p:blipFill>
        <p:spPr>
          <a:xfrm>
            <a:off x="8652419" y="4565051"/>
            <a:ext cx="324795" cy="324795"/>
          </a:xfrm>
          <a:prstGeom prst="rect">
            <a:avLst/>
          </a:prstGeom>
        </p:spPr>
      </p:pic>
      <p:sp>
        <p:nvSpPr>
          <p:cNvPr id="48" name="Text 39"/>
          <p:cNvSpPr txBox="1"/>
          <p:nvPr/>
        </p:nvSpPr>
        <p:spPr>
          <a:xfrm>
            <a:off x="10543032" y="4325112"/>
            <a:ext cx="914400" cy="246888"/>
          </a:xfrm>
          <a:prstGeom prst="roundRect">
            <a:avLst>
              <a:gd name="adj" fmla="val 50000"/>
            </a:avLst>
          </a:prstGeom>
          <a:solidFill>
            <a:srgbClr val="EF5B59">
              <a:alpha val="30000"/>
            </a:srgbClr>
          </a:solidFill>
          <a:ln w="9525">
            <a:solidFill>
              <a:srgbClr val="EF5B59"/>
            </a:solidFill>
          </a:ln>
        </p:spPr>
        <p:txBody>
          <a:bodyPr wrap="square" lIns="0" tIns="0" rIns="0" bIns="0" rtlCol="0" anchor="ctr"/>
          <a:lstStyle/>
          <a:p>
            <a:pPr algn="ctr" indent="0" marL="0">
              <a:buNone/>
            </a:pPr>
            <a:r>
              <a:rPr lang="en-US" sz="750" b="1" spc="150" kern="0" dirty="0">
                <a:solidFill>
                  <a:srgbClr val="FFFFFF"/>
                </a:solidFill>
                <a:latin typeface="Poppins" pitchFamily="34" charset="0"/>
                <a:ea typeface="Poppins" pitchFamily="34" charset="-122"/>
                <a:cs typeface="Poppins" pitchFamily="34" charset="-120"/>
              </a:rPr>
              <a:t>FUTURE</a:t>
            </a:r>
            <a:endParaRPr lang="en-US" sz="750" dirty="0"/>
          </a:p>
        </p:txBody>
      </p:sp>
      <p:sp>
        <p:nvSpPr>
          <p:cNvPr id="49" name="Text 40"/>
          <p:cNvSpPr txBox="1"/>
          <p:nvPr/>
        </p:nvSpPr>
        <p:spPr>
          <a:xfrm>
            <a:off x="8430768" y="5394960"/>
            <a:ext cx="3118104" cy="365760"/>
          </a:xfrm>
          <a:prstGeom prst="rect">
            <a:avLst/>
          </a:prstGeom>
          <a:noFill/>
          <a:ln/>
        </p:spPr>
        <p:txBody>
          <a:bodyPr wrap="square" lIns="0" tIns="0" rIns="0" bIns="0" rtlCol="0" anchor="ctr"/>
          <a:lstStyle/>
          <a:p>
            <a:pPr indent="0" marL="0">
              <a:buNone/>
            </a:pPr>
            <a:r>
              <a:rPr lang="en-US" sz="1450" b="1" dirty="0">
                <a:solidFill>
                  <a:srgbClr val="FFFFFF"/>
                </a:solidFill>
                <a:latin typeface="Poppins" pitchFamily="34" charset="0"/>
                <a:ea typeface="Poppins" pitchFamily="34" charset="-122"/>
                <a:cs typeface="Poppins" pitchFamily="34" charset="-120"/>
              </a:rPr>
              <a:t>Payment History</a:t>
            </a:r>
            <a:endParaRPr lang="en-US" sz="1450" dirty="0"/>
          </a:p>
        </p:txBody>
      </p:sp>
      <p:sp>
        <p:nvSpPr>
          <p:cNvPr id="50" name="Text 41"/>
          <p:cNvSpPr txBox="1"/>
          <p:nvPr/>
        </p:nvSpPr>
        <p:spPr>
          <a:xfrm>
            <a:off x="8430768" y="5788152"/>
            <a:ext cx="3072384" cy="457200"/>
          </a:xfrm>
          <a:prstGeom prst="rect">
            <a:avLst/>
          </a:prstGeom>
          <a:noFill/>
          <a:ln/>
        </p:spPr>
        <p:txBody>
          <a:bodyPr wrap="square" lIns="0" tIns="0" rIns="0" bIns="0" rtlCol="0" anchor="t"/>
          <a:lstStyle/>
          <a:p>
            <a:pPr indent="0" marL="0">
              <a:buNone/>
            </a:pPr>
            <a:r>
              <a:rPr lang="en-US" sz="1150" dirty="0">
                <a:solidFill>
                  <a:srgbClr val="CBD5E1"/>
                </a:solidFill>
                <a:latin typeface="Poppins" pitchFamily="34" charset="0"/>
                <a:ea typeface="Poppins" pitchFamily="34" charset="-122"/>
                <a:cs typeface="Poppins" pitchFamily="34" charset="-120"/>
              </a:rPr>
              <a:t>Better transaction history and reconciliation.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457200" y="274320"/>
            <a:ext cx="365760" cy="365760"/>
          </a:xfrm>
          <a:prstGeom prst="rect">
            <a:avLst/>
          </a:prstGeom>
        </p:spPr>
      </p:pic>
      <p:sp>
        <p:nvSpPr>
          <p:cNvPr id="3" name="Text 0"/>
          <p:cNvSpPr txBox="1"/>
          <p:nvPr/>
        </p:nvSpPr>
        <p:spPr>
          <a:xfrm>
            <a:off x="914400" y="274320"/>
            <a:ext cx="2011680" cy="365760"/>
          </a:xfrm>
          <a:prstGeom prst="rect">
            <a:avLst/>
          </a:prstGeom>
          <a:noFill/>
          <a:ln/>
        </p:spPr>
        <p:txBody>
          <a:bodyPr wrap="square" lIns="0" tIns="0" rIns="0" bIns="0" rtlCol="0" anchor="ctr"/>
          <a:lstStyle/>
          <a:p>
            <a:pPr indent="0" marL="0">
              <a:buNone/>
            </a:pPr>
            <a:r>
              <a:rPr lang="en-US" sz="1200" b="1" spc="400" kern="0" dirty="0">
                <a:solidFill>
                  <a:srgbClr val="FFFFFF"/>
                </a:solidFill>
                <a:latin typeface="Poppins" pitchFamily="34" charset="0"/>
                <a:ea typeface="Poppins" pitchFamily="34" charset="-122"/>
                <a:cs typeface="Poppins" pitchFamily="34" charset="-120"/>
              </a:rPr>
              <a:t>ZENTORA</a:t>
            </a:r>
            <a:endParaRPr lang="en-US" sz="1200" dirty="0"/>
          </a:p>
        </p:txBody>
      </p:sp>
      <p:sp>
        <p:nvSpPr>
          <p:cNvPr id="4" name="Text 1"/>
          <p:cNvSpPr txBox="1"/>
          <p:nvPr/>
        </p:nvSpPr>
        <p:spPr>
          <a:xfrm>
            <a:off x="8805672" y="310896"/>
            <a:ext cx="2926080" cy="292608"/>
          </a:xfrm>
          <a:prstGeom prst="roundRect">
            <a:avLst>
              <a:gd name="adj" fmla="val 50000"/>
            </a:avLst>
          </a:prstGeom>
          <a:solidFill>
            <a:srgbClr val="12AEA4">
              <a:alpha val="30000"/>
            </a:srgbClr>
          </a:solidFill>
          <a:ln w="9525">
            <a:solidFill>
              <a:srgbClr val="12AEA4"/>
            </a:solidFill>
          </a:ln>
        </p:spPr>
        <p:txBody>
          <a:bodyPr wrap="square" lIns="0" tIns="0" rIns="0" bIns="0" rtlCol="0" anchor="ctr"/>
          <a:lstStyle/>
          <a:p>
            <a:pPr algn="ctr" indent="0" marL="0">
              <a:buNone/>
            </a:pPr>
            <a:r>
              <a:rPr lang="en-US" sz="900" b="1" spc="150" kern="0" dirty="0">
                <a:solidFill>
                  <a:srgbClr val="FFFFFF"/>
                </a:solidFill>
                <a:latin typeface="Poppins" pitchFamily="34" charset="0"/>
                <a:ea typeface="Poppins" pitchFamily="34" charset="-122"/>
                <a:cs typeface="Poppins" pitchFamily="34" charset="-120"/>
              </a:rPr>
              <a:t>CONCLUSION</a:t>
            </a:r>
            <a:endParaRPr lang="en-US" sz="900" dirty="0"/>
          </a:p>
        </p:txBody>
      </p:sp>
      <p:sp>
        <p:nvSpPr>
          <p:cNvPr id="5" name="Text 2"/>
          <p:cNvSpPr txBox="1"/>
          <p:nvPr/>
        </p:nvSpPr>
        <p:spPr>
          <a:xfrm>
            <a:off x="457200" y="6473952"/>
            <a:ext cx="5486400" cy="228600"/>
          </a:xfrm>
          <a:prstGeom prst="rect">
            <a:avLst/>
          </a:prstGeom>
          <a:noFill/>
          <a:ln/>
        </p:spPr>
        <p:txBody>
          <a:bodyPr wrap="square" lIns="0" tIns="0" rIns="0" bIns="0" rtlCol="0" anchor="ctr"/>
          <a:lstStyle/>
          <a:p>
            <a:pPr indent="0" marL="0">
              <a:buNone/>
            </a:pPr>
            <a:r>
              <a:rPr lang="en-US" sz="850" dirty="0">
                <a:solidFill>
                  <a:srgbClr val="A9B7CC"/>
                </a:solidFill>
                <a:latin typeface="Poppins" pitchFamily="34" charset="0"/>
                <a:ea typeface="Poppins" pitchFamily="34" charset="-122"/>
                <a:cs typeface="Poppins" pitchFamily="34" charset="-120"/>
              </a:rPr>
              <a:t>Zentora  |  Freelance Marketplace Platform</a:t>
            </a:r>
            <a:endParaRPr lang="en-US" sz="850" dirty="0"/>
          </a:p>
        </p:txBody>
      </p:sp>
      <p:sp>
        <p:nvSpPr>
          <p:cNvPr id="6" name="Text 3"/>
          <p:cNvSpPr txBox="1"/>
          <p:nvPr/>
        </p:nvSpPr>
        <p:spPr>
          <a:xfrm>
            <a:off x="7616952" y="6473952"/>
            <a:ext cx="4114800" cy="228600"/>
          </a:xfrm>
          <a:prstGeom prst="rect">
            <a:avLst/>
          </a:prstGeom>
          <a:noFill/>
          <a:ln/>
        </p:spPr>
        <p:txBody>
          <a:bodyPr wrap="square" lIns="0" tIns="0" rIns="0" bIns="0" rtlCol="0" anchor="ctr"/>
          <a:lstStyle/>
          <a:p>
            <a:pPr algn="r" indent="0" marL="0">
              <a:buNone/>
            </a:pPr>
            <a:r>
              <a:rPr lang="en-US" sz="850" dirty="0">
                <a:solidFill>
                  <a:srgbClr val="A9B7CC"/>
                </a:solidFill>
                <a:latin typeface="Poppins" pitchFamily="34" charset="0"/>
                <a:ea typeface="Poppins" pitchFamily="34" charset="-122"/>
                <a:cs typeface="Poppins" pitchFamily="34" charset="-120"/>
              </a:rPr>
              <a:t>Aman Pandey    13 / 13</a:t>
            </a:r>
            <a:endParaRPr lang="en-US" sz="850" dirty="0"/>
          </a:p>
        </p:txBody>
      </p:sp>
      <p:sp>
        <p:nvSpPr>
          <p:cNvPr id="7" name="Text 4"/>
          <p:cNvSpPr txBox="1"/>
          <p:nvPr/>
        </p:nvSpPr>
        <p:spPr>
          <a:xfrm>
            <a:off x="457200" y="777240"/>
            <a:ext cx="11274552" cy="365760"/>
          </a:xfrm>
          <a:prstGeom prst="rect">
            <a:avLst/>
          </a:prstGeom>
          <a:noFill/>
          <a:ln/>
        </p:spPr>
        <p:txBody>
          <a:bodyPr wrap="square" lIns="0" tIns="0" rIns="0" bIns="0" rtlCol="0" anchor="ctr"/>
          <a:lstStyle/>
          <a:p>
            <a:pPr algn="ctr" indent="0" marL="0">
              <a:buNone/>
            </a:pPr>
            <a:r>
              <a:rPr lang="en-US" sz="1300" b="1" spc="300" kern="0" dirty="0">
                <a:solidFill>
                  <a:srgbClr val="F79330"/>
                </a:solidFill>
                <a:latin typeface="Poppins" pitchFamily="34" charset="0"/>
                <a:ea typeface="Poppins" pitchFamily="34" charset="-122"/>
                <a:cs typeface="Poppins" pitchFamily="34" charset="-120"/>
              </a:rPr>
              <a:t>Conclusion</a:t>
            </a:r>
            <a:endParaRPr lang="en-US" sz="1300" dirty="0"/>
          </a:p>
        </p:txBody>
      </p:sp>
      <p:sp>
        <p:nvSpPr>
          <p:cNvPr id="8" name="Text 5"/>
          <p:cNvSpPr txBox="1"/>
          <p:nvPr/>
        </p:nvSpPr>
        <p:spPr>
          <a:xfrm>
            <a:off x="914400" y="1234440"/>
            <a:ext cx="10360152" cy="1417320"/>
          </a:xfrm>
          <a:prstGeom prst="rect">
            <a:avLst/>
          </a:prstGeom>
          <a:noFill/>
          <a:ln/>
        </p:spPr>
        <p:txBody>
          <a:bodyPr wrap="square" lIns="0" tIns="0" rIns="0" bIns="0" rtlCol="0" anchor="ctr"/>
          <a:lstStyle/>
          <a:p>
            <a:pPr algn="ctr" indent="0" marL="0">
              <a:buNone/>
            </a:pPr>
            <a:r>
              <a:rPr lang="en-US" sz="2800" b="1" dirty="0">
                <a:solidFill>
                  <a:srgbClr val="2DD4C8"/>
                </a:solidFill>
                <a:latin typeface="Poppins" pitchFamily="34" charset="0"/>
                <a:ea typeface="Poppins" pitchFamily="34" charset="-122"/>
                <a:cs typeface="Poppins" pitchFamily="34" charset="-120"/>
              </a:rPr>
              <a:t>Zentora</a:t>
            </a:r>
            <a:pPr algn="ctr" indent="0" marL="0">
              <a:buNone/>
            </a:pPr>
            <a:r>
              <a:rPr lang="en-US" sz="2800" b="1" dirty="0">
                <a:solidFill>
                  <a:srgbClr val="FFFFFF"/>
                </a:solidFill>
                <a:latin typeface="Poppins" pitchFamily="34" charset="0"/>
                <a:ea typeface="Poppins" pitchFamily="34" charset="-122"/>
                <a:cs typeface="Poppins" pitchFamily="34" charset="-120"/>
              </a:rPr>
              <a:t> provides a complete foundation for a </a:t>
            </a:r>
            <a:pPr algn="ctr" indent="0" marL="0">
              <a:buNone/>
            </a:pPr>
            <a:r>
              <a:rPr lang="en-US" sz="2800" b="1" dirty="0">
                <a:solidFill>
                  <a:srgbClr val="FFB25E"/>
                </a:solidFill>
                <a:latin typeface="Poppins" pitchFamily="34" charset="0"/>
                <a:ea typeface="Poppins" pitchFamily="34" charset="-122"/>
                <a:cs typeface="Poppins" pitchFamily="34" charset="-120"/>
              </a:rPr>
              <a:t>scalable freelance marketplace.</a:t>
            </a:r>
            <a:endParaRPr lang="en-US" sz="2800" dirty="0"/>
          </a:p>
        </p:txBody>
      </p:sp>
      <p:sp>
        <p:nvSpPr>
          <p:cNvPr id="9" name="Shape 6"/>
          <p:cNvSpPr/>
          <p:nvPr/>
        </p:nvSpPr>
        <p:spPr>
          <a:xfrm>
            <a:off x="632308" y="2926080"/>
            <a:ext cx="1783080" cy="777240"/>
          </a:xfrm>
          <a:prstGeom prst="roundRect">
            <a:avLst>
              <a:gd name="adj" fmla="val 49412"/>
            </a:avLst>
          </a:prstGeom>
          <a:solidFill>
            <a:srgbClr val="FFFFFF">
              <a:alpha val="9000"/>
            </a:srgbClr>
          </a:solidFill>
          <a:ln w="9525">
            <a:solidFill>
              <a:srgbClr val="FFFFFF">
                <a:alpha val="16000"/>
              </a:srgbClr>
            </a:solidFill>
            <a:prstDash val="solid"/>
          </a:ln>
        </p:spPr>
      </p:sp>
      <p:sp>
        <p:nvSpPr>
          <p:cNvPr id="10" name="Shape 7"/>
          <p:cNvSpPr/>
          <p:nvPr/>
        </p:nvSpPr>
        <p:spPr>
          <a:xfrm>
            <a:off x="760324" y="3054096"/>
            <a:ext cx="521208" cy="521208"/>
          </a:xfrm>
          <a:prstGeom prst="ellipse">
            <a:avLst/>
          </a:prstGeom>
          <a:solidFill>
            <a:srgbClr val="12AEA4"/>
          </a:solidFill>
          <a:ln/>
        </p:spPr>
      </p:sp>
      <p:pic>
        <p:nvPicPr>
          <p:cNvPr id="11" name="Image 1" descr="preencoded.png">    </p:cNvPr>
          <p:cNvPicPr>
            <a:picLocks noChangeAspect="1"/>
          </p:cNvPicPr>
          <p:nvPr/>
        </p:nvPicPr>
        <p:blipFill>
          <a:blip r:embed="rId3"/>
          <a:stretch>
            <a:fillRect/>
          </a:stretch>
        </p:blipFill>
        <p:spPr>
          <a:xfrm>
            <a:off x="890626" y="3184398"/>
            <a:ext cx="260604" cy="260604"/>
          </a:xfrm>
          <a:prstGeom prst="rect">
            <a:avLst/>
          </a:prstGeom>
        </p:spPr>
      </p:pic>
      <p:sp>
        <p:nvSpPr>
          <p:cNvPr id="12" name="Text 8"/>
          <p:cNvSpPr txBox="1"/>
          <p:nvPr/>
        </p:nvSpPr>
        <p:spPr>
          <a:xfrm>
            <a:off x="1382116" y="2926080"/>
            <a:ext cx="1005840" cy="77724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Clients</a:t>
            </a:r>
            <a:endParaRPr lang="en-US" sz="1050" dirty="0"/>
          </a:p>
        </p:txBody>
      </p:sp>
      <p:pic>
        <p:nvPicPr>
          <p:cNvPr id="13" name="Image 2" descr="preencoded.png">    </p:cNvPr>
          <p:cNvPicPr>
            <a:picLocks noChangeAspect="1"/>
          </p:cNvPicPr>
          <p:nvPr/>
        </p:nvPicPr>
        <p:blipFill>
          <a:blip r:embed="rId4"/>
          <a:stretch>
            <a:fillRect/>
          </a:stretch>
        </p:blipFill>
        <p:spPr>
          <a:xfrm>
            <a:off x="2543404" y="3182112"/>
            <a:ext cx="256032" cy="256032"/>
          </a:xfrm>
          <a:prstGeom prst="rect">
            <a:avLst/>
          </a:prstGeom>
        </p:spPr>
      </p:pic>
      <p:sp>
        <p:nvSpPr>
          <p:cNvPr id="14" name="Shape 9"/>
          <p:cNvSpPr/>
          <p:nvPr/>
        </p:nvSpPr>
        <p:spPr>
          <a:xfrm>
            <a:off x="2918308" y="2926080"/>
            <a:ext cx="1783080" cy="777240"/>
          </a:xfrm>
          <a:prstGeom prst="roundRect">
            <a:avLst>
              <a:gd name="adj" fmla="val 49412"/>
            </a:avLst>
          </a:prstGeom>
          <a:solidFill>
            <a:srgbClr val="FFFFFF">
              <a:alpha val="9000"/>
            </a:srgbClr>
          </a:solidFill>
          <a:ln w="9525">
            <a:solidFill>
              <a:srgbClr val="FFFFFF">
                <a:alpha val="16000"/>
              </a:srgbClr>
            </a:solidFill>
            <a:prstDash val="solid"/>
          </a:ln>
        </p:spPr>
      </p:sp>
      <p:sp>
        <p:nvSpPr>
          <p:cNvPr id="15" name="Shape 10"/>
          <p:cNvSpPr/>
          <p:nvPr/>
        </p:nvSpPr>
        <p:spPr>
          <a:xfrm>
            <a:off x="3046324" y="3054096"/>
            <a:ext cx="521208" cy="521208"/>
          </a:xfrm>
          <a:prstGeom prst="ellipse">
            <a:avLst/>
          </a:prstGeom>
          <a:solidFill>
            <a:srgbClr val="EF5B59"/>
          </a:solidFill>
          <a:ln/>
        </p:spPr>
      </p:sp>
      <p:pic>
        <p:nvPicPr>
          <p:cNvPr id="16" name="Image 3" descr="preencoded.png">    </p:cNvPr>
          <p:cNvPicPr>
            <a:picLocks noChangeAspect="1"/>
          </p:cNvPicPr>
          <p:nvPr/>
        </p:nvPicPr>
        <p:blipFill>
          <a:blip r:embed="rId5"/>
          <a:stretch>
            <a:fillRect/>
          </a:stretch>
        </p:blipFill>
        <p:spPr>
          <a:xfrm>
            <a:off x="3176626" y="3184398"/>
            <a:ext cx="260604" cy="260604"/>
          </a:xfrm>
          <a:prstGeom prst="rect">
            <a:avLst/>
          </a:prstGeom>
        </p:spPr>
      </p:pic>
      <p:sp>
        <p:nvSpPr>
          <p:cNvPr id="17" name="Text 11"/>
          <p:cNvSpPr txBox="1"/>
          <p:nvPr/>
        </p:nvSpPr>
        <p:spPr>
          <a:xfrm>
            <a:off x="3668116" y="2926080"/>
            <a:ext cx="1005840" cy="77724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Projects</a:t>
            </a:r>
            <a:endParaRPr lang="en-US" sz="1050" dirty="0"/>
          </a:p>
        </p:txBody>
      </p:sp>
      <p:pic>
        <p:nvPicPr>
          <p:cNvPr id="18" name="Image 4" descr="preencoded.png">    </p:cNvPr>
          <p:cNvPicPr>
            <a:picLocks noChangeAspect="1"/>
          </p:cNvPicPr>
          <p:nvPr/>
        </p:nvPicPr>
        <p:blipFill>
          <a:blip r:embed="rId6"/>
          <a:stretch>
            <a:fillRect/>
          </a:stretch>
        </p:blipFill>
        <p:spPr>
          <a:xfrm>
            <a:off x="4829404" y="3182112"/>
            <a:ext cx="256032" cy="256032"/>
          </a:xfrm>
          <a:prstGeom prst="rect">
            <a:avLst/>
          </a:prstGeom>
        </p:spPr>
      </p:pic>
      <p:sp>
        <p:nvSpPr>
          <p:cNvPr id="19" name="Shape 12"/>
          <p:cNvSpPr/>
          <p:nvPr/>
        </p:nvSpPr>
        <p:spPr>
          <a:xfrm>
            <a:off x="5204308" y="2926080"/>
            <a:ext cx="1783080" cy="777240"/>
          </a:xfrm>
          <a:prstGeom prst="roundRect">
            <a:avLst>
              <a:gd name="adj" fmla="val 49412"/>
            </a:avLst>
          </a:prstGeom>
          <a:solidFill>
            <a:srgbClr val="FFFFFF">
              <a:alpha val="9000"/>
            </a:srgbClr>
          </a:solidFill>
          <a:ln w="9525">
            <a:solidFill>
              <a:srgbClr val="FFFFFF">
                <a:alpha val="16000"/>
              </a:srgbClr>
            </a:solidFill>
            <a:prstDash val="solid"/>
          </a:ln>
        </p:spPr>
      </p:sp>
      <p:sp>
        <p:nvSpPr>
          <p:cNvPr id="20" name="Shape 13"/>
          <p:cNvSpPr/>
          <p:nvPr/>
        </p:nvSpPr>
        <p:spPr>
          <a:xfrm>
            <a:off x="5332324" y="3054096"/>
            <a:ext cx="521208" cy="521208"/>
          </a:xfrm>
          <a:prstGeom prst="ellipse">
            <a:avLst/>
          </a:prstGeom>
          <a:solidFill>
            <a:srgbClr val="F79330"/>
          </a:solidFill>
          <a:ln/>
        </p:spPr>
      </p:sp>
      <p:pic>
        <p:nvPicPr>
          <p:cNvPr id="21" name="Image 5" descr="preencoded.png">    </p:cNvPr>
          <p:cNvPicPr>
            <a:picLocks noChangeAspect="1"/>
          </p:cNvPicPr>
          <p:nvPr/>
        </p:nvPicPr>
        <p:blipFill>
          <a:blip r:embed="rId7"/>
          <a:stretch>
            <a:fillRect/>
          </a:stretch>
        </p:blipFill>
        <p:spPr>
          <a:xfrm>
            <a:off x="5462626" y="3184398"/>
            <a:ext cx="260604" cy="260604"/>
          </a:xfrm>
          <a:prstGeom prst="rect">
            <a:avLst/>
          </a:prstGeom>
        </p:spPr>
      </p:pic>
      <p:sp>
        <p:nvSpPr>
          <p:cNvPr id="22" name="Text 14"/>
          <p:cNvSpPr txBox="1"/>
          <p:nvPr/>
        </p:nvSpPr>
        <p:spPr>
          <a:xfrm>
            <a:off x="5954116" y="2926080"/>
            <a:ext cx="1005840" cy="77724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Freelancers</a:t>
            </a:r>
            <a:endParaRPr lang="en-US" sz="1050" dirty="0"/>
          </a:p>
        </p:txBody>
      </p:sp>
      <p:pic>
        <p:nvPicPr>
          <p:cNvPr id="23" name="Image 6" descr="preencoded.png">    </p:cNvPr>
          <p:cNvPicPr>
            <a:picLocks noChangeAspect="1"/>
          </p:cNvPicPr>
          <p:nvPr/>
        </p:nvPicPr>
        <p:blipFill>
          <a:blip r:embed="rId8"/>
          <a:stretch>
            <a:fillRect/>
          </a:stretch>
        </p:blipFill>
        <p:spPr>
          <a:xfrm>
            <a:off x="7115404" y="3182112"/>
            <a:ext cx="256032" cy="256032"/>
          </a:xfrm>
          <a:prstGeom prst="rect">
            <a:avLst/>
          </a:prstGeom>
        </p:spPr>
      </p:pic>
      <p:sp>
        <p:nvSpPr>
          <p:cNvPr id="24" name="Shape 15"/>
          <p:cNvSpPr/>
          <p:nvPr/>
        </p:nvSpPr>
        <p:spPr>
          <a:xfrm>
            <a:off x="7490308" y="2926080"/>
            <a:ext cx="1783080" cy="777240"/>
          </a:xfrm>
          <a:prstGeom prst="roundRect">
            <a:avLst>
              <a:gd name="adj" fmla="val 49412"/>
            </a:avLst>
          </a:prstGeom>
          <a:solidFill>
            <a:srgbClr val="FFFFFF">
              <a:alpha val="9000"/>
            </a:srgbClr>
          </a:solidFill>
          <a:ln w="9525">
            <a:solidFill>
              <a:srgbClr val="FFFFFF">
                <a:alpha val="16000"/>
              </a:srgbClr>
            </a:solidFill>
            <a:prstDash val="solid"/>
          </a:ln>
        </p:spPr>
      </p:sp>
      <p:sp>
        <p:nvSpPr>
          <p:cNvPr id="25" name="Shape 16"/>
          <p:cNvSpPr/>
          <p:nvPr/>
        </p:nvSpPr>
        <p:spPr>
          <a:xfrm>
            <a:off x="7618324" y="3054096"/>
            <a:ext cx="521208" cy="521208"/>
          </a:xfrm>
          <a:prstGeom prst="ellipse">
            <a:avLst/>
          </a:prstGeom>
          <a:solidFill>
            <a:srgbClr val="12AEA4"/>
          </a:solidFill>
          <a:ln/>
        </p:spPr>
      </p:sp>
      <p:pic>
        <p:nvPicPr>
          <p:cNvPr id="26" name="Image 7" descr="preencoded.png">    </p:cNvPr>
          <p:cNvPicPr>
            <a:picLocks noChangeAspect="1"/>
          </p:cNvPicPr>
          <p:nvPr/>
        </p:nvPicPr>
        <p:blipFill>
          <a:blip r:embed="rId9"/>
          <a:stretch>
            <a:fillRect/>
          </a:stretch>
        </p:blipFill>
        <p:spPr>
          <a:xfrm>
            <a:off x="7748626" y="3184398"/>
            <a:ext cx="260604" cy="260604"/>
          </a:xfrm>
          <a:prstGeom prst="rect">
            <a:avLst/>
          </a:prstGeom>
        </p:spPr>
      </p:pic>
      <p:sp>
        <p:nvSpPr>
          <p:cNvPr id="27" name="Text 17"/>
          <p:cNvSpPr txBox="1"/>
          <p:nvPr/>
        </p:nvSpPr>
        <p:spPr>
          <a:xfrm>
            <a:off x="8240116" y="2926080"/>
            <a:ext cx="1005840" cy="77724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Bids</a:t>
            </a:r>
            <a:endParaRPr lang="en-US" sz="1050" dirty="0"/>
          </a:p>
        </p:txBody>
      </p:sp>
      <p:pic>
        <p:nvPicPr>
          <p:cNvPr id="28" name="Image 8" descr="preencoded.png">    </p:cNvPr>
          <p:cNvPicPr>
            <a:picLocks noChangeAspect="1"/>
          </p:cNvPicPr>
          <p:nvPr/>
        </p:nvPicPr>
        <p:blipFill>
          <a:blip r:embed="rId10"/>
          <a:stretch>
            <a:fillRect/>
          </a:stretch>
        </p:blipFill>
        <p:spPr>
          <a:xfrm>
            <a:off x="9401404" y="3182112"/>
            <a:ext cx="256032" cy="256032"/>
          </a:xfrm>
          <a:prstGeom prst="rect">
            <a:avLst/>
          </a:prstGeom>
        </p:spPr>
      </p:pic>
      <p:sp>
        <p:nvSpPr>
          <p:cNvPr id="29" name="Shape 18"/>
          <p:cNvSpPr/>
          <p:nvPr/>
        </p:nvSpPr>
        <p:spPr>
          <a:xfrm>
            <a:off x="9776308" y="2926080"/>
            <a:ext cx="1783080" cy="777240"/>
          </a:xfrm>
          <a:prstGeom prst="roundRect">
            <a:avLst>
              <a:gd name="adj" fmla="val 49412"/>
            </a:avLst>
          </a:prstGeom>
          <a:solidFill>
            <a:srgbClr val="FFFFFF">
              <a:alpha val="9000"/>
            </a:srgbClr>
          </a:solidFill>
          <a:ln w="9525">
            <a:solidFill>
              <a:srgbClr val="FFFFFF">
                <a:alpha val="16000"/>
              </a:srgbClr>
            </a:solidFill>
            <a:prstDash val="solid"/>
          </a:ln>
        </p:spPr>
      </p:sp>
      <p:sp>
        <p:nvSpPr>
          <p:cNvPr id="30" name="Shape 19"/>
          <p:cNvSpPr/>
          <p:nvPr/>
        </p:nvSpPr>
        <p:spPr>
          <a:xfrm>
            <a:off x="9904324" y="3054096"/>
            <a:ext cx="521208" cy="521208"/>
          </a:xfrm>
          <a:prstGeom prst="ellipse">
            <a:avLst/>
          </a:prstGeom>
          <a:solidFill>
            <a:srgbClr val="EF5B59"/>
          </a:solidFill>
          <a:ln/>
        </p:spPr>
      </p:sp>
      <p:pic>
        <p:nvPicPr>
          <p:cNvPr id="31" name="Image 9" descr="preencoded.png">    </p:cNvPr>
          <p:cNvPicPr>
            <a:picLocks noChangeAspect="1"/>
          </p:cNvPicPr>
          <p:nvPr/>
        </p:nvPicPr>
        <p:blipFill>
          <a:blip r:embed="rId11"/>
          <a:stretch>
            <a:fillRect/>
          </a:stretch>
        </p:blipFill>
        <p:spPr>
          <a:xfrm>
            <a:off x="10034626" y="3184398"/>
            <a:ext cx="260604" cy="260604"/>
          </a:xfrm>
          <a:prstGeom prst="rect">
            <a:avLst/>
          </a:prstGeom>
        </p:spPr>
      </p:pic>
      <p:sp>
        <p:nvSpPr>
          <p:cNvPr id="32" name="Text 20"/>
          <p:cNvSpPr txBox="1"/>
          <p:nvPr/>
        </p:nvSpPr>
        <p:spPr>
          <a:xfrm>
            <a:off x="10526116" y="2926080"/>
            <a:ext cx="1005840" cy="777240"/>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Deals</a:t>
            </a:r>
            <a:endParaRPr lang="en-US" sz="1050" dirty="0"/>
          </a:p>
        </p:txBody>
      </p:sp>
      <p:sp>
        <p:nvSpPr>
          <p:cNvPr id="33" name="Shape 21"/>
          <p:cNvSpPr/>
          <p:nvPr/>
        </p:nvSpPr>
        <p:spPr>
          <a:xfrm>
            <a:off x="458572" y="3977640"/>
            <a:ext cx="3611880" cy="566928"/>
          </a:xfrm>
          <a:prstGeom prst="roundRect">
            <a:avLst>
              <a:gd name="adj" fmla="val 48387"/>
            </a:avLst>
          </a:prstGeom>
          <a:solidFill>
            <a:srgbClr val="FFFFFF">
              <a:alpha val="9000"/>
            </a:srgbClr>
          </a:solidFill>
          <a:ln w="9525">
            <a:solidFill>
              <a:srgbClr val="FFFFFF">
                <a:alpha val="16000"/>
              </a:srgbClr>
            </a:solidFill>
            <a:prstDash val="solid"/>
          </a:ln>
        </p:spPr>
      </p:sp>
      <p:pic>
        <p:nvPicPr>
          <p:cNvPr id="34" name="Image 10" descr="preencoded.png">    </p:cNvPr>
          <p:cNvPicPr>
            <a:picLocks noChangeAspect="1"/>
          </p:cNvPicPr>
          <p:nvPr/>
        </p:nvPicPr>
        <p:blipFill>
          <a:blip r:embed="rId12"/>
          <a:stretch>
            <a:fillRect/>
          </a:stretch>
        </p:blipFill>
        <p:spPr>
          <a:xfrm>
            <a:off x="641452" y="4133088"/>
            <a:ext cx="256032" cy="256032"/>
          </a:xfrm>
          <a:prstGeom prst="rect">
            <a:avLst/>
          </a:prstGeom>
        </p:spPr>
      </p:pic>
      <p:sp>
        <p:nvSpPr>
          <p:cNvPr id="35" name="Text 22"/>
          <p:cNvSpPr txBox="1"/>
          <p:nvPr/>
        </p:nvSpPr>
        <p:spPr>
          <a:xfrm>
            <a:off x="1025500" y="3977640"/>
            <a:ext cx="2971800" cy="566928"/>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Full-stack web application</a:t>
            </a:r>
            <a:endParaRPr lang="en-US" sz="1050" dirty="0"/>
          </a:p>
        </p:txBody>
      </p:sp>
      <p:sp>
        <p:nvSpPr>
          <p:cNvPr id="36" name="Shape 23"/>
          <p:cNvSpPr/>
          <p:nvPr/>
        </p:nvSpPr>
        <p:spPr>
          <a:xfrm>
            <a:off x="4289908" y="3977640"/>
            <a:ext cx="3611880" cy="566928"/>
          </a:xfrm>
          <a:prstGeom prst="roundRect">
            <a:avLst>
              <a:gd name="adj" fmla="val 48387"/>
            </a:avLst>
          </a:prstGeom>
          <a:solidFill>
            <a:srgbClr val="FFFFFF">
              <a:alpha val="9000"/>
            </a:srgbClr>
          </a:solidFill>
          <a:ln w="9525">
            <a:solidFill>
              <a:srgbClr val="FFFFFF">
                <a:alpha val="16000"/>
              </a:srgbClr>
            </a:solidFill>
            <a:prstDash val="solid"/>
          </a:ln>
        </p:spPr>
      </p:sp>
      <p:pic>
        <p:nvPicPr>
          <p:cNvPr id="37" name="Image 11" descr="preencoded.png">    </p:cNvPr>
          <p:cNvPicPr>
            <a:picLocks noChangeAspect="1"/>
          </p:cNvPicPr>
          <p:nvPr/>
        </p:nvPicPr>
        <p:blipFill>
          <a:blip r:embed="rId13"/>
          <a:stretch>
            <a:fillRect/>
          </a:stretch>
        </p:blipFill>
        <p:spPr>
          <a:xfrm>
            <a:off x="4472788" y="4133088"/>
            <a:ext cx="256032" cy="256032"/>
          </a:xfrm>
          <a:prstGeom prst="rect">
            <a:avLst/>
          </a:prstGeom>
        </p:spPr>
      </p:pic>
      <p:sp>
        <p:nvSpPr>
          <p:cNvPr id="38" name="Text 24"/>
          <p:cNvSpPr txBox="1"/>
          <p:nvPr/>
        </p:nvSpPr>
        <p:spPr>
          <a:xfrm>
            <a:off x="4856836" y="3977640"/>
            <a:ext cx="2971800" cy="566928"/>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Role-based marketplace</a:t>
            </a:r>
            <a:endParaRPr lang="en-US" sz="1050" dirty="0"/>
          </a:p>
        </p:txBody>
      </p:sp>
      <p:sp>
        <p:nvSpPr>
          <p:cNvPr id="39" name="Shape 25"/>
          <p:cNvSpPr/>
          <p:nvPr/>
        </p:nvSpPr>
        <p:spPr>
          <a:xfrm>
            <a:off x="8121244" y="3977640"/>
            <a:ext cx="3611880" cy="566928"/>
          </a:xfrm>
          <a:prstGeom prst="roundRect">
            <a:avLst>
              <a:gd name="adj" fmla="val 48387"/>
            </a:avLst>
          </a:prstGeom>
          <a:solidFill>
            <a:srgbClr val="FFFFFF">
              <a:alpha val="9000"/>
            </a:srgbClr>
          </a:solidFill>
          <a:ln w="9525">
            <a:solidFill>
              <a:srgbClr val="FFFFFF">
                <a:alpha val="16000"/>
              </a:srgbClr>
            </a:solidFill>
            <a:prstDash val="solid"/>
          </a:ln>
        </p:spPr>
      </p:sp>
      <p:pic>
        <p:nvPicPr>
          <p:cNvPr id="40" name="Image 12" descr="preencoded.png">    </p:cNvPr>
          <p:cNvPicPr>
            <a:picLocks noChangeAspect="1"/>
          </p:cNvPicPr>
          <p:nvPr/>
        </p:nvPicPr>
        <p:blipFill>
          <a:blip r:embed="rId14"/>
          <a:stretch>
            <a:fillRect/>
          </a:stretch>
        </p:blipFill>
        <p:spPr>
          <a:xfrm>
            <a:off x="8304124" y="4133088"/>
            <a:ext cx="256032" cy="256032"/>
          </a:xfrm>
          <a:prstGeom prst="rect">
            <a:avLst/>
          </a:prstGeom>
        </p:spPr>
      </p:pic>
      <p:sp>
        <p:nvSpPr>
          <p:cNvPr id="41" name="Text 26"/>
          <p:cNvSpPr txBox="1"/>
          <p:nvPr/>
        </p:nvSpPr>
        <p:spPr>
          <a:xfrm>
            <a:off x="8688172" y="3977640"/>
            <a:ext cx="2971800" cy="566928"/>
          </a:xfrm>
          <a:prstGeom prst="rect">
            <a:avLst/>
          </a:prstGeom>
          <a:noFill/>
          <a:ln/>
        </p:spPr>
        <p:txBody>
          <a:bodyPr wrap="square" lIns="0" tIns="0" rIns="0" bIns="0" rtlCol="0" anchor="ctr"/>
          <a:lstStyle/>
          <a:p>
            <a:pPr indent="0" marL="0">
              <a:buNone/>
            </a:pPr>
            <a:r>
              <a:rPr lang="en-US" sz="1050" b="1" dirty="0">
                <a:solidFill>
                  <a:srgbClr val="FFFFFF"/>
                </a:solidFill>
                <a:latin typeface="Poppins" pitchFamily="34" charset="0"/>
                <a:ea typeface="Poppins" pitchFamily="34" charset="-122"/>
                <a:cs typeface="Poppins" pitchFamily="34" charset="-120"/>
              </a:rPr>
              <a:t>Secure project and bidding workflow</a:t>
            </a:r>
            <a:endParaRPr lang="en-US" sz="1050" dirty="0"/>
          </a:p>
        </p:txBody>
      </p:sp>
      <p:sp>
        <p:nvSpPr>
          <p:cNvPr id="42" name="Shape 27"/>
          <p:cNvSpPr/>
          <p:nvPr/>
        </p:nvSpPr>
        <p:spPr>
          <a:xfrm>
            <a:off x="457200" y="4846320"/>
            <a:ext cx="11274552" cy="1463040"/>
          </a:xfrm>
          <a:prstGeom prst="roundRect">
            <a:avLst>
              <a:gd name="adj" fmla="val 12500"/>
            </a:avLst>
          </a:prstGeom>
          <a:solidFill>
            <a:srgbClr val="FFFFFF">
              <a:alpha val="9000"/>
            </a:srgbClr>
          </a:solidFill>
          <a:ln w="9525">
            <a:solidFill>
              <a:srgbClr val="FFFFFF">
                <a:alpha val="16000"/>
              </a:srgbClr>
            </a:solidFill>
            <a:prstDash val="solid"/>
          </a:ln>
        </p:spPr>
      </p:sp>
      <p:sp>
        <p:nvSpPr>
          <p:cNvPr id="43" name="Text 28"/>
          <p:cNvSpPr txBox="1"/>
          <p:nvPr/>
        </p:nvSpPr>
        <p:spPr>
          <a:xfrm>
            <a:off x="914400" y="4983480"/>
            <a:ext cx="5486400" cy="777240"/>
          </a:xfrm>
          <a:prstGeom prst="rect">
            <a:avLst/>
          </a:prstGeom>
          <a:noFill/>
          <a:ln/>
        </p:spPr>
        <p:txBody>
          <a:bodyPr wrap="square" lIns="0" tIns="0" rIns="0" bIns="0" rtlCol="0" anchor="ctr"/>
          <a:lstStyle/>
          <a:p>
            <a:pPr indent="0" marL="0">
              <a:buNone/>
            </a:pPr>
            <a:r>
              <a:rPr lang="en-US" sz="3800" b="1" dirty="0">
                <a:solidFill>
                  <a:srgbClr val="FFFFFF"/>
                </a:solidFill>
                <a:latin typeface="Poppins" pitchFamily="34" charset="0"/>
                <a:ea typeface="Poppins" pitchFamily="34" charset="-122"/>
                <a:cs typeface="Poppins" pitchFamily="34" charset="-120"/>
              </a:rPr>
              <a:t>THANK YOU</a:t>
            </a:r>
            <a:endParaRPr lang="en-US" sz="3800" dirty="0"/>
          </a:p>
        </p:txBody>
      </p:sp>
      <p:sp>
        <p:nvSpPr>
          <p:cNvPr id="44" name="Text 29"/>
          <p:cNvSpPr txBox="1"/>
          <p:nvPr/>
        </p:nvSpPr>
        <p:spPr>
          <a:xfrm>
            <a:off x="914400" y="5760720"/>
            <a:ext cx="5486400" cy="411480"/>
          </a:xfrm>
          <a:prstGeom prst="rect">
            <a:avLst/>
          </a:prstGeom>
          <a:noFill/>
          <a:ln/>
        </p:spPr>
        <p:txBody>
          <a:bodyPr wrap="square" lIns="0" tIns="0" rIns="0" bIns="0" rtlCol="0" anchor="ctr"/>
          <a:lstStyle/>
          <a:p>
            <a:pPr indent="0" marL="0">
              <a:buNone/>
            </a:pPr>
            <a:r>
              <a:rPr lang="en-US" sz="1800" b="1" dirty="0">
                <a:solidFill>
                  <a:srgbClr val="F79330"/>
                </a:solidFill>
                <a:latin typeface="Poppins" pitchFamily="34" charset="0"/>
                <a:ea typeface="Poppins" pitchFamily="34" charset="-122"/>
                <a:cs typeface="Poppins" pitchFamily="34" charset="-120"/>
              </a:rPr>
              <a:t>Questions?</a:t>
            </a:r>
            <a:endParaRPr lang="en-US" sz="1800" dirty="0"/>
          </a:p>
        </p:txBody>
      </p:sp>
      <p:sp>
        <p:nvSpPr>
          <p:cNvPr id="45" name="Shape 30"/>
          <p:cNvSpPr/>
          <p:nvPr/>
        </p:nvSpPr>
        <p:spPr>
          <a:xfrm>
            <a:off x="7315200" y="5349240"/>
            <a:ext cx="731520" cy="731520"/>
          </a:xfrm>
          <a:prstGeom prst="ellipse">
            <a:avLst/>
          </a:prstGeom>
          <a:solidFill>
            <a:srgbClr val="EF5B59"/>
          </a:solidFill>
          <a:ln/>
        </p:spPr>
      </p:sp>
      <p:sp>
        <p:nvSpPr>
          <p:cNvPr id="46" name="Text 31"/>
          <p:cNvSpPr txBox="1"/>
          <p:nvPr/>
        </p:nvSpPr>
        <p:spPr>
          <a:xfrm>
            <a:off x="7315200" y="53492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AP</a:t>
            </a:r>
            <a:endParaRPr lang="en-US" sz="1600" dirty="0"/>
          </a:p>
        </p:txBody>
      </p:sp>
      <p:sp>
        <p:nvSpPr>
          <p:cNvPr id="47" name="Text 32"/>
          <p:cNvSpPr txBox="1"/>
          <p:nvPr/>
        </p:nvSpPr>
        <p:spPr>
          <a:xfrm>
            <a:off x="8229600" y="5349240"/>
            <a:ext cx="3200400" cy="274320"/>
          </a:xfrm>
          <a:prstGeom prst="rect">
            <a:avLst/>
          </a:prstGeom>
          <a:noFill/>
          <a:ln/>
        </p:spPr>
        <p:txBody>
          <a:bodyPr wrap="square" lIns="0" tIns="0" rIns="0" bIns="0" rtlCol="0" anchor="ctr"/>
          <a:lstStyle/>
          <a:p>
            <a:pPr indent="0" marL="0">
              <a:buNone/>
            </a:pPr>
            <a:r>
              <a:rPr lang="en-US" sz="1000" dirty="0">
                <a:solidFill>
                  <a:srgbClr val="A9B7CC"/>
                </a:solidFill>
                <a:latin typeface="Poppins" pitchFamily="34" charset="0"/>
                <a:ea typeface="Poppins" pitchFamily="34" charset="-122"/>
                <a:cs typeface="Poppins" pitchFamily="34" charset="-120"/>
              </a:rPr>
              <a:t>Presented by</a:t>
            </a:r>
            <a:endParaRPr lang="en-US" sz="1000" dirty="0"/>
          </a:p>
        </p:txBody>
      </p:sp>
      <p:sp>
        <p:nvSpPr>
          <p:cNvPr id="48" name="Text 33"/>
          <p:cNvSpPr txBox="1"/>
          <p:nvPr/>
        </p:nvSpPr>
        <p:spPr>
          <a:xfrm>
            <a:off x="8229600" y="5623560"/>
            <a:ext cx="3383280" cy="457200"/>
          </a:xfrm>
          <a:prstGeom prst="rect">
            <a:avLst/>
          </a:prstGeom>
          <a:noFill/>
          <a:ln/>
        </p:spPr>
        <p:txBody>
          <a:bodyPr wrap="square" lIns="0" tIns="0" rIns="0" bIns="0" rtlCol="0" anchor="ctr"/>
          <a:lstStyle/>
          <a:p>
            <a:pPr indent="0" marL="0">
              <a:buNone/>
            </a:pPr>
            <a:r>
              <a:rPr lang="en-US" sz="1900" b="1" dirty="0">
                <a:solidFill>
                  <a:srgbClr val="FFFFFF"/>
                </a:solidFill>
                <a:latin typeface="Poppins" pitchFamily="34" charset="0"/>
                <a:ea typeface="Poppins" pitchFamily="34" charset="-122"/>
                <a:cs typeface="Poppins" pitchFamily="34" charset="-120"/>
              </a:rPr>
              <a:t>Aman Pandey</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Zentora – Freelance Marketplace Platform</dc:title>
  <dc:subject>PptxGenJS Presentation</dc:subject>
  <dc:creator>Aman Pandey</dc:creator>
  <cp:lastModifiedBy>Aman Pandey</cp:lastModifiedBy>
  <cp:revision>1</cp:revision>
  <dcterms:created xsi:type="dcterms:W3CDTF">2026-09-20T16:46:42Z</dcterms:created>
  <dcterms:modified xsi:type="dcterms:W3CDTF">2026-09-20T16:46:42Z</dcterms:modified>
</cp:coreProperties>
</file>